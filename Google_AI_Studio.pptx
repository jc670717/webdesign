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0" r:id="rId10"/>
    <p:sldId id="291" r:id="rId11"/>
    <p:sldId id="292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>
      <p:cViewPr varScale="1">
        <p:scale>
          <a:sx n="142" d="100"/>
          <a:sy n="142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先問學員：有人用過 Gemini，但沒有用過 AI Studio 嗎？說明 AI Studio 比較像工作台，不只是聊天視窗。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整份內容可獨立授課，也可以接在 Vibe Coding 與 Prompt Engineering 之前。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instructor-authored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逐項比較兩側內容，請學員說出自己現在適合使用哪一側。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https://developers.googleblog.com/en/google-ai-studio-native-code-generation-agentic-tools-upgrade/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https://developers.googleblog.com/en/google-ai-studio-native-code-generation-agentic-tools-upgrade/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請學員用自己的話說明這一頁，再補充實際例子。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先說明 Prompt 結構，再貼入實際操作；執行後先觀察，不急著追加需求。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請學生先看懂三層分類，不要一開始逐項背功能。畫面中的模型與選項會隨版本、帳號及地區調整。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  <a:p>
            <a:r>
              <a:t>https://apifox.com/apiskills/how-to-use-google-ai-studio-for-free/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同一題「幫珍珠奶茶取名字」用不同 Temperature 重複執行，讓學生直接比較穩定度與創意差異。實際可調範圍依模型而異。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用一句口訣帶過：Temperature 管變化，Thinking level 管推理深度。請學生各舉一個適合 Low 與 High 的任務。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建議示範 Search 與 URL context。Search 可比較最新資訊；URL context 可使用公開且允許存取的網址。不要輸入內部機密或個資。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用船班系統做例子：使用者用自然語言提問，Gemini 判斷要呼叫查詢船班，後端 API 回傳結果，再由模型整理給使用者。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這頁用來收斂範圍。要求學生能說明七項重點，不要求記住全部進階設定。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最後請學生用船班查詢或活動推薦的例子，從 Prompt 一路說到 Application。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照順序走一遍，再讓學員指出最容易跳過的步驟。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逐項比較兩側內容，請學員說出自己現在適合使用哪一側。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https://developers.googleblog.com/en/google-ai-studio-native-code-generation-agentic-tools-upgrade/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https://developers.googleblog.com/en/google-ai-studio-native-code-generation-agentic-tools-upgrade/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逐項比較兩側內容，請學員說出自己現在適合使用哪一側。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請學員用自己的話說明這一頁，再補充實際例子。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instructor-authored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照順序走一遍，再讓學員指出最容易跳過的步驟。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instructor-authored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逐項比較兩側內容，請學員說出自己現在適合使用哪一側。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instructor-authored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先說明 Prompt 結構，再貼入實際操作；執行後先觀察，不急著追加需求。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請學員實際逐項操作，不用「看起來應該可以」代替測試。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逐項比較兩側內容，請學員說出自己現在適合使用哪一側。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先說明 Prompt 結構，再貼入實際操作；執行後先觀察，不急著追加需求。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https://developers.googleblog.com/en/google-ai-studio-native-code-generation-agentic-tools-upgrade/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https://developers.googleblog.com/en/google-ai-studio-native-code-generation-agentic-tools-upgrade/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先讓學員找出畫面上的區域，再依左側編號逐項說明。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https://developers.googleblog.com/en/google-ai-studio-native-code-generation-agentic-tools-upgrade/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逐項比較兩側內容，請學員說出自己現在適合使用哪一側。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請學員用自己的話說明這一頁，再補充實際例子。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請學員實際逐項操作，不用「看起來應該可以」代替測試。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最後請每位學員說出一個回去後會用 AI Studio 完成的小作品。</a:t>
            </a:r>
          </a:p>
          <a:p>
            <a:endParaRPr/>
          </a:p>
          <a:p>
            <a:r>
              <a:t>[Sources]</a:t>
            </a:r>
          </a:p>
          <a:p>
            <a:r>
              <a:t>https://ai.google.dev/gemini-api/docs/aistudio-build-mode</a:t>
            </a:r>
          </a:p>
          <a:p>
            <a:r>
              <a:t>https://ai.google.dev/gemini-api/docs/ai-studio-quickstart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570FB047-8B11-4802-8188-2C7C17E35A34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網頁設計 AI 輔助應用實務班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20DF8A0-667F-4CA8-AD35-25F7E182BDC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876300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Google AI Studio</a:t>
            </a:r>
          </a:p>
          <a:p>
            <a:pPr algn="l">
              <a:defRPr sz="4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介面・設計・操作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CB12B29-A13C-4943-BA47-C607BA2C69CE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0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從 Playground 到 Build mode，完成可操作的 AI 應用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5973414E-B504-47B4-8001-B71838137388}"/>
              </a:ext>
            </a:extLst>
          </p:cNvPr>
          <p:cNvSpPr>
            <a:spLocks noGrp="1"/>
          </p:cNvSpPr>
          <p:nvPr/>
        </p:nvSpPr>
        <p:spPr>
          <a:xfrm>
            <a:off x="10096500" y="1143000"/>
            <a:ext cx="1409700" cy="409575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453BBA6-AD05-42B1-9852-A26A9D223F17}"/>
              </a:ext>
            </a:extLst>
          </p:cNvPr>
          <p:cNvSpPr>
            <a:spLocks noGrp="1"/>
          </p:cNvSpPr>
          <p:nvPr/>
        </p:nvSpPr>
        <p:spPr>
          <a:xfrm>
            <a:off x="10220325" y="2381250"/>
            <a:ext cx="1162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</a:t>
            </a:r>
          </a:p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BABDFF4-87F6-4034-A101-0852339A9841}"/>
              </a:ext>
            </a:extLst>
          </p:cNvPr>
          <p:cNvSpPr>
            <a:spLocks noGrp="1"/>
          </p:cNvSpPr>
          <p:nvPr/>
        </p:nvSpPr>
        <p:spPr>
          <a:xfrm>
            <a:off x="495300" y="60007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張玄橋｜2026</a:t>
            </a:r>
          </a:p>
        </p:txBody>
      </p:sp>
    </p:spTree>
    <p:extLst>
      <p:ext uri="{BB962C8B-B14F-4D97-AF65-F5344CB8AC3E}">
        <p14:creationId xmlns:p14="http://schemas.microsoft.com/office/powerpoint/2010/main" val="8777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">
            <a:extLst>
              <a:ext uri="{FF2B5EF4-FFF2-40B4-BE49-F238E27FC236}">
                <a16:creationId xmlns:a16="http://schemas.microsoft.com/office/drawing/2014/main" id="{D9120E3F-B73A-4937-8B3B-0EE6BDE1BD41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課程路線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057A892-DD24-4632-B85D-019A4AB00A73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從認識工作台到完成第一個作品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1C50F855-5A3C-4A86-BB06-3E9BF2D1BEA7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C75F1B8-7C0A-4ED4-B636-1DA77D8E453D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01851F5-E1EF-47B5-8DA1-4FD39E4CDF3D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FAD5DA6-D496-4C9F-B128-BC37EDD88D5E}"/>
              </a:ext>
            </a:extLst>
          </p:cNvPr>
          <p:cNvSpPr>
            <a:spLocks noGrp="1"/>
          </p:cNvSpPr>
          <p:nvPr/>
        </p:nvSpPr>
        <p:spPr>
          <a:xfrm>
            <a:off x="1381125" y="1571625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看懂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916FB2B-A42D-4180-9B06-3BD530840D12}"/>
              </a:ext>
            </a:extLst>
          </p:cNvPr>
          <p:cNvSpPr>
            <a:spLocks noGrp="1"/>
          </p:cNvSpPr>
          <p:nvPr/>
        </p:nvSpPr>
        <p:spPr>
          <a:xfrm>
            <a:off x="3048000" y="157162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模式與介面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C413F57C-3F0C-4CBA-84F4-80BE708931D7}"/>
              </a:ext>
            </a:extLst>
          </p:cNvPr>
          <p:cNvSpPr>
            <a:spLocks noGrp="1"/>
          </p:cNvSpPr>
          <p:nvPr/>
        </p:nvSpPr>
        <p:spPr>
          <a:xfrm>
            <a:off x="1381125" y="2085975"/>
            <a:ext cx="9525000" cy="9525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58A1EF8-5B50-4E61-9CF9-9727B3542B2D}"/>
              </a:ext>
            </a:extLst>
          </p:cNvPr>
          <p:cNvSpPr>
            <a:spLocks noGrp="1"/>
          </p:cNvSpPr>
          <p:nvPr/>
        </p:nvSpPr>
        <p:spPr>
          <a:xfrm>
            <a:off x="619125" y="24098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0581082-1B55-4CEE-A7F0-8FEAE905A65B}"/>
              </a:ext>
            </a:extLst>
          </p:cNvPr>
          <p:cNvSpPr>
            <a:spLocks noGrp="1"/>
          </p:cNvSpPr>
          <p:nvPr/>
        </p:nvSpPr>
        <p:spPr>
          <a:xfrm>
            <a:off x="1381125" y="2409825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設定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5AC6C43-D67B-4AC5-A559-A1FEB5D1424A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模型與執行選項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EAB83B5F-80E7-46A8-87DE-2C20DF71E606}"/>
              </a:ext>
            </a:extLst>
          </p:cNvPr>
          <p:cNvSpPr>
            <a:spLocks noGrp="1"/>
          </p:cNvSpPr>
          <p:nvPr/>
        </p:nvSpPr>
        <p:spPr>
          <a:xfrm>
            <a:off x="1381125" y="2924175"/>
            <a:ext cx="9525000" cy="9525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01B98F7-4B47-4BC6-82AC-209E613A4217}"/>
              </a:ext>
            </a:extLst>
          </p:cNvPr>
          <p:cNvSpPr>
            <a:spLocks noGrp="1"/>
          </p:cNvSpPr>
          <p:nvPr/>
        </p:nvSpPr>
        <p:spPr>
          <a:xfrm>
            <a:off x="619125" y="32480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A20F3EA-6747-4D20-AC33-7045880A295F}"/>
              </a:ext>
            </a:extLst>
          </p:cNvPr>
          <p:cNvSpPr>
            <a:spLocks noGrp="1"/>
          </p:cNvSpPr>
          <p:nvPr/>
        </p:nvSpPr>
        <p:spPr>
          <a:xfrm>
            <a:off x="1381125" y="3248025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設計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5425A37-4452-407D-B248-6ED6102AF769}"/>
              </a:ext>
            </a:extLst>
          </p:cNvPr>
          <p:cNvSpPr>
            <a:spLocks noGrp="1"/>
          </p:cNvSpPr>
          <p:nvPr/>
        </p:nvSpPr>
        <p:spPr>
          <a:xfrm>
            <a:off x="3048000" y="324802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需求、流程與畫面</a:t>
            </a:r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D9D5D2BF-BD58-45C2-88D1-44B1C4C05D13}"/>
              </a:ext>
            </a:extLst>
          </p:cNvPr>
          <p:cNvSpPr>
            <a:spLocks noGrp="1"/>
          </p:cNvSpPr>
          <p:nvPr/>
        </p:nvSpPr>
        <p:spPr>
          <a:xfrm>
            <a:off x="1381125" y="3762375"/>
            <a:ext cx="9525000" cy="9525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ADD2EBD-22F6-4666-8132-0C6D59AF3D85}"/>
              </a:ext>
            </a:extLst>
          </p:cNvPr>
          <p:cNvSpPr>
            <a:spLocks noGrp="1"/>
          </p:cNvSpPr>
          <p:nvPr/>
        </p:nvSpPr>
        <p:spPr>
          <a:xfrm>
            <a:off x="619125" y="40862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DE3168BF-E5E5-45D3-ABAE-81A0A32BD584}"/>
              </a:ext>
            </a:extLst>
          </p:cNvPr>
          <p:cNvSpPr>
            <a:spLocks noGrp="1"/>
          </p:cNvSpPr>
          <p:nvPr/>
        </p:nvSpPr>
        <p:spPr>
          <a:xfrm>
            <a:off x="1381125" y="4086225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建立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1335F3D-196D-4698-9852-EC50FA197A5E}"/>
              </a:ext>
            </a:extLst>
          </p:cNvPr>
          <p:cNvSpPr>
            <a:spLocks noGrp="1"/>
          </p:cNvSpPr>
          <p:nvPr/>
        </p:nvSpPr>
        <p:spPr>
          <a:xfrm>
            <a:off x="3048000" y="408622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生成、修改、測試</a:t>
            </a: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A4B0967B-2992-4367-BB40-3137EAB1F6BC}"/>
              </a:ext>
            </a:extLst>
          </p:cNvPr>
          <p:cNvSpPr>
            <a:spLocks noGrp="1"/>
          </p:cNvSpPr>
          <p:nvPr/>
        </p:nvSpPr>
        <p:spPr>
          <a:xfrm>
            <a:off x="1381125" y="4600575"/>
            <a:ext cx="9525000" cy="9525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FA097ADD-0BD9-494D-99F2-074235DC3805}"/>
              </a:ext>
            </a:extLst>
          </p:cNvPr>
          <p:cNvSpPr>
            <a:spLocks noGrp="1"/>
          </p:cNvSpPr>
          <p:nvPr/>
        </p:nvSpPr>
        <p:spPr>
          <a:xfrm>
            <a:off x="619125" y="49244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A093CDAB-740F-47AD-9DBF-0F3FF83FAADC}"/>
              </a:ext>
            </a:extLst>
          </p:cNvPr>
          <p:cNvSpPr>
            <a:spLocks noGrp="1"/>
          </p:cNvSpPr>
          <p:nvPr/>
        </p:nvSpPr>
        <p:spPr>
          <a:xfrm>
            <a:off x="1381125" y="4924425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46E3250-109E-44B8-AD1A-314E156BD460}"/>
              </a:ext>
            </a:extLst>
          </p:cNvPr>
          <p:cNvSpPr>
            <a:spLocks noGrp="1"/>
          </p:cNvSpPr>
          <p:nvPr/>
        </p:nvSpPr>
        <p:spPr>
          <a:xfrm>
            <a:off x="3048000" y="492442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分享、匯出與安全</a:t>
            </a:r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131CD671-3E6F-48FE-9E3F-ACD89D6A2EA9}"/>
              </a:ext>
            </a:extLst>
          </p:cNvPr>
          <p:cNvSpPr>
            <a:spLocks noGrp="1"/>
          </p:cNvSpPr>
          <p:nvPr/>
        </p:nvSpPr>
        <p:spPr>
          <a:xfrm>
            <a:off x="1381125" y="5438775"/>
            <a:ext cx="9525000" cy="9525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1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15F0008-F116-4926-8547-BBFF3B287A52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00C6B06-7A14-4B73-9EAF-4995B1C427E9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從首頁進入 Google AI Studio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7B8CC061-9425-4E65-B6E6-170027D66F57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72D413B-7D1C-4FD6-AA90-CA6F52923F5C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E26D2A52-60FA-47F3-A747-C60F2221CA9D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322A6E2-A476-4A59-893D-0A60C1DF1721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確認網址為</a:t>
            </a:r>
            <a:r>
              <a:rPr sz="15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aistudio.google.com</a:t>
            </a:r>
            <a:endParaRPr sz="157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endParaRPr sz="157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CB62A6C0-6E89-4D04-82F4-33E971B935F7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63720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05DE8BB1-AD03-4472-A06E-11A3602807D8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先選模式，再開始工作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CA0B2E14-D834-4FA6-9CD1-06AAACD78DD5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9E4046-03A3-44DC-AD9F-9C550B5104F8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54FBCC06-C228-4938-9330-63C29B99A788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334000" cy="41910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E6BF48C8-A02C-4AFB-938C-FF9FB4FC9C13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600700" cy="41910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A8C12E8-A14A-4EF3-A6B1-B6E8BB74C7BB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Playground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A603CD0-C6A9-43F9-BEEB-B99431AB7D9B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6672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測試 Chat Prompt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比較模型回應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設定 System instructions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取得 API 程式碼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ECEAC3D-77EE-4F6D-950F-2448BB57568B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mode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65017C-D16A-4766-86FD-18ECF0DBDE10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4857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用自然語言建立 App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即時預覽與修改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管理多個程式檔案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分享、同步或部署</a:t>
            </a:r>
          </a:p>
        </p:txBody>
      </p:sp>
    </p:spTree>
    <p:extLst>
      <p:ext uri="{BB962C8B-B14F-4D97-AF65-F5344CB8AC3E}">
        <p14:creationId xmlns:p14="http://schemas.microsoft.com/office/powerpoint/2010/main" val="110036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B9BF4F81-4B32-4C8E-9514-50CFE1C0A607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2100820-2032-4D7A-BDEA-77A118BDC05B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工作區可同時看指令、程式與預覽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F6E1D715-F7FC-4C0B-970C-69DCBE6B42E8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4A0EE0D-40A9-409C-807E-77014744D7EB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877AC482-06F6-4CF0-9FF4-E24AF92F4C5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D771A0A-4BBA-4DC1-B9F7-69C5119B4D5F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左側：對話、任務與檔案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中央：Code 編輯區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右側：Preview 即時成果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2F0FD6EB-1146-4EB2-A3D6-34A40A87F5E0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56672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E36071AF-C180-4A59-AAE1-0559BF18B410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2290BCC-EEAC-40EC-A450-21296B8AD2D4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左側對話區負責持續修改作品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5C87E3A6-1E86-4DF2-A6A5-232A064624F1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C235D4E-AB4E-4AE0-B4AB-0D8FE85DE5A3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29D258D0-3E95-4F61-BB96-F8623E42A4E7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C571C18-30A4-4771-8B98-96D7687BDDAF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上方保留先前需求與處理結果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檔案清單顯示本輪影響範圍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下方輸入下一個小步驟需求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79157E4D-5120-41D9-B1C9-66A6928DE43C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92319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5547D4DB-392F-4C5E-9447-EABD908AC051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System instructions 管「長期規則」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C11916CB-267C-41B5-B98B-00269EC83EE7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A8DF87D-A949-4532-BE07-154BD42438FD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51D4856-6BE1-4271-B9A3-68BFB4B4B0E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06680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角色、語氣、邊界與固定格式放這裡；單次任務留在對話輸入。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78A91D92-3E94-4A88-A8D9-E021C672E35C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4095750" cy="11430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648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661D124A-CF88-4DDC-A8B5-AE0C1F63E097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可直接貼入 AI STUDIO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122B8E3-76E6-46E9-B6C5-22449B86127B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建立課程助教的 System instructions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EF3885B2-55A0-4698-A29D-5D388F6672CE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B46A0D-6363-47D3-BBD9-8952217F3DAB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781BC353-002F-4523-A082-2C6B6B2C75C6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810500" cy="4429125"/>
          </a:xfrm>
          <a:prstGeom prst="rect">
            <a:avLst/>
          </a:prstGeom>
          <a:solidFill>
            <a:srgbClr val="20212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1C008B9-8C3A-42D7-8DDE-73F49E0517D4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7315200" cy="395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你是大學「網頁設計 AI 輔助應用」課程助教。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使用繁體中文，先給結論再解釋。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程式範例優先使用 Bootstrap 5 與原生 JavaScript。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資訊不足時先問最多三個必要問題。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不要假裝已執行或測試尚未操作的程式。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2B1141FB-C4B1-4C2B-B8AB-AEEEFB09FDE0}"/>
              </a:ext>
            </a:extLst>
          </p:cNvPr>
          <p:cNvSpPr>
            <a:spLocks noGrp="1"/>
          </p:cNvSpPr>
          <p:nvPr/>
        </p:nvSpPr>
        <p:spPr>
          <a:xfrm>
            <a:off x="8572500" y="1619250"/>
            <a:ext cx="3124200" cy="4429125"/>
          </a:xfrm>
          <a:prstGeom prst="rect">
            <a:avLst/>
          </a:prstGeom>
          <a:solidFill>
            <a:srgbClr val="FEF7E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F0FA0AC-F9E9-4C26-A30B-BDC5534419EB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552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操作重點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237EC18-D256-4016-B63B-D78FF606A4D3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2476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設定後用三種問題測試：概念題、程式題、資訊不足題。</a:t>
            </a:r>
          </a:p>
        </p:txBody>
      </p:sp>
    </p:spTree>
    <p:extLst>
      <p:ext uri="{BB962C8B-B14F-4D97-AF65-F5344CB8AC3E}">
        <p14:creationId xmlns:p14="http://schemas.microsoft.com/office/powerpoint/2010/main" val="175344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AFB844-10C1-7D04-1F61-16AABD2A134B}"/>
              </a:ext>
            </a:extLst>
          </p:cNvPr>
          <p:cNvSpPr txBox="1"/>
          <p:nvPr/>
        </p:nvSpPr>
        <p:spPr>
          <a:xfrm>
            <a:off x="600635" y="666418"/>
            <a:ext cx="10694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800" b="0" i="0" dirty="0">
                <a:solidFill>
                  <a:schemeClr val="tx1"/>
                </a:solidFill>
                <a:effectLst/>
                <a:latin typeface="+mn-lt"/>
              </a:rPr>
              <a:t>你可以幫我產生一個System instrustions的範本，我要拿來做網站使用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C4D4C-8DE3-10FD-1288-BEF0BAF966FA}"/>
              </a:ext>
            </a:extLst>
          </p:cNvPr>
          <p:cNvSpPr txBox="1"/>
          <p:nvPr/>
        </p:nvSpPr>
        <p:spPr>
          <a:xfrm>
            <a:off x="600635" y="1715289"/>
            <a:ext cx="10694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800" b="0" i="0" dirty="0">
                <a:solidFill>
                  <a:schemeClr val="tx1"/>
                </a:solidFill>
                <a:effectLst/>
                <a:latin typeface="+mn-lt"/>
              </a:rPr>
              <a:t>我要的是網站的程式設計師，懂HTML, CSS跟JS還有bootstrap，不要用前端的框架，盡量說明用中文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123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B266BA-C04D-701B-4F5D-6029FA6A43CE}"/>
              </a:ext>
            </a:extLst>
          </p:cNvPr>
          <p:cNvSpPr txBox="1"/>
          <p:nvPr/>
        </p:nvSpPr>
        <p:spPr>
          <a:xfrm>
            <a:off x="233082" y="232909"/>
            <a:ext cx="11887199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# Role / 角色定位</a:t>
            </a:r>
          </a:p>
          <a:p>
            <a:r>
              <a:rPr lang="zh-TW" altLang="en-US" dirty="0"/>
              <a:t>你是一位資深的「網頁前端開發工程師」，專精於網頁基礎建設。你擁有深厚的 HTML5、CSS3、原生 JavaScript (Vanilla JS) 以及 Bootstrap 框架的實戰經驗。你的目標是提供乾淨、高效且符合現代標準的程式碼。</a:t>
            </a:r>
          </a:p>
          <a:p>
            <a:endParaRPr lang="zh-TW" altLang="en-US" dirty="0"/>
          </a:p>
          <a:p>
            <a:r>
              <a:rPr lang="zh-TW" altLang="en-US" dirty="0"/>
              <a:t># Technical Stack / 技術棧要求</a:t>
            </a:r>
          </a:p>
          <a:p>
            <a:r>
              <a:rPr lang="zh-TW" altLang="en-US" dirty="0"/>
              <a:t>- **HTML**: 使用語義化標籤（Semantic HTML5），確保網頁結構清晰且對 SEO 友好。</a:t>
            </a:r>
          </a:p>
          <a:p>
            <a:r>
              <a:rPr lang="zh-TW" altLang="en-US" dirty="0"/>
              <a:t>- **CSS**: 擅長 Flexbox、Grid 佈局，以及自定義屬性（CSS Variables）。</a:t>
            </a:r>
          </a:p>
          <a:p>
            <a:r>
              <a:rPr lang="zh-TW" altLang="en-US" dirty="0"/>
              <a:t>- **JavaScript**: 僅使用原生 JS (ES6+)，禁止使用 React, Vue, Angular 等現代框架。專注於 DOM 操作、事件處理與 Fetch API。</a:t>
            </a:r>
          </a:p>
          <a:p>
            <a:r>
              <a:rPr lang="zh-TW" altLang="en-US" dirty="0"/>
              <a:t>- **Bootstrap**: 熟練使用 Bootstrap 5 的 Utility Classes 與組件，能在不寫過多自定義 CSS 的情況下完成響應式設計。</a:t>
            </a:r>
          </a:p>
          <a:p>
            <a:endParaRPr lang="zh-TW" altLang="en-US" dirty="0"/>
          </a:p>
          <a:p>
            <a:r>
              <a:rPr lang="zh-TW" altLang="en-US" dirty="0"/>
              <a:t># Rules &amp; Constraints / 規則與限制</a:t>
            </a:r>
          </a:p>
          <a:p>
            <a:r>
              <a:rPr lang="zh-TW" altLang="en-US" dirty="0"/>
              <a:t>1. **嚴禁使用框架**: 除非使用者明確要求，否則禁止提供 React, Vue, Angular 或 Svelte 的解決方案。</a:t>
            </a:r>
          </a:p>
          <a:p>
            <a:r>
              <a:rPr lang="zh-TW" altLang="en-US" dirty="0"/>
              <a:t>2. **優先 Bootstrap**: 佈局與排版優先使用 Bootstrap 的內建 Class (例如：d-flex, container, col-md-6)。</a:t>
            </a:r>
          </a:p>
          <a:p>
            <a:r>
              <a:rPr lang="zh-TW" altLang="en-US" dirty="0"/>
              <a:t>3. **響應式思維**: 所有提供的代碼必須考慮手機、平板與桌機的適配性。</a:t>
            </a:r>
          </a:p>
          <a:p>
            <a:r>
              <a:rPr lang="zh-TW" altLang="en-US" dirty="0"/>
              <a:t>4. **易讀性**: 程式碼需包含必要的註解（中文），解釋邏輯關鍵點。</a:t>
            </a:r>
          </a:p>
          <a:p>
            <a:r>
              <a:rPr lang="zh-TW" altLang="en-US" dirty="0"/>
              <a:t>5. **語言與解釋**: 請全程使用「繁體中文」進行說明。對於技術術語，可以保留英文標記（例如：Callback, DOM, Event Bubbling），但解釋須為中文。</a:t>
            </a:r>
          </a:p>
          <a:p>
            <a:endParaRPr lang="zh-TW" altLang="en-US" dirty="0"/>
          </a:p>
          <a:p>
            <a:r>
              <a:rPr lang="zh-TW" altLang="en-US" dirty="0"/>
              <a:t># Response Style / 回覆風格</a:t>
            </a:r>
          </a:p>
          <a:p>
            <a:r>
              <a:rPr lang="zh-TW" altLang="en-US" dirty="0"/>
              <a:t>- **結構化回答**: </a:t>
            </a:r>
          </a:p>
          <a:p>
            <a:r>
              <a:rPr lang="zh-TW" altLang="en-US" dirty="0"/>
              <a:t>    1. 先簡述解決思路。</a:t>
            </a:r>
          </a:p>
          <a:p>
            <a:r>
              <a:rPr lang="zh-TW" altLang="en-US" dirty="0"/>
              <a:t>    2. 提供完整的程式碼區塊（HTML、CSS、JS 分開或放在一個完整範例中）。</a:t>
            </a:r>
          </a:p>
          <a:p>
            <a:r>
              <a:rPr lang="zh-TW" altLang="en-US" dirty="0"/>
              <a:t>    3. 針對代碼中的重要部分進行解析。</a:t>
            </a:r>
          </a:p>
          <a:p>
            <a:r>
              <a:rPr lang="zh-TW" altLang="en-US" dirty="0"/>
              <a:t>- **專業且實務**: 提供可以直接複製運行的範例代碼，並確保代碼的簡潔度，避免過度工程化（Over-engineering）。</a:t>
            </a:r>
          </a:p>
          <a:p>
            <a:endParaRPr lang="zh-TW" altLang="en-US" dirty="0"/>
          </a:p>
          <a:p>
            <a:r>
              <a:rPr lang="zh-TW" altLang="en-US" dirty="0"/>
              <a:t># Response Example / 範例格式</a:t>
            </a:r>
          </a:p>
          <a:p>
            <a:r>
              <a:rPr lang="zh-TW" altLang="en-US" dirty="0"/>
              <a:t>---</a:t>
            </a:r>
          </a:p>
          <a:p>
            <a:r>
              <a:rPr lang="zh-TW" altLang="en-US" dirty="0"/>
              <a:t>**解決思路：**</a:t>
            </a:r>
          </a:p>
          <a:p>
            <a:r>
              <a:rPr lang="zh-TW" altLang="en-US" dirty="0"/>
              <a:t>我們將使用 Bootstrap 的 Grid 系統來建立結構，並透過原生 JS 的 `addEventListener` 來處理點擊事件。</a:t>
            </a:r>
          </a:p>
          <a:p>
            <a:endParaRPr lang="zh-TW" altLang="en-US" dirty="0"/>
          </a:p>
          <a:p>
            <a:r>
              <a:rPr lang="zh-TW" altLang="en-US" dirty="0"/>
              <a:t>**程式碼：**</a:t>
            </a:r>
          </a:p>
          <a:p>
            <a:r>
              <a:rPr lang="zh-TW" altLang="en-US" dirty="0"/>
              <a:t>[這裡放 HTML/CSS/JS 代碼]</a:t>
            </a:r>
          </a:p>
          <a:p>
            <a:endParaRPr lang="zh-TW" altLang="en-US" dirty="0"/>
          </a:p>
          <a:p>
            <a:r>
              <a:rPr lang="zh-TW" altLang="en-US" dirty="0"/>
              <a:t>**重點說明：**</a:t>
            </a:r>
          </a:p>
          <a:p>
            <a:r>
              <a:rPr lang="zh-TW" altLang="en-US" dirty="0"/>
              <a:t>1. 透過 `.btn-primary` 設定按鈕樣式...</a:t>
            </a:r>
          </a:p>
          <a:p>
            <a:r>
              <a:rPr lang="zh-TW" altLang="en-US" dirty="0"/>
              <a:t>2. 使用 `document.querySelector` 抓取 DOM 元素...</a:t>
            </a:r>
          </a:p>
          <a:p>
            <a:r>
              <a:rPr lang="zh-TW" altLang="en-US" dirty="0"/>
              <a:t>---</a:t>
            </a:r>
          </a:p>
        </p:txBody>
      </p:sp>
    </p:spTree>
    <p:extLst>
      <p:ext uri="{BB962C8B-B14F-4D97-AF65-F5344CB8AC3E}">
        <p14:creationId xmlns:p14="http://schemas.microsoft.com/office/powerpoint/2010/main" val="11050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34D1C5-05B2-E3AC-424F-56199C6F718E}"/>
              </a:ext>
            </a:extLst>
          </p:cNvPr>
          <p:cNvSpPr txBox="1"/>
          <p:nvPr/>
        </p:nvSpPr>
        <p:spPr>
          <a:xfrm>
            <a:off x="618563" y="495980"/>
            <a:ext cx="1056938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800" b="0" i="0" dirty="0">
                <a:solidFill>
                  <a:schemeClr val="tx1"/>
                </a:solidFill>
                <a:effectLst/>
                <a:latin typeface="+mn-lt"/>
              </a:rPr>
              <a:t>幫我寫一個網頁，有導航欄（Navbar），左邊是 Logo，右邊有三個連結，中間有Carousel，下面有3張Card，手機版要自動收合，不要用框架，用原生 JS 跟 Bootstrap 實作。</a:t>
            </a:r>
          </a:p>
          <a:p>
            <a:endParaRPr lang="en-TW" altLang="zh-TW" dirty="0"/>
          </a:p>
          <a:p>
            <a:r>
              <a:rPr lang="en-TW" dirty="0"/>
              <a:t>第3個Carousel沒法自動展延到100%</a:t>
            </a:r>
          </a:p>
          <a:p>
            <a:endParaRPr lang="en-TW" altLang="zh-TW" dirty="0"/>
          </a:p>
          <a:p>
            <a:r>
              <a:rPr lang="en-TW" dirty="0"/>
              <a:t>給我整頁修改完的code</a:t>
            </a:r>
          </a:p>
          <a:p>
            <a:endParaRPr lang="en-TW" altLang="zh-TW" dirty="0"/>
          </a:p>
          <a:p>
            <a:r>
              <a:rPr lang="en-TW" dirty="0"/>
              <a:t>把sample圖片都換成imgs/img01.jpg</a:t>
            </a:r>
          </a:p>
          <a:p>
            <a:endParaRPr lang="en-TW" altLang="zh-TW" dirty="0"/>
          </a:p>
          <a:p>
            <a:r>
              <a:rPr lang="en-TW" dirty="0"/>
              <a:t>我的Carousel要有Crossfade</a:t>
            </a:r>
          </a:p>
          <a:p>
            <a:br>
              <a:rPr lang="en-TW" dirty="0"/>
            </a:br>
            <a:r>
              <a:rPr lang="en-TW" dirty="0"/>
              <a:t>幫我找網上的圖片取代目前的圖片</a:t>
            </a:r>
          </a:p>
          <a:p>
            <a:br>
              <a:rPr lang="en-TW" dirty="0"/>
            </a:br>
            <a:r>
              <a:rPr lang="en-TW" dirty="0"/>
              <a:t>card的第3張圖片無法顯示(打開Google Search)</a:t>
            </a:r>
          </a:p>
          <a:p>
            <a:br>
              <a:rPr lang="en-TW" dirty="0"/>
            </a:br>
            <a:r>
              <a:rPr lang="en-TW" dirty="0"/>
              <a:t>現在第1，3張都不見了</a:t>
            </a:r>
            <a:r>
              <a:rPr lang="en-TW"/>
              <a:t>，你先試試看連結有效再給我更新(打開Google Search)</a:t>
            </a:r>
          </a:p>
          <a:p>
            <a:endParaRPr lang="en-TW" dirty="0"/>
          </a:p>
          <a:p>
            <a:br>
              <a:rPr lang="en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231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86E856D8-EA76-4303-98CD-A43FB4BAC0F3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D247896-61F8-428F-B461-F55B870F346C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settings 是 AI 引擎的控制台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0A591DCB-87F1-4036-A7E7-57A5DBDC53A4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C408F5C-0CB2-4779-A701-7F7945EF4FF1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t="12004" b="12004"/>
          <a:stretch>
            <a:fillRect/>
          </a:stretch>
        </p:blipFill>
        <p:spPr>
          <a:xfrm>
            <a:off x="495300" y="1524000"/>
            <a:ext cx="4857750" cy="4619625"/>
          </a:xfrm>
          <a:prstGeom prst="roundRect">
            <a:avLst>
              <a:gd name="adj" fmla="val 2474"/>
            </a:avLst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756E0EE6-A0D8-44CD-BE9C-19300A54C2F3}"/>
              </a:ext>
            </a:extLst>
          </p:cNvPr>
          <p:cNvSpPr>
            <a:spLocks noGrp="1"/>
          </p:cNvSpPr>
          <p:nvPr/>
        </p:nvSpPr>
        <p:spPr>
          <a:xfrm>
            <a:off x="5762625" y="1666875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167" lnSpcReduction="10000"/>
          </a:bodyPr>
          <a:lstStyle/>
          <a:p>
            <a:pPr algn="l">
              <a:defRPr sz="18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① 模型與思考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06583BA-10E5-4C6F-887F-12E9A6650F49}"/>
              </a:ext>
            </a:extLst>
          </p:cNvPr>
          <p:cNvSpPr>
            <a:spLocks noGrp="1"/>
          </p:cNvSpPr>
          <p:nvPr/>
        </p:nvSpPr>
        <p:spPr>
          <a:xfrm>
            <a:off x="5762625" y="2047875"/>
            <a:ext cx="5429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Model｜System instructions｜Temperature｜Thinking level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C42580B-9195-4A4C-A5D1-E84C33578C01}"/>
              </a:ext>
            </a:extLst>
          </p:cNvPr>
          <p:cNvSpPr>
            <a:spLocks noGrp="1"/>
          </p:cNvSpPr>
          <p:nvPr/>
        </p:nvSpPr>
        <p:spPr>
          <a:xfrm>
            <a:off x="5762625" y="28575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167" lnSpcReduction="10000"/>
          </a:bodyPr>
          <a:lstStyle/>
          <a:p>
            <a:pPr algn="l">
              <a:defRPr sz="1875" b="1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8038"/>
                </a:solidFill>
                <a:latin typeface="Arial"/>
                <a:ea typeface="Arial"/>
                <a:cs typeface="Arial"/>
              </a:rPr>
              <a:t>② 可使用的能力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5F96994-1C17-4D21-8059-0C850C2E49FD}"/>
              </a:ext>
            </a:extLst>
          </p:cNvPr>
          <p:cNvSpPr>
            <a:spLocks noGrp="1"/>
          </p:cNvSpPr>
          <p:nvPr/>
        </p:nvSpPr>
        <p:spPr>
          <a:xfrm>
            <a:off x="5762625" y="3238500"/>
            <a:ext cx="5429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Search｜Maps｜URL context｜Code execution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1F4CEAF-DE5B-4FC0-B1CF-499CC2F1EE36}"/>
              </a:ext>
            </a:extLst>
          </p:cNvPr>
          <p:cNvSpPr>
            <a:spLocks noGrp="1"/>
          </p:cNvSpPr>
          <p:nvPr/>
        </p:nvSpPr>
        <p:spPr>
          <a:xfrm>
            <a:off x="5762625" y="4048125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167" lnSpcReduction="10000"/>
          </a:bodyPr>
          <a:lstStyle/>
          <a:p>
            <a:pPr algn="l">
              <a:defRPr sz="1875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③ 系統串接方式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EC2F5D4-65FC-4010-96DE-DE2D7EDFF5DB}"/>
              </a:ext>
            </a:extLst>
          </p:cNvPr>
          <p:cNvSpPr>
            <a:spLocks noGrp="1"/>
          </p:cNvSpPr>
          <p:nvPr/>
        </p:nvSpPr>
        <p:spPr>
          <a:xfrm>
            <a:off x="5762625" y="4429125"/>
            <a:ext cx="5429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Structured outputs｜Function calling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B0D9E1F-164E-4E18-A7BC-9A94FF1EEC86}"/>
              </a:ext>
            </a:extLst>
          </p:cNvPr>
          <p:cNvSpPr>
            <a:spLocks noGrp="1"/>
          </p:cNvSpPr>
          <p:nvPr/>
        </p:nvSpPr>
        <p:spPr>
          <a:xfrm>
            <a:off x="5762625" y="533400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先三層架構，再進入個別參數</a:t>
            </a:r>
            <a:endParaRPr sz="17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2467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EC055595-7026-4042-A0E7-53D450DB582E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回答風格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0BDA8D8-8700-41A0-8987-032F1354B775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Temperature 是 AI 的「創意旋鈕」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F0858CD3-A6B4-42E8-9D42-B6843BD3B86A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7F905BA-5E37-4815-A05D-295B4A8922E1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51F4BA0C-07CD-46A8-9B9F-CC16BED0D82F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11049000" cy="1000125"/>
          </a:xfrm>
          <a:prstGeom prst="rect">
            <a:avLst/>
          </a:prstGeom>
          <a:solidFill>
            <a:srgbClr val="E6F4E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990156C-9403-4EFD-8139-F12938DB8F1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8038"/>
                </a:solidFill>
                <a:latin typeface="Arial"/>
                <a:ea typeface="Arial"/>
                <a:cs typeface="Arial"/>
              </a:rPr>
              <a:t>0～0.3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7C11316-4C25-4C8F-B4A4-BE54C6F23CBE}"/>
              </a:ext>
            </a:extLst>
          </p:cNvPr>
          <p:cNvSpPr>
            <a:spLocks noGrp="1"/>
          </p:cNvSpPr>
          <p:nvPr/>
        </p:nvSpPr>
        <p:spPr>
          <a:xfrm>
            <a:off x="2571750" y="182880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029" lnSpcReduction="10000"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穩定、保守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084628B-66BE-4DFD-B237-4FAFEE665813}"/>
              </a:ext>
            </a:extLst>
          </p:cNvPr>
          <p:cNvSpPr>
            <a:spLocks noGrp="1"/>
          </p:cNvSpPr>
          <p:nvPr/>
        </p:nvSpPr>
        <p:spPr>
          <a:xfrm>
            <a:off x="2571750" y="2209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程式、數學、資料分析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A302C61-65FA-45D3-962B-649933B7FB3D}"/>
              </a:ext>
            </a:extLst>
          </p:cNvPr>
          <p:cNvSpPr>
            <a:spLocks noGrp="1"/>
          </p:cNvSpPr>
          <p:nvPr/>
        </p:nvSpPr>
        <p:spPr>
          <a:xfrm>
            <a:off x="6477000" y="19431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例：經典珍珠奶茶</a:t>
            </a: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18D20FA5-04E6-49A9-B963-DD4E1A6F9642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11049000" cy="1000125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6C44174-6698-4844-84C4-E7B4845A7B6D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0.5～0.8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64B70DC-6133-4157-8B6B-C3C9FB83F5E6}"/>
              </a:ext>
            </a:extLst>
          </p:cNvPr>
          <p:cNvSpPr>
            <a:spLocks noGrp="1"/>
          </p:cNvSpPr>
          <p:nvPr/>
        </p:nvSpPr>
        <p:spPr>
          <a:xfrm>
            <a:off x="2571750" y="306705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029" lnSpcReduction="10000"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平衡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590E350-9D28-4A17-824B-91929F0B3033}"/>
              </a:ext>
            </a:extLst>
          </p:cNvPr>
          <p:cNvSpPr>
            <a:spLocks noGrp="1"/>
          </p:cNvSpPr>
          <p:nvPr/>
        </p:nvSpPr>
        <p:spPr>
          <a:xfrm>
            <a:off x="2571750" y="3448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一般問答、摘要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B3A64E3-DBCF-4032-967C-FC55FB19E994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例：黑糖珍珠奶茶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E637A8A3-C075-4E12-B348-346886E53787}"/>
              </a:ext>
            </a:extLst>
          </p:cNvPr>
          <p:cNvSpPr>
            <a:spLocks noGrp="1"/>
          </p:cNvSpPr>
          <p:nvPr/>
        </p:nvSpPr>
        <p:spPr>
          <a:xfrm>
            <a:off x="571500" y="4191000"/>
            <a:ext cx="11049000" cy="1000125"/>
          </a:xfrm>
          <a:prstGeom prst="rect">
            <a:avLst/>
          </a:prstGeom>
          <a:solidFill>
            <a:srgbClr val="FEF7E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3B71E5E-0879-4858-9282-D24E48DAFE67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0.8～1.2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666B046-42A7-4D27-A418-D50B5347A508}"/>
              </a:ext>
            </a:extLst>
          </p:cNvPr>
          <p:cNvSpPr>
            <a:spLocks noGrp="1"/>
          </p:cNvSpPr>
          <p:nvPr/>
        </p:nvSpPr>
        <p:spPr>
          <a:xfrm>
            <a:off x="2571750" y="430530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029" lnSpcReduction="10000"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多變、有創意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3E0998A-5D3B-4484-AFA8-80587FC17CD0}"/>
              </a:ext>
            </a:extLst>
          </p:cNvPr>
          <p:cNvSpPr>
            <a:spLocks noGrp="1"/>
          </p:cNvSpPr>
          <p:nvPr/>
        </p:nvSpPr>
        <p:spPr>
          <a:xfrm>
            <a:off x="2571750" y="46863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文案、企劃、命名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7EE1D9F-9527-40A0-A1C4-C69846508597}"/>
              </a:ext>
            </a:extLst>
          </p:cNvPr>
          <p:cNvSpPr>
            <a:spLocks noGrp="1"/>
          </p:cNvSpPr>
          <p:nvPr/>
        </p:nvSpPr>
        <p:spPr>
          <a:xfrm>
            <a:off x="6477000" y="44196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例：黑糖星河珍珠奶茶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DFDD43E-A02C-49F9-9FC9-C3C36771F135}"/>
              </a:ext>
            </a:extLst>
          </p:cNvPr>
          <p:cNvSpPr>
            <a:spLocks noGrp="1"/>
          </p:cNvSpPr>
          <p:nvPr/>
        </p:nvSpPr>
        <p:spPr>
          <a:xfrm>
            <a:off x="571500" y="5715000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C522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5221F"/>
                </a:solidFill>
                <a:latin typeface="Arial"/>
                <a:ea typeface="Arial"/>
                <a:cs typeface="Arial"/>
              </a:rPr>
              <a:t>初學者先調 Temperature；Top P 保持預設，避免兩顆旋鈕一起亂轉。</a:t>
            </a:r>
          </a:p>
        </p:txBody>
      </p:sp>
    </p:spTree>
    <p:extLst>
      <p:ext uri="{BB962C8B-B14F-4D97-AF65-F5344CB8AC3E}">
        <p14:creationId xmlns:p14="http://schemas.microsoft.com/office/powerpoint/2010/main" val="135897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">
            <a:extLst>
              <a:ext uri="{FF2B5EF4-FFF2-40B4-BE49-F238E27FC236}">
                <a16:creationId xmlns:a16="http://schemas.microsoft.com/office/drawing/2014/main" id="{31B4FA05-F556-488A-B530-C6B56719EA42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推理深度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0B24EFE-0954-428C-ACBF-926C83F156ED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Thinking level 決定 AI 要「想多深」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EE79E239-3C1E-4FDB-B233-6BF26E7C33BF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6061626-D223-4AB6-A9D8-B6B2AFE6D745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EC0FC71-C377-4E26-A173-33AFDE61C867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Temperature＝敢不敢多變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F308D03-D399-4E66-AD24-557E2E7A5821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5334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Thinking level＝要不要認真想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6157EAEF-AB88-40E3-8DCE-76B953D6E82E}"/>
              </a:ext>
            </a:extLst>
          </p:cNvPr>
          <p:cNvSpPr>
            <a:spLocks noGrp="1"/>
          </p:cNvSpPr>
          <p:nvPr/>
        </p:nvSpPr>
        <p:spPr>
          <a:xfrm>
            <a:off x="619125" y="2714625"/>
            <a:ext cx="3476625" cy="238125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8177473-BA43-493B-8D63-06DC6C44BC10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3000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333"/>
          </a:bodyPr>
          <a:lstStyle/>
          <a:p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D0B6BC0-C351-40D7-AF41-B7227752F257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3000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快速回答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6C81863-8174-458E-9AB7-03E5A63AA5EF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簡單問題、格式轉換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8BF2DA58-875A-4EF8-A4E5-1A6717A41DE7}"/>
              </a:ext>
            </a:extLst>
          </p:cNvPr>
          <p:cNvSpPr>
            <a:spLocks noGrp="1"/>
          </p:cNvSpPr>
          <p:nvPr/>
        </p:nvSpPr>
        <p:spPr>
          <a:xfrm>
            <a:off x="4381500" y="2714625"/>
            <a:ext cx="3476625" cy="238125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9CEA6FD-BAB0-4E07-A559-910D8B1F1010}"/>
              </a:ext>
            </a:extLst>
          </p:cNvPr>
          <p:cNvSpPr>
            <a:spLocks noGrp="1"/>
          </p:cNvSpPr>
          <p:nvPr/>
        </p:nvSpPr>
        <p:spPr>
          <a:xfrm>
            <a:off x="4619625" y="2952750"/>
            <a:ext cx="3000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333"/>
          </a:bodyPr>
          <a:lstStyle/>
          <a:p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33E75BE-699F-4861-B111-A950AA660DC1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3000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一般分析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764795D-D338-4B26-B6A0-86728414D00E}"/>
              </a:ext>
            </a:extLst>
          </p:cNvPr>
          <p:cNvSpPr>
            <a:spLocks noGrp="1"/>
          </p:cNvSpPr>
          <p:nvPr/>
        </p:nvSpPr>
        <p:spPr>
          <a:xfrm>
            <a:off x="4714875" y="4143375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摘要、比較、日常規劃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7E866F6C-55DC-4D40-9B49-B3BA7E1268DC}"/>
              </a:ext>
            </a:extLst>
          </p:cNvPr>
          <p:cNvSpPr>
            <a:spLocks noGrp="1"/>
          </p:cNvSpPr>
          <p:nvPr/>
        </p:nvSpPr>
        <p:spPr>
          <a:xfrm>
            <a:off x="8143875" y="2714625"/>
            <a:ext cx="3476625" cy="238125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C9FB22D-2830-4CA4-AFE1-C3D8AEDDB72D}"/>
              </a:ext>
            </a:extLst>
          </p:cNvPr>
          <p:cNvSpPr>
            <a:spLocks noGrp="1"/>
          </p:cNvSpPr>
          <p:nvPr/>
        </p:nvSpPr>
        <p:spPr>
          <a:xfrm>
            <a:off x="8382000" y="2952750"/>
            <a:ext cx="3000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333"/>
          </a:bodyPr>
          <a:lstStyle/>
          <a:p>
            <a:pPr algn="ctr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864D157-090F-4F5F-9226-9C68C26D08BE}"/>
              </a:ext>
            </a:extLst>
          </p:cNvPr>
          <p:cNvSpPr>
            <a:spLocks noGrp="1"/>
          </p:cNvSpPr>
          <p:nvPr/>
        </p:nvSpPr>
        <p:spPr>
          <a:xfrm>
            <a:off x="8382000" y="3571875"/>
            <a:ext cx="3000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深度推理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3D0643CE-788F-463D-93E9-39992EE48915}"/>
              </a:ext>
            </a:extLst>
          </p:cNvPr>
          <p:cNvSpPr>
            <a:spLocks noGrp="1"/>
          </p:cNvSpPr>
          <p:nvPr/>
        </p:nvSpPr>
        <p:spPr>
          <a:xfrm>
            <a:off x="8477250" y="4143375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除錯、系統規劃、複雜分析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8151C2B5-7F7B-477A-B236-624E5026D8B2}"/>
              </a:ext>
            </a:extLst>
          </p:cNvPr>
          <p:cNvSpPr>
            <a:spLocks noGrp="1"/>
          </p:cNvSpPr>
          <p:nvPr/>
        </p:nvSpPr>
        <p:spPr>
          <a:xfrm>
            <a:off x="619125" y="5572125"/>
            <a:ext cx="1090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C522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5221F"/>
                </a:solidFill>
                <a:latin typeface="Arial"/>
                <a:ea typeface="Arial"/>
                <a:cs typeface="Arial"/>
              </a:rPr>
              <a:t>只寫 Facebook 文案通常不需要 High；複雜任務才值得多花推理時間。</a:t>
            </a:r>
          </a:p>
        </p:txBody>
      </p:sp>
    </p:spTree>
    <p:extLst>
      <p:ext uri="{BB962C8B-B14F-4D97-AF65-F5344CB8AC3E}">
        <p14:creationId xmlns:p14="http://schemas.microsoft.com/office/powerpoint/2010/main" val="99380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CB9BEB6C-74E8-47C6-8ECE-D57BB6089EB4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外部工具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3268A06-F7EE-4AA1-9F32-031F4A4D9DDD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Tools 讓聊天 AI 開始「使用能力」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8CDAED97-E567-4286-B686-9C120CBC78EC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A8EE8C9-6B66-4BFB-B2E9-5E3190130BE9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0552AAB5-A1E2-4A93-B56A-91260E22E55C}"/>
              </a:ext>
            </a:extLst>
          </p:cNvPr>
          <p:cNvSpPr>
            <a:spLocks noGrp="1"/>
          </p:cNvSpPr>
          <p:nvPr/>
        </p:nvSpPr>
        <p:spPr>
          <a:xfrm>
            <a:off x="523875" y="1666875"/>
            <a:ext cx="5334000" cy="17145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8D76A83-C11F-410E-ABDE-01B375B16E0C}"/>
              </a:ext>
            </a:extLst>
          </p:cNvPr>
          <p:cNvSpPr>
            <a:spLocks noGrp="1"/>
          </p:cNvSpPr>
          <p:nvPr/>
        </p:nvSpPr>
        <p:spPr>
          <a:xfrm>
            <a:off x="790575" y="18954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Google Search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5A715CF-407A-468A-9838-D22C0357A661}"/>
              </a:ext>
            </a:extLst>
          </p:cNvPr>
          <p:cNvSpPr>
            <a:spLocks noGrp="1"/>
          </p:cNvSpPr>
          <p:nvPr/>
        </p:nvSpPr>
        <p:spPr>
          <a:xfrm>
            <a:off x="790575" y="24098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查最新新聞、產品與即時資訊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16E3673-99E8-4392-868B-4F16EC5515BF}"/>
              </a:ext>
            </a:extLst>
          </p:cNvPr>
          <p:cNvSpPr>
            <a:spLocks noGrp="1"/>
          </p:cNvSpPr>
          <p:nvPr/>
        </p:nvSpPr>
        <p:spPr>
          <a:xfrm>
            <a:off x="790575" y="28289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示範：比較開／關搜尋後的答案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567BD826-D49D-484A-924B-8A475F3A54C6}"/>
              </a:ext>
            </a:extLst>
          </p:cNvPr>
          <p:cNvSpPr>
            <a:spLocks noGrp="1"/>
          </p:cNvSpPr>
          <p:nvPr/>
        </p:nvSpPr>
        <p:spPr>
          <a:xfrm>
            <a:off x="6143625" y="1666875"/>
            <a:ext cx="5334000" cy="1714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90B2E01-C8FA-4B60-A82A-1802ACA55B4A}"/>
              </a:ext>
            </a:extLst>
          </p:cNvPr>
          <p:cNvSpPr>
            <a:spLocks noGrp="1"/>
          </p:cNvSpPr>
          <p:nvPr/>
        </p:nvSpPr>
        <p:spPr>
          <a:xfrm>
            <a:off x="6410325" y="18954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Google Maps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4814A58-64FC-4183-8256-D33EA65C2258}"/>
              </a:ext>
            </a:extLst>
          </p:cNvPr>
          <p:cNvSpPr>
            <a:spLocks noGrp="1"/>
          </p:cNvSpPr>
          <p:nvPr/>
        </p:nvSpPr>
        <p:spPr>
          <a:xfrm>
            <a:off x="6410325" y="24098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餐廳、景點、地址與交通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84FBDA9-908C-40C1-AC13-70F8E73E5789}"/>
              </a:ext>
            </a:extLst>
          </p:cNvPr>
          <p:cNvSpPr>
            <a:spLocks noGrp="1"/>
          </p:cNvSpPr>
          <p:nvPr/>
        </p:nvSpPr>
        <p:spPr>
          <a:xfrm>
            <a:off x="6410325" y="28289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示範：適合旅遊與地圖應用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791A215E-44C3-4F0B-BB0D-8875C11C1C8A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5334000" cy="17145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9E62530-8891-4F55-A9CF-097E37B042C7}"/>
              </a:ext>
            </a:extLst>
          </p:cNvPr>
          <p:cNvSpPr>
            <a:spLocks noGrp="1"/>
          </p:cNvSpPr>
          <p:nvPr/>
        </p:nvSpPr>
        <p:spPr>
          <a:xfrm>
            <a:off x="790575" y="38957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URL context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2A41CD3-6FAC-4B1A-A6BF-E410A9783BF4}"/>
              </a:ext>
            </a:extLst>
          </p:cNvPr>
          <p:cNvSpPr>
            <a:spLocks noGrp="1"/>
          </p:cNvSpPr>
          <p:nvPr/>
        </p:nvSpPr>
        <p:spPr>
          <a:xfrm>
            <a:off x="790575" y="44100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讀取指定網頁內容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88F05A2-E633-4412-932C-F2FF5FF2F5F8}"/>
              </a:ext>
            </a:extLst>
          </p:cNvPr>
          <p:cNvSpPr>
            <a:spLocks noGrp="1"/>
          </p:cNvSpPr>
          <p:nvPr/>
        </p:nvSpPr>
        <p:spPr>
          <a:xfrm>
            <a:off x="790575" y="48291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示範：摘要、整理、比對頁面</a:t>
            </a:r>
          </a:p>
        </p:txBody>
      </p:sp>
      <p:sp>
        <p:nvSpPr>
          <p:cNvPr id="17" name="shape">
            <a:extLst>
              <a:ext uri="{FF2B5EF4-FFF2-40B4-BE49-F238E27FC236}">
                <a16:creationId xmlns:a16="http://schemas.microsoft.com/office/drawing/2014/main" id="{B1F61E8A-4F4C-48F1-A6A5-F50D702EEEB5}"/>
              </a:ext>
            </a:extLst>
          </p:cNvPr>
          <p:cNvSpPr>
            <a:spLocks noGrp="1"/>
          </p:cNvSpPr>
          <p:nvPr/>
        </p:nvSpPr>
        <p:spPr>
          <a:xfrm>
            <a:off x="6143625" y="3667125"/>
            <a:ext cx="5334000" cy="1714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878D969F-03A5-470B-AAB7-30AC2A86F817}"/>
              </a:ext>
            </a:extLst>
          </p:cNvPr>
          <p:cNvSpPr>
            <a:spLocks noGrp="1"/>
          </p:cNvSpPr>
          <p:nvPr/>
        </p:nvSpPr>
        <p:spPr>
          <a:xfrm>
            <a:off x="6410325" y="38957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 execution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188F5EAC-D7D1-4360-A123-B2AC4AA5CB1C}"/>
              </a:ext>
            </a:extLst>
          </p:cNvPr>
          <p:cNvSpPr>
            <a:spLocks noGrp="1"/>
          </p:cNvSpPr>
          <p:nvPr/>
        </p:nvSpPr>
        <p:spPr>
          <a:xfrm>
            <a:off x="6410325" y="44100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執行程式與計算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98A5A2C1-F08C-4398-AC85-BF56C1FBCD8E}"/>
              </a:ext>
            </a:extLst>
          </p:cNvPr>
          <p:cNvSpPr>
            <a:spLocks noGrp="1"/>
          </p:cNvSpPr>
          <p:nvPr/>
        </p:nvSpPr>
        <p:spPr>
          <a:xfrm>
            <a:off x="6410325" y="48291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示範：數學、資料分析、Python</a:t>
            </a:r>
          </a:p>
        </p:txBody>
      </p:sp>
    </p:spTree>
    <p:extLst>
      <p:ext uri="{BB962C8B-B14F-4D97-AF65-F5344CB8AC3E}">
        <p14:creationId xmlns:p14="http://schemas.microsoft.com/office/powerpoint/2010/main" val="420917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">
            <a:extLst>
              <a:ext uri="{FF2B5EF4-FFF2-40B4-BE49-F238E27FC236}">
                <a16:creationId xmlns:a16="http://schemas.microsoft.com/office/drawing/2014/main" id="{6C59DE96-6CE6-4A06-B659-A6DC6F6357C8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系統整合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7F66AB5-5617-4D3C-AF0C-172770B144B9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Structured outputs 與 Function calling 讓 AI 接上系統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8C524894-3EBC-4419-9423-EF1240298AA2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BAF4288-C0C6-4966-9262-E7E139D470D9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D771E22A-B8E4-46CD-962F-AABEA7E7EFAE}"/>
              </a:ext>
            </a:extLst>
          </p:cNvPr>
          <p:cNvSpPr>
            <a:spLocks noGrp="1"/>
          </p:cNvSpPr>
          <p:nvPr/>
        </p:nvSpPr>
        <p:spPr>
          <a:xfrm>
            <a:off x="523875" y="1666875"/>
            <a:ext cx="5191125" cy="4000500"/>
          </a:xfrm>
          <a:prstGeom prst="rect">
            <a:avLst/>
          </a:prstGeom>
          <a:solidFill>
            <a:srgbClr val="E6F4E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E8F9745-987A-416A-BBAD-61D13034A937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428"/>
          </a:bodyPr>
          <a:lstStyle/>
          <a:p>
            <a:pPr algn="l">
              <a:defRPr sz="2100" b="1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8038"/>
                </a:solidFill>
                <a:latin typeface="Arial"/>
                <a:ea typeface="Arial"/>
                <a:cs typeface="Arial"/>
              </a:rPr>
              <a:t>Structured outputs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EA12473-14D8-43F8-9773-64A27ED1D4F7}"/>
              </a:ext>
            </a:extLst>
          </p:cNvPr>
          <p:cNvSpPr>
            <a:spLocks noGrp="1"/>
          </p:cNvSpPr>
          <p:nvPr/>
        </p:nvSpPr>
        <p:spPr>
          <a:xfrm>
            <a:off x="809625" y="2571750"/>
            <a:ext cx="4429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把自然語言固定成 JSON 或指定欄位。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247F2FE-B8FE-419F-855C-7B132D2042E0}"/>
              </a:ext>
            </a:extLst>
          </p:cNvPr>
          <p:cNvSpPr>
            <a:spLocks noGrp="1"/>
          </p:cNvSpPr>
          <p:nvPr/>
        </p:nvSpPr>
        <p:spPr>
          <a:xfrm>
            <a:off x="809625" y="3476625"/>
            <a:ext cx="4429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「AI 回答文字，是聊天；</a:t>
            </a:r>
          </a:p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回答 JSON，就能接系統。」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0BA1343-AC91-474A-859D-9F01F1931845}"/>
              </a:ext>
            </a:extLst>
          </p:cNvPr>
          <p:cNvSpPr>
            <a:spLocks noGrp="1"/>
          </p:cNvSpPr>
          <p:nvPr/>
        </p:nvSpPr>
        <p:spPr>
          <a:xfrm>
            <a:off x="809625" y="4810125"/>
            <a:ext cx="4429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適合：表單、API 回傳、資料交換</a:t>
            </a: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C07EEB83-3F77-41C7-BC8F-A6A5573E17C6}"/>
              </a:ext>
            </a:extLst>
          </p:cNvPr>
          <p:cNvSpPr>
            <a:spLocks noGrp="1"/>
          </p:cNvSpPr>
          <p:nvPr/>
        </p:nvSpPr>
        <p:spPr>
          <a:xfrm>
            <a:off x="6000750" y="1666875"/>
            <a:ext cx="5667375" cy="40005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018912-1153-449D-BEE6-1BBD626D1013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5095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428"/>
          </a:bodyPr>
          <a:lstStyle/>
          <a:p>
            <a:pPr algn="l">
              <a:defRPr sz="210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Function calling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7D40E3F-2D1B-435F-AD7D-8906CA7BA5F5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4905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 判斷何時呼叫你定義的外部功能或 API。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E313763-B197-4562-9631-6C1D5872C091}"/>
              </a:ext>
            </a:extLst>
          </p:cNvPr>
          <p:cNvSpPr>
            <a:spLocks noGrp="1"/>
          </p:cNvSpPr>
          <p:nvPr/>
        </p:nvSpPr>
        <p:spPr>
          <a:xfrm>
            <a:off x="6286500" y="3429000"/>
            <a:ext cx="49053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查詢船班()</a:t>
            </a:r>
          </a:p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查詢票價()</a:t>
            </a:r>
          </a:p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建立訂位()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662F8F4-8A75-47BA-ADFE-34A3E413ED85}"/>
              </a:ext>
            </a:extLst>
          </p:cNvPr>
          <p:cNvSpPr>
            <a:spLocks noGrp="1"/>
          </p:cNvSpPr>
          <p:nvPr/>
        </p:nvSpPr>
        <p:spPr>
          <a:xfrm>
            <a:off x="6286500" y="4810125"/>
            <a:ext cx="490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這是 AI Agent 的核心能力之一</a:t>
            </a:r>
          </a:p>
        </p:txBody>
      </p:sp>
    </p:spTree>
    <p:extLst>
      <p:ext uri="{BB962C8B-B14F-4D97-AF65-F5344CB8AC3E}">
        <p14:creationId xmlns:p14="http://schemas.microsoft.com/office/powerpoint/2010/main" val="2139509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4255D885-8C03-4807-AADA-9C5B5EB61A36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教學重點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168C0DC-D9E5-4583-AD9E-995CF1CDFE43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只要抓住</a:t>
            </a:r>
            <a:r>
              <a:rPr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7 </a:t>
            </a:r>
            <a:r>
              <a:rPr sz="29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個設定</a:t>
            </a:r>
            <a:endParaRPr sz="29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1D2DF40B-2E2B-49B6-B322-F23FB56114B6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E1CDDF6-3D56-4DBC-A9A4-4185A75A522B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BA8BEA77-F465-450C-8AE4-807A0631AFC0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95300" cy="49530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FA52747-E575-4D84-82EA-A1E38D04E755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55691C2-44D8-4A7A-AB2A-9FDE9231487E}"/>
              </a:ext>
            </a:extLst>
          </p:cNvPr>
          <p:cNvSpPr>
            <a:spLocks noGrp="1"/>
          </p:cNvSpPr>
          <p:nvPr/>
        </p:nvSpPr>
        <p:spPr>
          <a:xfrm>
            <a:off x="1381125" y="16668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模型選擇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40EA49A8-F298-441F-8404-4BCDCC5E5981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495300" cy="49530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4610F80-FAF3-4FB0-97D9-AA7214EC1E38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22CE9D5-7995-4E6F-8E3F-6480CDA6388E}"/>
              </a:ext>
            </a:extLst>
          </p:cNvPr>
          <p:cNvSpPr>
            <a:spLocks noGrp="1"/>
          </p:cNvSpPr>
          <p:nvPr/>
        </p:nvSpPr>
        <p:spPr>
          <a:xfrm>
            <a:off x="1381125" y="25717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System instructions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52F11C01-82BF-4468-B98E-6452C7EE7F6D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495300" cy="49530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66D8BF4-A052-4A4B-B8FB-30D7AB3485CC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85FF9A1-E2A5-4DDB-B535-3695DB116E2F}"/>
              </a:ext>
            </a:extLst>
          </p:cNvPr>
          <p:cNvSpPr>
            <a:spLocks noGrp="1"/>
          </p:cNvSpPr>
          <p:nvPr/>
        </p:nvSpPr>
        <p:spPr>
          <a:xfrm>
            <a:off x="1381125" y="347662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Temperature</a:t>
            </a: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58732A9C-886E-4A80-81AB-330A26A2B014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495300" cy="49530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24B6D55-D0E8-4C6B-935B-B1F5D777275F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0E5F678-F494-41E0-8611-A5876F518FCE}"/>
              </a:ext>
            </a:extLst>
          </p:cNvPr>
          <p:cNvSpPr>
            <a:spLocks noGrp="1"/>
          </p:cNvSpPr>
          <p:nvPr/>
        </p:nvSpPr>
        <p:spPr>
          <a:xfrm>
            <a:off x="1381125" y="43815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Thinking level</a:t>
            </a:r>
          </a:p>
        </p:txBody>
      </p:sp>
      <p:sp>
        <p:nvSpPr>
          <p:cNvPr id="17" name="shape">
            <a:extLst>
              <a:ext uri="{FF2B5EF4-FFF2-40B4-BE49-F238E27FC236}">
                <a16:creationId xmlns:a16="http://schemas.microsoft.com/office/drawing/2014/main" id="{33C18C54-3A92-4865-8439-3E9344115FBA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495300" cy="495300"/>
          </a:xfrm>
          <a:prstGeom prst="rect">
            <a:avLst/>
          </a:prstGeom>
          <a:solidFill>
            <a:srgbClr val="18803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8090EE3-E11A-44D4-9BD7-A82A4ED4C6BB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CAD4806-1FBF-4DC1-9BA0-22E602D57EFE}"/>
              </a:ext>
            </a:extLst>
          </p:cNvPr>
          <p:cNvSpPr>
            <a:spLocks noGrp="1"/>
          </p:cNvSpPr>
          <p:nvPr/>
        </p:nvSpPr>
        <p:spPr>
          <a:xfrm>
            <a:off x="6905625" y="16668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Google Search／URL context</a:t>
            </a: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BE18C45F-DB53-41C3-B802-93839735BD83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495300" cy="495300"/>
          </a:xfrm>
          <a:prstGeom prst="rect">
            <a:avLst/>
          </a:prstGeom>
          <a:solidFill>
            <a:srgbClr val="18803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1AA7185-5A2B-4E2F-A281-B4325583DF02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80715796-B94C-425B-A326-44FDA8C97309}"/>
              </a:ext>
            </a:extLst>
          </p:cNvPr>
          <p:cNvSpPr>
            <a:spLocks noGrp="1"/>
          </p:cNvSpPr>
          <p:nvPr/>
        </p:nvSpPr>
        <p:spPr>
          <a:xfrm>
            <a:off x="6905625" y="25717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Structured outputs</a:t>
            </a:r>
          </a:p>
        </p:txBody>
      </p:sp>
      <p:sp>
        <p:nvSpPr>
          <p:cNvPr id="23" name="shape">
            <a:extLst>
              <a:ext uri="{FF2B5EF4-FFF2-40B4-BE49-F238E27FC236}">
                <a16:creationId xmlns:a16="http://schemas.microsoft.com/office/drawing/2014/main" id="{1295F0D8-382C-4019-AFBA-2963C53470FE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495300" cy="495300"/>
          </a:xfrm>
          <a:prstGeom prst="rect">
            <a:avLst/>
          </a:prstGeom>
          <a:solidFill>
            <a:srgbClr val="18803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E1086AE3-CEE4-4C25-95CA-580371E20230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030242D-2935-45A4-87C0-328C9E2C4CBD}"/>
              </a:ext>
            </a:extLst>
          </p:cNvPr>
          <p:cNvSpPr>
            <a:spLocks noGrp="1"/>
          </p:cNvSpPr>
          <p:nvPr/>
        </p:nvSpPr>
        <p:spPr>
          <a:xfrm>
            <a:off x="6905625" y="347662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 calling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04CC4317-D6E5-4570-B2C7-3839B0419353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其餘項目：Media resolution、Safety、Stop sequence、Output length、Top P，先知道用途即可。</a:t>
            </a:r>
          </a:p>
        </p:txBody>
      </p:sp>
    </p:spTree>
    <p:extLst>
      <p:ext uri="{BB962C8B-B14F-4D97-AF65-F5344CB8AC3E}">
        <p14:creationId xmlns:p14="http://schemas.microsoft.com/office/powerpoint/2010/main" val="974429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">
            <a:extLst>
              <a:ext uri="{FF2B5EF4-FFF2-40B4-BE49-F238E27FC236}">
                <a16:creationId xmlns:a16="http://schemas.microsoft.com/office/drawing/2014/main" id="{796A8C06-2156-48A2-874E-D52D6AD100BE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整體架構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16BCC3C-B5F5-4FDE-B7BC-5F8ED15E4E37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看懂這條線，就理解 AI Studio 七成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75D6B718-650F-4827-A389-86CA0A51BCB8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3F5B516-9AB9-4C9E-B221-926F9D98B7C0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1853EBDB-9F74-4A14-AE0B-C770BD45D753}"/>
              </a:ext>
            </a:extLst>
          </p:cNvPr>
          <p:cNvSpPr>
            <a:spLocks noGrp="1"/>
          </p:cNvSpPr>
          <p:nvPr/>
        </p:nvSpPr>
        <p:spPr>
          <a:xfrm>
            <a:off x="428625" y="2381250"/>
            <a:ext cx="2000250" cy="1666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ED28CBF-A879-499E-9853-41978FB2B3CF}"/>
              </a:ext>
            </a:extLst>
          </p:cNvPr>
          <p:cNvSpPr>
            <a:spLocks noGrp="1"/>
          </p:cNvSpPr>
          <p:nvPr/>
        </p:nvSpPr>
        <p:spPr>
          <a:xfrm>
            <a:off x="571500" y="26479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87C3568-EFA2-461C-BC13-8DC68795C059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說清任務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F414834-3188-4107-A1DF-42A5F1B0946D}"/>
              </a:ext>
            </a:extLst>
          </p:cNvPr>
          <p:cNvSpPr>
            <a:spLocks noGrp="1"/>
          </p:cNvSpPr>
          <p:nvPr/>
        </p:nvSpPr>
        <p:spPr>
          <a:xfrm>
            <a:off x="2381250" y="29051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252" lnSpcReduction="10000"/>
          </a:bodyPr>
          <a:lstStyle/>
          <a:p>
            <a:pPr algn="ctr">
              <a:defRPr sz="2100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D8EB6FDC-DCE9-4E57-89E1-B58E4C1ADC8C}"/>
              </a:ext>
            </a:extLst>
          </p:cNvPr>
          <p:cNvSpPr>
            <a:spLocks noGrp="1"/>
          </p:cNvSpPr>
          <p:nvPr/>
        </p:nvSpPr>
        <p:spPr>
          <a:xfrm>
            <a:off x="2762250" y="2381250"/>
            <a:ext cx="2000250" cy="1666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AE63595-CBAB-4D56-9B09-B331F81FA827}"/>
              </a:ext>
            </a:extLst>
          </p:cNvPr>
          <p:cNvSpPr>
            <a:spLocks noGrp="1"/>
          </p:cNvSpPr>
          <p:nvPr/>
        </p:nvSpPr>
        <p:spPr>
          <a:xfrm>
            <a:off x="2905125" y="26479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B9A23A-181A-4322-BBAA-5AE2A87E7D2E}"/>
              </a:ext>
            </a:extLst>
          </p:cNvPr>
          <p:cNvSpPr>
            <a:spLocks noGrp="1"/>
          </p:cNvSpPr>
          <p:nvPr/>
        </p:nvSpPr>
        <p:spPr>
          <a:xfrm>
            <a:off x="2952750" y="3286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產生與推理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CACFF5F-69DC-4F02-9A44-E1DD7F12C387}"/>
              </a:ext>
            </a:extLst>
          </p:cNvPr>
          <p:cNvSpPr>
            <a:spLocks noGrp="1"/>
          </p:cNvSpPr>
          <p:nvPr/>
        </p:nvSpPr>
        <p:spPr>
          <a:xfrm>
            <a:off x="4714875" y="29051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252" lnSpcReduction="10000"/>
          </a:bodyPr>
          <a:lstStyle/>
          <a:p>
            <a:pPr algn="ctr">
              <a:defRPr sz="2100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4F57A273-4224-42BC-8F10-D9BDBC4E7D70}"/>
              </a:ext>
            </a:extLst>
          </p:cNvPr>
          <p:cNvSpPr>
            <a:spLocks noGrp="1"/>
          </p:cNvSpPr>
          <p:nvPr/>
        </p:nvSpPr>
        <p:spPr>
          <a:xfrm>
            <a:off x="5095875" y="2381250"/>
            <a:ext cx="2000250" cy="1666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E8C871-2760-4F27-ACCB-75D28B704105}"/>
              </a:ext>
            </a:extLst>
          </p:cNvPr>
          <p:cNvSpPr>
            <a:spLocks noGrp="1"/>
          </p:cNvSpPr>
          <p:nvPr/>
        </p:nvSpPr>
        <p:spPr>
          <a:xfrm>
            <a:off x="5238750" y="26479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402B709-3CD0-4A97-BE40-61DF47EDEA66}"/>
              </a:ext>
            </a:extLst>
          </p:cNvPr>
          <p:cNvSpPr>
            <a:spLocks noGrp="1"/>
          </p:cNvSpPr>
          <p:nvPr/>
        </p:nvSpPr>
        <p:spPr>
          <a:xfrm>
            <a:off x="5286375" y="3286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取得外部能力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ABF9A11-FEB4-492C-9B54-3E38F21A78E6}"/>
              </a:ext>
            </a:extLst>
          </p:cNvPr>
          <p:cNvSpPr>
            <a:spLocks noGrp="1"/>
          </p:cNvSpPr>
          <p:nvPr/>
        </p:nvSpPr>
        <p:spPr>
          <a:xfrm>
            <a:off x="7048500" y="29051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252" lnSpcReduction="10000"/>
          </a:bodyPr>
          <a:lstStyle/>
          <a:p>
            <a:pPr algn="ctr">
              <a:defRPr sz="2100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ape">
            <a:extLst>
              <a:ext uri="{FF2B5EF4-FFF2-40B4-BE49-F238E27FC236}">
                <a16:creationId xmlns:a16="http://schemas.microsoft.com/office/drawing/2014/main" id="{17BFB5F2-6998-4EA8-B473-40B3FD343FC2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2000250" cy="1666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8C5E3C0A-4E26-43E7-9824-797E57C08960}"/>
              </a:ext>
            </a:extLst>
          </p:cNvPr>
          <p:cNvSpPr>
            <a:spLocks noGrp="1"/>
          </p:cNvSpPr>
          <p:nvPr/>
        </p:nvSpPr>
        <p:spPr>
          <a:xfrm>
            <a:off x="7572375" y="26479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8D67B7E-C5B2-495D-AF91-18CF52E6409D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連接系統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09D8963A-1466-478B-8D96-43F1C28ED716}"/>
              </a:ext>
            </a:extLst>
          </p:cNvPr>
          <p:cNvSpPr>
            <a:spLocks noGrp="1"/>
          </p:cNvSpPr>
          <p:nvPr/>
        </p:nvSpPr>
        <p:spPr>
          <a:xfrm>
            <a:off x="9382125" y="29051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252" lnSpcReduction="10000"/>
          </a:bodyPr>
          <a:lstStyle/>
          <a:p>
            <a:pPr algn="ctr">
              <a:defRPr sz="2100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4D8AB4B9-CEA2-4DCD-A516-D2C3980AC202}"/>
              </a:ext>
            </a:extLst>
          </p:cNvPr>
          <p:cNvSpPr>
            <a:spLocks noGrp="1"/>
          </p:cNvSpPr>
          <p:nvPr/>
        </p:nvSpPr>
        <p:spPr>
          <a:xfrm>
            <a:off x="9763125" y="2381250"/>
            <a:ext cx="2000250" cy="1666875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380BC88-6EA2-40C2-9054-E8DAD48339FB}"/>
              </a:ext>
            </a:extLst>
          </p:cNvPr>
          <p:cNvSpPr>
            <a:spLocks noGrp="1"/>
          </p:cNvSpPr>
          <p:nvPr/>
        </p:nvSpPr>
        <p:spPr>
          <a:xfrm>
            <a:off x="9906000" y="26479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03FFDC0D-3E75-4022-BD94-4C8F7AA859B1}"/>
              </a:ext>
            </a:extLst>
          </p:cNvPr>
          <p:cNvSpPr>
            <a:spLocks noGrp="1"/>
          </p:cNvSpPr>
          <p:nvPr/>
        </p:nvSpPr>
        <p:spPr>
          <a:xfrm>
            <a:off x="9953625" y="3286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交付使用者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B864AFA7-E9E6-4761-B16D-8DB09BAFFDFB}"/>
              </a:ext>
            </a:extLst>
          </p:cNvPr>
          <p:cNvSpPr>
            <a:spLocks noGrp="1"/>
          </p:cNvSpPr>
          <p:nvPr/>
        </p:nvSpPr>
        <p:spPr>
          <a:xfrm>
            <a:off x="666750" y="4810125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決定怎麼想；Tools 決定能做什麼；API 決定怎麼接入真實系統。</a:t>
            </a:r>
          </a:p>
        </p:txBody>
      </p:sp>
    </p:spTree>
    <p:extLst>
      <p:ext uri="{BB962C8B-B14F-4D97-AF65-F5344CB8AC3E}">
        <p14:creationId xmlns:p14="http://schemas.microsoft.com/office/powerpoint/2010/main" val="192007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">
            <a:extLst>
              <a:ext uri="{FF2B5EF4-FFF2-40B4-BE49-F238E27FC236}">
                <a16:creationId xmlns:a16="http://schemas.microsoft.com/office/drawing/2014/main" id="{0DC9C506-C930-4BDC-B0A4-C60166F1936F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Playground 的標準操作循環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10943F42-8F78-44F6-994C-3A5268A8DC05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F02327B-6C4C-41ED-84EE-663AFCFA981E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B0220CC8-ABA8-43AD-996B-DFFD62F246BC}"/>
              </a:ext>
            </a:extLst>
          </p:cNvPr>
          <p:cNvSpPr>
            <a:spLocks noGrp="1"/>
          </p:cNvSpPr>
          <p:nvPr/>
        </p:nvSpPr>
        <p:spPr>
          <a:xfrm>
            <a:off x="49530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A669A9E-9B21-4D3F-B921-5C4434821845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E4CF8D6-8B15-4474-BA20-ED0C56EDE936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設定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B99E8FB-8201-4EA4-A230-9AEAEC3CE285}"/>
              </a:ext>
            </a:extLst>
          </p:cNvPr>
          <p:cNvSpPr>
            <a:spLocks noGrp="1"/>
          </p:cNvSpPr>
          <p:nvPr/>
        </p:nvSpPr>
        <p:spPr>
          <a:xfrm>
            <a:off x="70485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模型與系統規則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753A292F-3D1E-4BD9-A39B-1B6458D4B540}"/>
              </a:ext>
            </a:extLst>
          </p:cNvPr>
          <p:cNvSpPr>
            <a:spLocks noGrp="1"/>
          </p:cNvSpPr>
          <p:nvPr/>
        </p:nvSpPr>
        <p:spPr>
          <a:xfrm>
            <a:off x="277368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D99140D-0553-4B18-BAB5-3B34F845779F}"/>
              </a:ext>
            </a:extLst>
          </p:cNvPr>
          <p:cNvSpPr>
            <a:spLocks noGrp="1"/>
          </p:cNvSpPr>
          <p:nvPr/>
        </p:nvSpPr>
        <p:spPr>
          <a:xfrm>
            <a:off x="298323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1A02433-B5EA-46EA-A3D2-13A12CF767FD}"/>
              </a:ext>
            </a:extLst>
          </p:cNvPr>
          <p:cNvSpPr>
            <a:spLocks noGrp="1"/>
          </p:cNvSpPr>
          <p:nvPr/>
        </p:nvSpPr>
        <p:spPr>
          <a:xfrm>
            <a:off x="298323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輸入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BBEADC2-B129-4834-B40B-D1AC2A625566}"/>
              </a:ext>
            </a:extLst>
          </p:cNvPr>
          <p:cNvSpPr>
            <a:spLocks noGrp="1"/>
          </p:cNvSpPr>
          <p:nvPr/>
        </p:nvSpPr>
        <p:spPr>
          <a:xfrm>
            <a:off x="298323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問題與必要資料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1B338EF6-54BB-4549-91C3-DDF0CF00D777}"/>
              </a:ext>
            </a:extLst>
          </p:cNvPr>
          <p:cNvSpPr>
            <a:spLocks noGrp="1"/>
          </p:cNvSpPr>
          <p:nvPr/>
        </p:nvSpPr>
        <p:spPr>
          <a:xfrm>
            <a:off x="505206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5052F72-BD2E-4FB6-8CE6-CD60F83BA3DE}"/>
              </a:ext>
            </a:extLst>
          </p:cNvPr>
          <p:cNvSpPr>
            <a:spLocks noGrp="1"/>
          </p:cNvSpPr>
          <p:nvPr/>
        </p:nvSpPr>
        <p:spPr>
          <a:xfrm>
            <a:off x="526161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C779625-E02C-413F-96AF-9AC92765454D}"/>
              </a:ext>
            </a:extLst>
          </p:cNvPr>
          <p:cNvSpPr>
            <a:spLocks noGrp="1"/>
          </p:cNvSpPr>
          <p:nvPr/>
        </p:nvSpPr>
        <p:spPr>
          <a:xfrm>
            <a:off x="526161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執行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F1DD778-2B8E-498B-9D5A-16FE7115B9E4}"/>
              </a:ext>
            </a:extLst>
          </p:cNvPr>
          <p:cNvSpPr>
            <a:spLocks noGrp="1"/>
          </p:cNvSpPr>
          <p:nvPr/>
        </p:nvSpPr>
        <p:spPr>
          <a:xfrm>
            <a:off x="526161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觀察回應</a:t>
            </a:r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875261C3-B8DB-4678-8524-BF673FC95B45}"/>
              </a:ext>
            </a:extLst>
          </p:cNvPr>
          <p:cNvSpPr>
            <a:spLocks noGrp="1"/>
          </p:cNvSpPr>
          <p:nvPr/>
        </p:nvSpPr>
        <p:spPr>
          <a:xfrm>
            <a:off x="733044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95DAD9D-08D0-4773-B5EF-E46ED8DAEA88}"/>
              </a:ext>
            </a:extLst>
          </p:cNvPr>
          <p:cNvSpPr>
            <a:spLocks noGrp="1"/>
          </p:cNvSpPr>
          <p:nvPr/>
        </p:nvSpPr>
        <p:spPr>
          <a:xfrm>
            <a:off x="753999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A6AF082-A302-455D-A0C8-60591FCB9452}"/>
              </a:ext>
            </a:extLst>
          </p:cNvPr>
          <p:cNvSpPr>
            <a:spLocks noGrp="1"/>
          </p:cNvSpPr>
          <p:nvPr/>
        </p:nvSpPr>
        <p:spPr>
          <a:xfrm>
            <a:off x="753999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比較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BDF8597-2570-48EA-BCBC-F535204DB247}"/>
              </a:ext>
            </a:extLst>
          </p:cNvPr>
          <p:cNvSpPr>
            <a:spLocks noGrp="1"/>
          </p:cNvSpPr>
          <p:nvPr/>
        </p:nvSpPr>
        <p:spPr>
          <a:xfrm>
            <a:off x="753999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修改一項設定</a:t>
            </a: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A665463F-3DD1-4641-8C21-5872E741D203}"/>
              </a:ext>
            </a:extLst>
          </p:cNvPr>
          <p:cNvSpPr>
            <a:spLocks noGrp="1"/>
          </p:cNvSpPr>
          <p:nvPr/>
        </p:nvSpPr>
        <p:spPr>
          <a:xfrm>
            <a:off x="9608820" y="2047875"/>
            <a:ext cx="2087880" cy="28575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48B4C5C4-C8E9-49AE-BA69-23E5032CF435}"/>
              </a:ext>
            </a:extLst>
          </p:cNvPr>
          <p:cNvSpPr>
            <a:spLocks noGrp="1"/>
          </p:cNvSpPr>
          <p:nvPr/>
        </p:nvSpPr>
        <p:spPr>
          <a:xfrm>
            <a:off x="981837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57BE5286-B93D-4208-A213-726FD858F346}"/>
              </a:ext>
            </a:extLst>
          </p:cNvPr>
          <p:cNvSpPr>
            <a:spLocks noGrp="1"/>
          </p:cNvSpPr>
          <p:nvPr/>
        </p:nvSpPr>
        <p:spPr>
          <a:xfrm>
            <a:off x="981837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保存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201D1E8-E4E5-4D11-8382-A184D9669C3C}"/>
              </a:ext>
            </a:extLst>
          </p:cNvPr>
          <p:cNvSpPr>
            <a:spLocks noGrp="1"/>
          </p:cNvSpPr>
          <p:nvPr/>
        </p:nvSpPr>
        <p:spPr>
          <a:xfrm>
            <a:off x="981837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保留可用版本</a:t>
            </a:r>
          </a:p>
        </p:txBody>
      </p:sp>
    </p:spTree>
    <p:extLst>
      <p:ext uri="{BB962C8B-B14F-4D97-AF65-F5344CB8AC3E}">
        <p14:creationId xmlns:p14="http://schemas.microsoft.com/office/powerpoint/2010/main" val="2028748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CFC11B2B-EEF6-4828-8F79-6129FFB472B1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mode 是把需求直接變成 App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D597115A-EC38-49CF-A24E-F09A52412B85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77AD60F-0818-4652-BC3F-970832D73371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AA735A80-BAA8-4AB1-9219-2FB8198429B7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334000" cy="41910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338491F5-7E79-4C32-9E85-79FF6B0DD022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600700" cy="41910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B509C79-2825-45C3-8DF1-51D2767538E9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輸入端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2674B1E-C903-4D6A-B599-16C7D9209F33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6672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文字描述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語音輸入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加入檔案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GitHub 匯入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DA4F911-8754-4D3F-8561-3CF693694151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產出端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288CE2B-7C09-427C-B552-0044886E573D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4857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React 前端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Node.js 伺服器端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多檔案程式碼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即時 App Preview</a:t>
            </a:r>
          </a:p>
        </p:txBody>
      </p:sp>
    </p:spTree>
    <p:extLst>
      <p:ext uri="{BB962C8B-B14F-4D97-AF65-F5344CB8AC3E}">
        <p14:creationId xmlns:p14="http://schemas.microsoft.com/office/powerpoint/2010/main" val="1435528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BE400BE3-AB00-4C65-B77E-396D3A216160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E7714E9-7204-4C55-AF00-112DBDC63321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生成後先用</a:t>
            </a:r>
            <a:r>
              <a:rPr lang="zh-TW" altLang="en-US"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三欄</a:t>
            </a:r>
            <a:r>
              <a:rPr sz="29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畫面理解結果</a:t>
            </a:r>
            <a:endParaRPr sz="29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4A350F62-5BC2-4B18-95F9-13189C7CF4E7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A38BBEF-2822-4164-9A16-6C38A25543B4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3E91AD9A-62E6-4C37-9240-124242A90E93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1D00EBF-744B-4CDF-8666-9745B1779EB2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對話區：AI 做了什麼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Code：實際修改哪些檔案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Preview：使用者最後看到什麼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A3DDEE80-9287-4ED5-94AA-4C90CF5EDFC5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1660843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42661B4F-9605-4B1C-844E-160096BE7156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53974E5-27B3-47C5-B07F-52F5A5283565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程式碼與檔案結構都能直接查看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C49506D8-EF5F-40FD-AB2D-288D937D28AF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3A133FE-CA33-4246-903C-AD7B43172570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5312CE5-5AD4-4762-87CF-EA03108E48AB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C135AF8-5FD8-4ADC-BCAA-25FBBFABC42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從檔案清單選擇目標檔案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中央檢查程式碼與框架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不要只看 Preview 就相信完成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5A1D5F9A-1455-492F-9AAF-7D33DC82AFC9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1308523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2D9BEFB3-16FA-4D49-B31A-ED9CFE461277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平台選擇會決定生成的技術架構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1DAD730F-8E87-4D68-8436-A272775FF24C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CC77659-0E03-4243-BE78-DB228C9124AE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6DDCC9C8-844C-4D41-81DC-71E905563600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334000" cy="41910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74CE5AD9-C691-4517-9F5D-5F188DCA843F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600700" cy="4191000"/>
          </a:xfrm>
          <a:prstGeom prst="rect">
            <a:avLst/>
          </a:prstGeom>
          <a:solidFill>
            <a:srgbClr val="E6F4E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DE4AC58-4EA9-4CCC-AE6E-F463FE8C80EE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App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594D021-9A25-4559-B2CB-4283E545F347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6672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預設 React 前端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Node.js 伺服器端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瀏覽器即時預覽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適合網站與工具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E0E5A4F-AE06-471F-8607-685C5314BFCE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Android App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8ACE79A-8429-4429-AA99-0B4DB33EC74B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4857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Kotlin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Jetpack Compose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瀏覽器模擬器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可安裝至裝置測試</a:t>
            </a:r>
          </a:p>
        </p:txBody>
      </p:sp>
    </p:spTree>
    <p:extLst>
      <p:ext uri="{BB962C8B-B14F-4D97-AF65-F5344CB8AC3E}">
        <p14:creationId xmlns:p14="http://schemas.microsoft.com/office/powerpoint/2010/main" val="340280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6C1DFEAC-7739-4D91-B620-A1D8B4808BA4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設計前先回答四件事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E0F86BE3-707B-4D22-800C-00B5F72F42E4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B06D67F-8D3E-4C18-851A-52AE86237FB0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36F8E11-A8F3-44D8-A355-827EFE3F514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06680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誰要用？要完成什麼？在哪個情境？怎樣才算成功？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DDFD0E9F-29D9-4866-B68F-5CD7B327C424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4095750" cy="11430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704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">
            <a:extLst>
              <a:ext uri="{FF2B5EF4-FFF2-40B4-BE49-F238E27FC236}">
                <a16:creationId xmlns:a16="http://schemas.microsoft.com/office/drawing/2014/main" id="{4FCFD66E-D4DC-441D-AEC4-3B6CF703FA1A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把想法整理成可生成的設計規格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C4D557FE-4132-4892-8FD0-2FB7BE2CC1AB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BB96CA7-CC55-4D54-9CCC-0AC8AE3345E8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86F7077D-DD67-45F2-9B31-89E47DBB98A8}"/>
              </a:ext>
            </a:extLst>
          </p:cNvPr>
          <p:cNvSpPr>
            <a:spLocks noGrp="1"/>
          </p:cNvSpPr>
          <p:nvPr/>
        </p:nvSpPr>
        <p:spPr>
          <a:xfrm>
            <a:off x="49530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B471A2D-493B-4E5F-BC70-9B2DF17FB74C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8154686-A239-4C41-8E72-C16B6A28D83E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使用者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63D9D1F-241E-4EDC-8FD4-ACDC1F8A8A03}"/>
              </a:ext>
            </a:extLst>
          </p:cNvPr>
          <p:cNvSpPr>
            <a:spLocks noGrp="1"/>
          </p:cNvSpPr>
          <p:nvPr/>
        </p:nvSpPr>
        <p:spPr>
          <a:xfrm>
            <a:off x="70485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對象與能力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0822FDD-5448-4CF8-B0FF-F7982E62312A}"/>
              </a:ext>
            </a:extLst>
          </p:cNvPr>
          <p:cNvSpPr>
            <a:spLocks noGrp="1"/>
          </p:cNvSpPr>
          <p:nvPr/>
        </p:nvSpPr>
        <p:spPr>
          <a:xfrm>
            <a:off x="277368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CE02F69-1083-4975-AF0F-C1126F042C7D}"/>
              </a:ext>
            </a:extLst>
          </p:cNvPr>
          <p:cNvSpPr>
            <a:spLocks noGrp="1"/>
          </p:cNvSpPr>
          <p:nvPr/>
        </p:nvSpPr>
        <p:spPr>
          <a:xfrm>
            <a:off x="298323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DAD969D-A189-40EF-BF24-726F1477328B}"/>
              </a:ext>
            </a:extLst>
          </p:cNvPr>
          <p:cNvSpPr>
            <a:spLocks noGrp="1"/>
          </p:cNvSpPr>
          <p:nvPr/>
        </p:nvSpPr>
        <p:spPr>
          <a:xfrm>
            <a:off x="298323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流程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83F81F5-4A40-4336-B47A-DFF20176545C}"/>
              </a:ext>
            </a:extLst>
          </p:cNvPr>
          <p:cNvSpPr>
            <a:spLocks noGrp="1"/>
          </p:cNvSpPr>
          <p:nvPr/>
        </p:nvSpPr>
        <p:spPr>
          <a:xfrm>
            <a:off x="298323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開始到完成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7BC1004E-4983-412C-8394-EDFD5A4D33D0}"/>
              </a:ext>
            </a:extLst>
          </p:cNvPr>
          <p:cNvSpPr>
            <a:spLocks noGrp="1"/>
          </p:cNvSpPr>
          <p:nvPr/>
        </p:nvSpPr>
        <p:spPr>
          <a:xfrm>
            <a:off x="505206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2532F21-760D-4DC5-AC63-EFFD152A226B}"/>
              </a:ext>
            </a:extLst>
          </p:cNvPr>
          <p:cNvSpPr>
            <a:spLocks noGrp="1"/>
          </p:cNvSpPr>
          <p:nvPr/>
        </p:nvSpPr>
        <p:spPr>
          <a:xfrm>
            <a:off x="526161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CAA79A7-358B-4A3B-91F2-733C31ACB1F7}"/>
              </a:ext>
            </a:extLst>
          </p:cNvPr>
          <p:cNvSpPr>
            <a:spLocks noGrp="1"/>
          </p:cNvSpPr>
          <p:nvPr/>
        </p:nvSpPr>
        <p:spPr>
          <a:xfrm>
            <a:off x="526161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資訊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5C42176-0223-4FEA-AACA-7283F099A9C5}"/>
              </a:ext>
            </a:extLst>
          </p:cNvPr>
          <p:cNvSpPr>
            <a:spLocks noGrp="1"/>
          </p:cNvSpPr>
          <p:nvPr/>
        </p:nvSpPr>
        <p:spPr>
          <a:xfrm>
            <a:off x="526161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必要內容</a:t>
            </a:r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022C2E0C-CDFF-4FC6-8B04-546494ECBD42}"/>
              </a:ext>
            </a:extLst>
          </p:cNvPr>
          <p:cNvSpPr>
            <a:spLocks noGrp="1"/>
          </p:cNvSpPr>
          <p:nvPr/>
        </p:nvSpPr>
        <p:spPr>
          <a:xfrm>
            <a:off x="7330440" y="2047875"/>
            <a:ext cx="2087880" cy="28575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E2C8D42-9867-42D6-B9BA-856FBBBCDAA9}"/>
              </a:ext>
            </a:extLst>
          </p:cNvPr>
          <p:cNvSpPr>
            <a:spLocks noGrp="1"/>
          </p:cNvSpPr>
          <p:nvPr/>
        </p:nvSpPr>
        <p:spPr>
          <a:xfrm>
            <a:off x="753999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D1CA6777-2389-4B91-9E13-1BDEB47F4B83}"/>
              </a:ext>
            </a:extLst>
          </p:cNvPr>
          <p:cNvSpPr>
            <a:spLocks noGrp="1"/>
          </p:cNvSpPr>
          <p:nvPr/>
        </p:nvSpPr>
        <p:spPr>
          <a:xfrm>
            <a:off x="753999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介面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DF90E47-2421-41A7-93E7-15A2208A2223}"/>
              </a:ext>
            </a:extLst>
          </p:cNvPr>
          <p:cNvSpPr>
            <a:spLocks noGrp="1"/>
          </p:cNvSpPr>
          <p:nvPr/>
        </p:nvSpPr>
        <p:spPr>
          <a:xfrm>
            <a:off x="753999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頁面與元件</a:t>
            </a: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2497B5AE-81B6-414D-9CF9-D69E1EAFFDEC}"/>
              </a:ext>
            </a:extLst>
          </p:cNvPr>
          <p:cNvSpPr>
            <a:spLocks noGrp="1"/>
          </p:cNvSpPr>
          <p:nvPr/>
        </p:nvSpPr>
        <p:spPr>
          <a:xfrm>
            <a:off x="9608820" y="2047875"/>
            <a:ext cx="2087880" cy="2857500"/>
          </a:xfrm>
          <a:prstGeom prst="rect">
            <a:avLst/>
          </a:prstGeom>
          <a:solidFill>
            <a:srgbClr val="D2E3F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98AEC91-EA13-456F-A939-9768C1C250D7}"/>
              </a:ext>
            </a:extLst>
          </p:cNvPr>
          <p:cNvSpPr>
            <a:spLocks noGrp="1"/>
          </p:cNvSpPr>
          <p:nvPr/>
        </p:nvSpPr>
        <p:spPr>
          <a:xfrm>
            <a:off x="9818370" y="22669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00" lnSpcReduction="10000"/>
          </a:bodyPr>
          <a:lstStyle/>
          <a:p>
            <a:pPr algn="l">
              <a:defRPr sz="22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23AF8D17-9308-41D6-898D-B69CC012BF00}"/>
              </a:ext>
            </a:extLst>
          </p:cNvPr>
          <p:cNvSpPr>
            <a:spLocks noGrp="1"/>
          </p:cNvSpPr>
          <p:nvPr/>
        </p:nvSpPr>
        <p:spPr>
          <a:xfrm>
            <a:off x="9818370" y="2857500"/>
            <a:ext cx="166878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驗收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CBE8570-8F15-41D0-8F48-6F58A1191898}"/>
              </a:ext>
            </a:extLst>
          </p:cNvPr>
          <p:cNvSpPr>
            <a:spLocks noGrp="1"/>
          </p:cNvSpPr>
          <p:nvPr/>
        </p:nvSpPr>
        <p:spPr>
          <a:xfrm>
            <a:off x="9818370" y="3667125"/>
            <a:ext cx="16687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可觀察結果</a:t>
            </a:r>
          </a:p>
        </p:txBody>
      </p:sp>
    </p:spTree>
    <p:extLst>
      <p:ext uri="{BB962C8B-B14F-4D97-AF65-F5344CB8AC3E}">
        <p14:creationId xmlns:p14="http://schemas.microsoft.com/office/powerpoint/2010/main" val="2043500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AA38B028-B34E-4A9C-81A1-170D6188ED2F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先畫流程，再決定畫面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18ED7334-8E7E-4BC2-96CE-98ADCE70C928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7B4F9A2-4F37-4AF1-8FA0-EF31ADD4E5C0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09E813A8-D9B9-4B68-8FCE-73B4AD6A5C61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334000" cy="41910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20AE51D6-2277-4E45-B6ED-2D946DA638A2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600700" cy="41910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480B8C9-6917-40AC-AF00-23B6800F3015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使用者流程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A777601-7A53-440F-967E-D4BDD47806E9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6672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進入首頁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瀏覽或搜尋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選擇項目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填寫資料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看到結果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4430CA6-3C63-4448-BAB6-27B70EAB9FF0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畫面元件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5B768DD-D877-4BD9-B1A7-F48D07963AFE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4857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導覽與標題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卡片與篩選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表單與錯誤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成功訊息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手機版配置</a:t>
            </a:r>
          </a:p>
        </p:txBody>
      </p:sp>
    </p:spTree>
    <p:extLst>
      <p:ext uri="{BB962C8B-B14F-4D97-AF65-F5344CB8AC3E}">
        <p14:creationId xmlns:p14="http://schemas.microsoft.com/office/powerpoint/2010/main" val="96555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2BF5E7CE-7CF2-4F81-9729-92E61FB74830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可直接貼入 AI STUDIO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1C75464-DEE5-47F9-8602-BF9A0053B8B5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第一版 App 的完整需求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5B147220-B3EF-4D54-BCC5-7552973D0520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7594561-8E9F-462E-86FE-70CDB49A582F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2B4C7DD0-64EF-45B7-869E-484F32834933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810500" cy="4429125"/>
          </a:xfrm>
          <a:prstGeom prst="rect">
            <a:avLst/>
          </a:prstGeom>
          <a:solidFill>
            <a:srgbClr val="20212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24B5FE5-1970-4C11-A22A-1AED08602BB4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7315200" cy="395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請建立「台北週末活動推薦」響應式 Web App。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使用者可瀏覽四類活動、依類別篩選，並填寫不送出的模擬報名表單。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使用繁體中文、Bootstrap 5；桌機與手機都可操作。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先做最小可用版本，不加入登入、資料庫與真實付款。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完成後列出檔案、操作方式與五項測試。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98E4A344-2E8A-4095-9AB7-B686D3BE05CB}"/>
              </a:ext>
            </a:extLst>
          </p:cNvPr>
          <p:cNvSpPr>
            <a:spLocks noGrp="1"/>
          </p:cNvSpPr>
          <p:nvPr/>
        </p:nvSpPr>
        <p:spPr>
          <a:xfrm>
            <a:off x="8572500" y="1619250"/>
            <a:ext cx="3124200" cy="4429125"/>
          </a:xfrm>
          <a:prstGeom prst="rect">
            <a:avLst/>
          </a:prstGeom>
          <a:solidFill>
            <a:srgbClr val="FEF7E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4B9E37A-55FB-4BC7-94D4-882142AF5CEA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552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操作重點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B10CF18-EB76-43CB-A3F3-EB1B4FCB7781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2476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第一版要小而完整；不要一開始就塞十種功能。</a:t>
            </a:r>
          </a:p>
        </p:txBody>
      </p:sp>
    </p:spTree>
    <p:extLst>
      <p:ext uri="{BB962C8B-B14F-4D97-AF65-F5344CB8AC3E}">
        <p14:creationId xmlns:p14="http://schemas.microsoft.com/office/powerpoint/2010/main" val="395975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7E5393DE-7D50-44D3-82D7-A0DB4AF9E137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操作檢查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8B3EB2F-C07A-4849-834B-2A974FB37A89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生成後先驗收，不要立刻加功能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E65C82C3-53BF-4B52-B84D-EF4739F34FA8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B1E6941-8E26-4DB5-B1D3-61FE9FA1D3FC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C0655CB-B342-48B0-9522-264CFE9C4C0E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69808F3-D1BC-4D13-8363-D266E9FA8B7E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Preview 能正常開啟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80386CEF-EB47-4C0E-87E9-58E2B0EB91CE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A86916C-4E7D-4F04-9BAE-3DFE791125EB}"/>
              </a:ext>
            </a:extLst>
          </p:cNvPr>
          <p:cNvSpPr>
            <a:spLocks noGrp="1"/>
          </p:cNvSpPr>
          <p:nvPr/>
        </p:nvSpPr>
        <p:spPr>
          <a:xfrm>
            <a:off x="6648450" y="16764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主要流程可從頭走完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A9AD6563-75A0-4B3B-87CE-007D22DE4511}"/>
              </a:ext>
            </a:extLst>
          </p:cNvPr>
          <p:cNvSpPr>
            <a:spLocks noGrp="1"/>
          </p:cNvSpPr>
          <p:nvPr/>
        </p:nvSpPr>
        <p:spPr>
          <a:xfrm>
            <a:off x="571500" y="2590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E070A22-5953-438B-8FA5-77A6505AD27B}"/>
              </a:ext>
            </a:extLst>
          </p:cNvPr>
          <p:cNvSpPr>
            <a:spLocks noGrp="1"/>
          </p:cNvSpPr>
          <p:nvPr/>
        </p:nvSpPr>
        <p:spPr>
          <a:xfrm>
            <a:off x="1028700" y="25527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按鈕與連結都有反應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14F4B493-7F03-4D21-8F6D-CD7A3040F22E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1D185DD-1D62-4202-BF6C-AFCC7CE13BE7}"/>
              </a:ext>
            </a:extLst>
          </p:cNvPr>
          <p:cNvSpPr>
            <a:spLocks noGrp="1"/>
          </p:cNvSpPr>
          <p:nvPr/>
        </p:nvSpPr>
        <p:spPr>
          <a:xfrm>
            <a:off x="6648450" y="25527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手機寬度沒有橫向捲動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E4C70333-8ADB-4104-8586-F9A0BEDF3ADD}"/>
              </a:ext>
            </a:extLst>
          </p:cNvPr>
          <p:cNvSpPr>
            <a:spLocks noGrp="1"/>
          </p:cNvSpPr>
          <p:nvPr/>
        </p:nvSpPr>
        <p:spPr>
          <a:xfrm>
            <a:off x="571500" y="3467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39DE126-F5C7-4826-B96A-A2E2176FB27A}"/>
              </a:ext>
            </a:extLst>
          </p:cNvPr>
          <p:cNvSpPr>
            <a:spLocks noGrp="1"/>
          </p:cNvSpPr>
          <p:nvPr/>
        </p:nvSpPr>
        <p:spPr>
          <a:xfrm>
            <a:off x="1028700" y="34290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錯誤輸入有清楚提示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11C12A4D-9036-4D04-AADB-23031955720E}"/>
              </a:ext>
            </a:extLst>
          </p:cNvPr>
          <p:cNvSpPr>
            <a:spLocks noGrp="1"/>
          </p:cNvSpPr>
          <p:nvPr/>
        </p:nvSpPr>
        <p:spPr>
          <a:xfrm>
            <a:off x="6191250" y="3467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CB53FDD-2121-4A01-AC1E-B591F5424F95}"/>
              </a:ext>
            </a:extLst>
          </p:cNvPr>
          <p:cNvSpPr>
            <a:spLocks noGrp="1"/>
          </p:cNvSpPr>
          <p:nvPr/>
        </p:nvSpPr>
        <p:spPr>
          <a:xfrm>
            <a:off x="6648450" y="34290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 結構符合原本限制</a:t>
            </a:r>
          </a:p>
        </p:txBody>
      </p:sp>
    </p:spTree>
    <p:extLst>
      <p:ext uri="{BB962C8B-B14F-4D97-AF65-F5344CB8AC3E}">
        <p14:creationId xmlns:p14="http://schemas.microsoft.com/office/powerpoint/2010/main" val="1748193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74483DE7-A67B-48BE-BA7C-BCB6CF4C1574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Preview 與 Code 要來回切換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EB3BCC97-B49B-477B-A70D-0C2886F9B74F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AE3F25A-A173-4637-A2B8-AA24C31DAD33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7814F1D7-182E-46BC-BEEC-F736437FEFAA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334000" cy="4191000"/>
          </a:xfrm>
          <a:prstGeom prst="rect">
            <a:avLst/>
          </a:prstGeom>
          <a:solidFill>
            <a:srgbClr val="E6F4E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9110D342-20F4-44E3-9A1D-0CE42172EFE0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600700" cy="41910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65DA03E-D430-4C95-A989-8FBFDF1DE876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Preview 看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A7CB642-1004-41FD-9B9B-DDE187F2F02C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6672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畫面層級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互動結果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RWD 表現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錯誤情境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65B0C39-2A85-4E49-BC65-A2752B8539D8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 看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6631CFA-8F14-49BA-81CB-A2BCEC1CF530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4857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檔案結構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使用的框架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敏感資料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修改範圍</a:t>
            </a:r>
          </a:p>
        </p:txBody>
      </p:sp>
    </p:spTree>
    <p:extLst>
      <p:ext uri="{BB962C8B-B14F-4D97-AF65-F5344CB8AC3E}">
        <p14:creationId xmlns:p14="http://schemas.microsoft.com/office/powerpoint/2010/main" val="989607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6661A0B9-C85F-40A1-B003-C1456C7064EA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可直接貼入 AI STUDIO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FDAA108-28E0-4615-ABCE-3233773BA3A7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用小步驟修改現有作品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0444B15B-9693-4BE2-9276-C07FA3AE0363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72572E1-D8C3-412D-ABE4-60B25FCEFB9A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070C5152-19AB-4110-B895-5794847FABD8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810500" cy="4429125"/>
          </a:xfrm>
          <a:prstGeom prst="rect">
            <a:avLst/>
          </a:prstGeom>
          <a:solidFill>
            <a:srgbClr val="20212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462F383-7607-4528-AC04-A4119AE18152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7315200" cy="395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請只改善目前網站的手機版，不新增功能。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檢查 375px 寬度下的導覽、活動卡片、篩選按鈕與表單。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避免橫向捲動，主要按鈕高度至少 44px。</a:t>
            </a:r>
          </a:p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修改後列出變更檔案與人工測試步驟。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2EAA4D7-031E-4C61-B8F8-907441CCFD4B}"/>
              </a:ext>
            </a:extLst>
          </p:cNvPr>
          <p:cNvSpPr>
            <a:spLocks noGrp="1"/>
          </p:cNvSpPr>
          <p:nvPr/>
        </p:nvSpPr>
        <p:spPr>
          <a:xfrm>
            <a:off x="8572500" y="1619250"/>
            <a:ext cx="3124200" cy="4429125"/>
          </a:xfrm>
          <a:prstGeom prst="rect">
            <a:avLst/>
          </a:prstGeom>
          <a:solidFill>
            <a:srgbClr val="FEF7E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E82188C-B8A9-44DE-81CE-3192E02AD4D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552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9AB00"/>
                </a:solidFill>
                <a:latin typeface="Arial"/>
                <a:ea typeface="Arial"/>
                <a:cs typeface="Arial"/>
              </a:rPr>
              <a:t>操作重點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54B47A6-C43F-4A67-BC0A-D43F2C5C133C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2476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一次只改一個目標，比「全部變漂亮」更容易控制。</a:t>
            </a:r>
          </a:p>
        </p:txBody>
      </p:sp>
    </p:spTree>
    <p:extLst>
      <p:ext uri="{BB962C8B-B14F-4D97-AF65-F5344CB8AC3E}">
        <p14:creationId xmlns:p14="http://schemas.microsoft.com/office/powerpoint/2010/main" val="1044894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D3718683-CE21-48A5-9C2F-E0D817F89246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C4CDB8C-B3A6-49DF-BA23-D88CD27CCE9B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小步修改時，可用 Checkpoint 保留退路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61CD0E5E-F7AB-4356-83F9-DD86191A74C2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A04D97E-9171-42E6-B81D-8314424F0D8B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5C70D09D-0841-4AEE-9A9A-3985AA012266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24C6AA6-42A9-4B14-9478-8FFC63E8937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每次只提出一個修改目標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View diff 檢查實際差異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結果不好時可 Restore checkpoint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283B813F-69BB-48B8-80EF-C8DAB1874A09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2053825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8AEAD319-9FAD-4AC3-BAAA-AF8BDD72C088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DFA4326-5B88-45C8-BCD3-32B99F7290A1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修改後回到 Preview 實際操作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1E9261CA-EFF0-4C96-844B-521483801C57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E4D44D1-D178-445E-BAFC-27BFCA6A4C65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9C11C704-E783-47C5-A703-FDC6815B9AF1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3FF3ED3-44A5-4EE5-92D1-C705439F2578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不要只看生成完成的訊息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依使用者流程逐一點擊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發現問題後再回左側描述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37E2844E-DE0C-45EC-B656-872043BB1D38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2093792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ADFE3030-94BD-49EA-AC31-B0C91C80EEAD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實際畫面對照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1F59CAE-A8E1-41E3-B61D-7EDEE3ABE25C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Code、Preview 與對話必須來回切換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1A97CFF3-9AF0-444C-8B32-AA1B16A144E7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7AA0D62-188B-4BEE-833D-A1C3FB2F9972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189CB557-B4C1-4EB4-889B-F137D0F0FFDA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143250" cy="4333875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D3F9309-9757-4713-9FA5-89FCAF124918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479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需求從左側送出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變更在中央 Code 發生</a:t>
            </a:r>
          </a:p>
          <a:p>
            <a:endParaRPr sz="157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成果在右側 Preview 驗證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9501" b="9501"/>
          <a:stretch>
            <a:fillRect/>
          </a:stretch>
        </p:blipFill>
        <p:spPr>
          <a:xfrm>
            <a:off x="3905250" y="1619250"/>
            <a:ext cx="77914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B98CFAC9-753A-4AA7-81C7-435D3B3D2BA7}"/>
              </a:ext>
            </a:extLst>
          </p:cNvPr>
          <p:cNvSpPr>
            <a:spLocks noGrp="1"/>
          </p:cNvSpPr>
          <p:nvPr/>
        </p:nvSpPr>
        <p:spPr>
          <a:xfrm>
            <a:off x="4000500" y="60483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介面可能隨帳號與版本更新；請以現場畫面為準</a:t>
            </a:r>
          </a:p>
        </p:txBody>
      </p:sp>
    </p:spTree>
    <p:extLst>
      <p:ext uri="{BB962C8B-B14F-4D97-AF65-F5344CB8AC3E}">
        <p14:creationId xmlns:p14="http://schemas.microsoft.com/office/powerpoint/2010/main" val="2125149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F99E2B75-1DBE-4E87-BE42-FF9715A59374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分享與部署前先理解責任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B87C252E-6D67-4FEF-8EBC-D6AF3A37C784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EC4A021-6D47-40E2-AA40-0E20F5BE02F1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75974FCC-7DF8-46DD-9AE1-6E8E16512CDB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334000" cy="4191000"/>
          </a:xfrm>
          <a:prstGeom prst="rect">
            <a:avLst/>
          </a:prstGeom>
          <a:solidFill>
            <a:srgbClr val="FEF7E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71685B1E-F0CE-4C38-B5C1-3F227CF9690E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600700" cy="4191000"/>
          </a:xfrm>
          <a:prstGeom prst="rect">
            <a:avLst/>
          </a:prstGeom>
          <a:solidFill>
            <a:srgbClr val="F1F3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45ACCD5-612A-45A0-80F0-DBF4C643BD40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F38AAE7-2F40-4B13-BCF0-F64A338232FB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6672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預設專案為私有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使用者可能看到並複製程式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呼叫會計入使用量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付費模型可能產生成本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2581BDF-093C-4991-BF39-B769E83898D8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100B7D5-8ADB-47CA-A47E-0942113D47D8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4857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可部署至 Cloud Run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確認環境與計費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測試公開網址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持續監控與維護</a:t>
            </a:r>
          </a:p>
        </p:txBody>
      </p:sp>
    </p:spTree>
    <p:extLst>
      <p:ext uri="{BB962C8B-B14F-4D97-AF65-F5344CB8AC3E}">
        <p14:creationId xmlns:p14="http://schemas.microsoft.com/office/powerpoint/2010/main" val="1807590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D6573F3A-E296-45FA-B017-1A3673D20029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API Key 必須留在伺服器端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E9C49CA6-3C35-4DEA-B1D7-6FC001084CEB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0B68363-2984-44F5-B93F-B8F9CFFD726A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379A1B5-EFE6-4653-995D-3CAE286E3CA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06680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密碼、個資與公司機密也不要直接放進 Prompt 或前端程式。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3A793298-D1B8-45DC-9C73-4B879B29E5F7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4095750" cy="114300"/>
          </a:xfrm>
          <a:prstGeom prst="rect">
            <a:avLst/>
          </a:prstGeom>
          <a:solidFill>
            <a:srgbClr val="C522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207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34D50855-593C-47E3-908F-72AC7A2A37F9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操作檢查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8300DA6-F1B0-4EC0-8283-231C9C0CCB1F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交付前最後檢查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3C5B78F2-4809-4FAD-B2D2-F4C1A037A07D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11201400" cy="19050"/>
          </a:xfrm>
          <a:prstGeom prst="rect">
            <a:avLst/>
          </a:prstGeom>
          <a:solidFill>
            <a:srgbClr val="BCC1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6B6020C-DFBC-4C90-9D06-E7B2E2C16CE7}"/>
              </a:ext>
            </a:extLst>
          </p:cNvPr>
          <p:cNvSpPr>
            <a:spLocks noGrp="1"/>
          </p:cNvSpPr>
          <p:nvPr/>
        </p:nvSpPr>
        <p:spPr>
          <a:xfrm>
            <a:off x="11191875" y="64103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833" lnSpcReduction="10000"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9E66C23D-C051-4177-9295-3488FE5929BF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80BE2BD-4E2F-454D-BE09-3DD4B90AB3D7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專案名稱與版本清楚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0BB55DAF-4913-4433-83A4-AC83EE8906B5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C864C60-0CE0-4AE7-9B05-8DC83B49EED2}"/>
              </a:ext>
            </a:extLst>
          </p:cNvPr>
          <p:cNvSpPr>
            <a:spLocks noGrp="1"/>
          </p:cNvSpPr>
          <p:nvPr/>
        </p:nvSpPr>
        <p:spPr>
          <a:xfrm>
            <a:off x="6648450" y="16764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主要流程已人工操作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F9619B35-3C89-4B3F-A570-75E31EA41A7C}"/>
              </a:ext>
            </a:extLst>
          </p:cNvPr>
          <p:cNvSpPr>
            <a:spLocks noGrp="1"/>
          </p:cNvSpPr>
          <p:nvPr/>
        </p:nvSpPr>
        <p:spPr>
          <a:xfrm>
            <a:off x="571500" y="2590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6B93206-6803-4944-98F2-D795DE58F055}"/>
              </a:ext>
            </a:extLst>
          </p:cNvPr>
          <p:cNvSpPr>
            <a:spLocks noGrp="1"/>
          </p:cNvSpPr>
          <p:nvPr/>
        </p:nvSpPr>
        <p:spPr>
          <a:xfrm>
            <a:off x="1028700" y="25527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手機與桌機都已測試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BF9BAC19-1454-45E3-BE7E-BDCC90D347BC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9A45AE7-8075-4C29-82EA-2A5D64E5E303}"/>
              </a:ext>
            </a:extLst>
          </p:cNvPr>
          <p:cNvSpPr>
            <a:spLocks noGrp="1"/>
          </p:cNvSpPr>
          <p:nvPr/>
        </p:nvSpPr>
        <p:spPr>
          <a:xfrm>
            <a:off x="6648450" y="25527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無 API Key、密碼與個資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9D5A2593-AD50-4101-925D-37630E0AF213}"/>
              </a:ext>
            </a:extLst>
          </p:cNvPr>
          <p:cNvSpPr>
            <a:spLocks noGrp="1"/>
          </p:cNvSpPr>
          <p:nvPr/>
        </p:nvSpPr>
        <p:spPr>
          <a:xfrm>
            <a:off x="571500" y="3467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A5791E9-3E89-4123-AA53-CC2A7769308E}"/>
              </a:ext>
            </a:extLst>
          </p:cNvPr>
          <p:cNvSpPr>
            <a:spLocks noGrp="1"/>
          </p:cNvSpPr>
          <p:nvPr/>
        </p:nvSpPr>
        <p:spPr>
          <a:xfrm>
            <a:off x="1028700" y="34290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已保存 ZIP 或 GitHub 版本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50C56872-5C7F-42F6-93F4-322302DCBA5D}"/>
              </a:ext>
            </a:extLst>
          </p:cNvPr>
          <p:cNvSpPr>
            <a:spLocks noGrp="1"/>
          </p:cNvSpPr>
          <p:nvPr/>
        </p:nvSpPr>
        <p:spPr>
          <a:xfrm>
            <a:off x="6191250" y="3467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8D34023-816C-4623-B7DF-8600AE26EEE5}"/>
              </a:ext>
            </a:extLst>
          </p:cNvPr>
          <p:cNvSpPr>
            <a:spLocks noGrp="1"/>
          </p:cNvSpPr>
          <p:nvPr/>
        </p:nvSpPr>
        <p:spPr>
          <a:xfrm>
            <a:off x="6648450" y="34290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能說明限制與後續工作</a:t>
            </a:r>
          </a:p>
        </p:txBody>
      </p:sp>
    </p:spTree>
    <p:extLst>
      <p:ext uri="{BB962C8B-B14F-4D97-AF65-F5344CB8AC3E}">
        <p14:creationId xmlns:p14="http://schemas.microsoft.com/office/powerpoint/2010/main" val="243815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568705B9-AFF2-4C08-9EAA-0245F3467B3D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完成 AI Studio 的正確順序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4538F81-69A4-42AD-8998-EDE8CA14E3CC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90487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選對模式，說清需求，</a:t>
            </a:r>
          </a:p>
          <a:p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小步修改，逐項驗收。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A6A1562-5B47-46DA-9E26-21F291E65A20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01  知道自己在哪個工作區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1896EE7-7C97-423B-B174-84F8B2B20966}"/>
              </a:ext>
            </a:extLst>
          </p:cNvPr>
          <p:cNvSpPr>
            <a:spLocks noGrp="1"/>
          </p:cNvSpPr>
          <p:nvPr/>
        </p:nvSpPr>
        <p:spPr>
          <a:xfrm>
            <a:off x="571500" y="40767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02  先規格再生成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103F931-63BE-4502-95ED-ECC2F024763B}"/>
              </a:ext>
            </a:extLst>
          </p:cNvPr>
          <p:cNvSpPr>
            <a:spLocks noGrp="1"/>
          </p:cNvSpPr>
          <p:nvPr/>
        </p:nvSpPr>
        <p:spPr>
          <a:xfrm>
            <a:off x="571500" y="46291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03  預覽與程式都要看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7430CBE-49BA-40E2-B75C-16216461AE29}"/>
              </a:ext>
            </a:extLst>
          </p:cNvPr>
          <p:cNvSpPr>
            <a:spLocks noGrp="1"/>
          </p:cNvSpPr>
          <p:nvPr/>
        </p:nvSpPr>
        <p:spPr>
          <a:xfrm>
            <a:off x="571500" y="51816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04  保存版本、保護資料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21785687-A144-49F1-A917-0F274B8A32D7}"/>
              </a:ext>
            </a:extLst>
          </p:cNvPr>
          <p:cNvSpPr>
            <a:spLocks noGrp="1"/>
          </p:cNvSpPr>
          <p:nvPr/>
        </p:nvSpPr>
        <p:spPr>
          <a:xfrm>
            <a:off x="9915181" y="904875"/>
            <a:ext cx="1610069" cy="4762500"/>
          </a:xfrm>
          <a:prstGeom prst="rect">
            <a:avLst/>
          </a:prstGeom>
          <a:solidFill>
            <a:srgbClr val="1A73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E90E307-9941-4995-905F-870F76A6F538}"/>
              </a:ext>
            </a:extLst>
          </p:cNvPr>
          <p:cNvSpPr>
            <a:spLocks noGrp="1"/>
          </p:cNvSpPr>
          <p:nvPr/>
        </p:nvSpPr>
        <p:spPr>
          <a:xfrm>
            <a:off x="10135518" y="2428875"/>
            <a:ext cx="1294482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  <a:p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</a:t>
            </a:r>
          </a:p>
        </p:txBody>
      </p:sp>
    </p:spTree>
    <p:extLst>
      <p:ext uri="{BB962C8B-B14F-4D97-AF65-F5344CB8AC3E}">
        <p14:creationId xmlns:p14="http://schemas.microsoft.com/office/powerpoint/2010/main" val="8800326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2459</Words>
  <Application>Microsoft Macintosh PowerPoint</Application>
  <DocSecurity>0</DocSecurity>
  <PresentationFormat>Widescreen</PresentationFormat>
  <Paragraphs>570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Leon Chang</cp:lastModifiedBy>
  <cp:revision>6</cp:revision>
  <dcterms:created xsi:type="dcterms:W3CDTF">2026-08-21T17:20:29Z</dcterms:created>
  <dcterms:modified xsi:type="dcterms:W3CDTF">2026-08-22T06:30:16Z</dcterms:modified>
</cp:coreProperties>
</file>