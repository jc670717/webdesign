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9"/>
  </p:normalViewPr>
  <p:slideViewPr>
    <p:cSldViewPr snapToGrid="0" snapToObjects="1">
      <p:cViewPr varScale="1">
        <p:scale>
          <a:sx n="142" d="100"/>
          <a:sy n="142" d="100"/>
        </p:scale>
        <p:origin x="1128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vite.new/preact" TargetMode="External"/><Relationship Id="rId13" Type="http://schemas.openxmlformats.org/officeDocument/2006/relationships/hyperlink" Target="https://vite.new/svelte-ts" TargetMode="External"/><Relationship Id="rId18" Type="http://schemas.openxmlformats.org/officeDocument/2006/relationships/image" Target="../media/image2.png"/><Relationship Id="rId3" Type="http://schemas.openxmlformats.org/officeDocument/2006/relationships/hyperlink" Target="https://vite.new/vanilla-ts" TargetMode="External"/><Relationship Id="rId7" Type="http://schemas.openxmlformats.org/officeDocument/2006/relationships/hyperlink" Target="https://vite.new/react-ts" TargetMode="External"/><Relationship Id="rId12" Type="http://schemas.openxmlformats.org/officeDocument/2006/relationships/hyperlink" Target="https://vite.new/svelte" TargetMode="External"/><Relationship Id="rId17" Type="http://schemas.openxmlformats.org/officeDocument/2006/relationships/hyperlink" Target="https://vite.new/qwik-ts" TargetMode="External"/><Relationship Id="rId2" Type="http://schemas.openxmlformats.org/officeDocument/2006/relationships/hyperlink" Target="https://vite.new/vanilla" TargetMode="External"/><Relationship Id="rId16" Type="http://schemas.openxmlformats.org/officeDocument/2006/relationships/hyperlink" Target="https://vite.new/qwik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vite.new/react" TargetMode="External"/><Relationship Id="rId11" Type="http://schemas.openxmlformats.org/officeDocument/2006/relationships/hyperlink" Target="https://vite.new/lit-ts" TargetMode="External"/><Relationship Id="rId5" Type="http://schemas.openxmlformats.org/officeDocument/2006/relationships/hyperlink" Target="https://vite.new/vue-ts" TargetMode="External"/><Relationship Id="rId15" Type="http://schemas.openxmlformats.org/officeDocument/2006/relationships/hyperlink" Target="https://vite.new/solid-ts" TargetMode="External"/><Relationship Id="rId10" Type="http://schemas.openxmlformats.org/officeDocument/2006/relationships/hyperlink" Target="https://vite.new/lit" TargetMode="External"/><Relationship Id="rId4" Type="http://schemas.openxmlformats.org/officeDocument/2006/relationships/hyperlink" Target="https://vite.new/vue" TargetMode="External"/><Relationship Id="rId9" Type="http://schemas.openxmlformats.org/officeDocument/2006/relationships/hyperlink" Target="https://vite.new/preact-ts" TargetMode="External"/><Relationship Id="rId14" Type="http://schemas.openxmlformats.org/officeDocument/2006/relationships/hyperlink" Target="https://vite.new/solid" TargetMode="Externa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58990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200" b="1" dirty="0">
                <a:solidFill>
                  <a:srgbClr val="2563EB"/>
                </a:solidFill>
                <a:latin typeface="Noto Sans"/>
              </a:rPr>
              <a:t>【</a:t>
            </a:r>
            <a:r>
              <a:rPr sz="2200" b="1" dirty="0" err="1">
                <a:solidFill>
                  <a:srgbClr val="2563EB"/>
                </a:solidFill>
                <a:latin typeface="Noto Sans"/>
              </a:rPr>
              <a:t>一、課程目標</a:t>
            </a:r>
            <a:r>
              <a:rPr sz="2200" b="1" dirty="0">
                <a:solidFill>
                  <a:srgbClr val="2563EB"/>
                </a:solidFill>
                <a:latin typeface="Noto Sans"/>
              </a:rPr>
              <a:t>】 </a:t>
            </a:r>
            <a:r>
              <a:rPr sz="2200" b="1" dirty="0">
                <a:solidFill>
                  <a:srgbClr val="0F172A"/>
                </a:solidFill>
                <a:latin typeface="Noto Sans"/>
              </a:rPr>
              <a:t>AI </a:t>
            </a:r>
            <a:r>
              <a:rPr sz="2200" b="1" dirty="0" err="1">
                <a:solidFill>
                  <a:srgbClr val="0F172A"/>
                </a:solidFill>
                <a:latin typeface="Noto Sans"/>
              </a:rPr>
              <a:t>輔助前端開發核心技能樹與</a:t>
            </a:r>
            <a:r>
              <a:rPr sz="2200" b="1" dirty="0">
                <a:solidFill>
                  <a:srgbClr val="0F172A"/>
                </a:solidFill>
                <a:latin typeface="Noto Sans"/>
              </a:rPr>
              <a:t> </a:t>
            </a:r>
            <a:r>
              <a:rPr lang="en-US" altLang="zh-TW" sz="2200" b="1" dirty="0">
                <a:solidFill>
                  <a:srgbClr val="0F172A"/>
                </a:solidFill>
                <a:latin typeface="Noto Sans"/>
              </a:rPr>
              <a:t>9</a:t>
            </a:r>
            <a:r>
              <a:rPr lang="zh-TW" altLang="en-US" sz="2200" b="1" dirty="0">
                <a:solidFill>
                  <a:srgbClr val="0F172A"/>
                </a:solidFill>
                <a:latin typeface="Noto Sans"/>
              </a:rPr>
              <a:t> 大學習指標</a:t>
            </a:r>
            <a:endParaRPr sz="2200" b="1" dirty="0">
              <a:solidFill>
                <a:srgbClr val="0F172A"/>
              </a:solidFill>
              <a:latin typeface="Noto Sans"/>
            </a:endParaRPr>
          </a:p>
          <a:p>
            <a:pPr>
              <a:spcBef>
                <a:spcPts val="400"/>
              </a:spcBef>
            </a:pPr>
            <a:r>
              <a:rPr sz="1300" dirty="0">
                <a:solidFill>
                  <a:srgbClr val="475569"/>
                </a:solidFill>
                <a:latin typeface="Noto Sans"/>
              </a:rPr>
              <a:t>授課時間：2026/08/2</a:t>
            </a:r>
            <a:r>
              <a:rPr lang="en-US" sz="1300" dirty="0">
                <a:solidFill>
                  <a:srgbClr val="475569"/>
                </a:solidFill>
                <a:latin typeface="Noto Sans"/>
              </a:rPr>
              <a:t>9</a:t>
            </a:r>
            <a:r>
              <a:rPr sz="1300" dirty="0">
                <a:solidFill>
                  <a:srgbClr val="475569"/>
                </a:solidFill>
                <a:latin typeface="Noto Sans"/>
              </a:rPr>
              <a:t> 13:00–16:00 ｜ 授課時數：3 </a:t>
            </a:r>
            <a:r>
              <a:rPr sz="1300" dirty="0" err="1">
                <a:solidFill>
                  <a:srgbClr val="475569"/>
                </a:solidFill>
                <a:latin typeface="Noto Sans"/>
              </a:rPr>
              <a:t>小時</a:t>
            </a:r>
            <a:r>
              <a:rPr sz="1300" dirty="0">
                <a:solidFill>
                  <a:srgbClr val="475569"/>
                </a:solidFill>
                <a:latin typeface="Noto Sans"/>
              </a:rPr>
              <a:t> ｜ </a:t>
            </a:r>
            <a:r>
              <a:rPr sz="1300" dirty="0" err="1">
                <a:solidFill>
                  <a:srgbClr val="475569"/>
                </a:solidFill>
                <a:latin typeface="Noto Sans"/>
              </a:rPr>
              <a:t>銜接</a:t>
            </a:r>
            <a:r>
              <a:rPr sz="1300" dirty="0">
                <a:solidFill>
                  <a:srgbClr val="475569"/>
                </a:solidFill>
                <a:latin typeface="Noto Sans"/>
              </a:rPr>
              <a:t> UI </a:t>
            </a:r>
            <a:r>
              <a:rPr sz="1300" dirty="0" err="1">
                <a:solidFill>
                  <a:srgbClr val="475569"/>
                </a:solidFill>
                <a:latin typeface="Noto Sans"/>
              </a:rPr>
              <a:t>設計落地為可執行網站</a:t>
            </a:r>
            <a:endParaRPr sz="1300" dirty="0">
              <a:solidFill>
                <a:srgbClr val="475569"/>
              </a:solidFill>
              <a:latin typeface="Noto San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475569"/>
                </a:solidFill>
                <a:latin typeface="Noto Sans"/>
              </a:rPr>
              <a:t>AI 輔助前端開發及響應式設計 ｜ Part 1 觀念、架構與開發起步</a:t>
            </a:r>
            <a:r>
              <a:rPr sz="1000" b="1">
                <a:solidFill>
                  <a:srgbClr val="2563EB"/>
                </a:solidFill>
                <a:latin typeface="Noto Sans"/>
              </a:rPr>
              <a:t> ｜ 頁碼：1 / 19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74720" cy="4480560"/>
          </a:xfrm>
          <a:prstGeom prst="roundRect">
            <a:avLst/>
          </a:prstGeom>
          <a:solidFill>
            <a:srgbClr val="EDF2F7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defRPr sz="1600" b="1">
                <a:solidFill>
                  <a:srgbClr val="0F172A"/>
                </a:solidFill>
                <a:latin typeface="Noto Sans"/>
              </a:defRPr>
            </a:pPr>
            <a:r>
              <a:rPr dirty="0"/>
              <a:t>🎯 </a:t>
            </a:r>
            <a:r>
              <a:rPr dirty="0" err="1"/>
              <a:t>課程核心定位</a:t>
            </a:r>
            <a:endParaRPr dirty="0"/>
          </a:p>
          <a:p>
            <a:pPr>
              <a:spcBef>
                <a:spcPts val="1000"/>
              </a:spcBef>
              <a:defRPr sz="1300">
                <a:solidFill>
                  <a:srgbClr val="475569"/>
                </a:solidFill>
              </a:defRPr>
            </a:pPr>
            <a:r>
              <a:rPr sz="1600" dirty="0"/>
              <a:t>• 從 UI </a:t>
            </a:r>
            <a:r>
              <a:rPr sz="1600" dirty="0" err="1"/>
              <a:t>設計到前端落地：延續上午</a:t>
            </a:r>
            <a:r>
              <a:rPr sz="1600" dirty="0"/>
              <a:t> </a:t>
            </a:r>
            <a:r>
              <a:rPr sz="1600" dirty="0" err="1"/>
              <a:t>設計，轉為可上線網站</a:t>
            </a:r>
            <a:r>
              <a:rPr sz="1600" dirty="0"/>
              <a:t>。</a:t>
            </a:r>
            <a:br>
              <a:rPr sz="1600" dirty="0"/>
            </a:br>
            <a:r>
              <a:rPr sz="1600" dirty="0"/>
              <a:t>• </a:t>
            </a:r>
            <a:r>
              <a:rPr sz="1600" dirty="0" err="1"/>
              <a:t>角色蛻變：從單純手寫</a:t>
            </a:r>
            <a:r>
              <a:rPr sz="1600" dirty="0"/>
              <a:t> Code </a:t>
            </a:r>
            <a:r>
              <a:rPr sz="1600" dirty="0" err="1"/>
              <a:t>轉型為「架構設計師與</a:t>
            </a:r>
            <a:r>
              <a:rPr sz="1600" dirty="0"/>
              <a:t> AI </a:t>
            </a:r>
            <a:r>
              <a:rPr sz="1600" dirty="0" err="1"/>
              <a:t>審查者</a:t>
            </a:r>
            <a:r>
              <a:rPr sz="1600" dirty="0"/>
              <a:t>」。</a:t>
            </a:r>
            <a:br>
              <a:rPr sz="1600" dirty="0"/>
            </a:br>
            <a:r>
              <a:rPr sz="1600" dirty="0"/>
              <a:t>• </a:t>
            </a:r>
            <a:r>
              <a:rPr sz="1600" dirty="0" err="1"/>
              <a:t>完整交付：從</a:t>
            </a:r>
            <a:r>
              <a:rPr sz="1600" dirty="0"/>
              <a:t> Vite </a:t>
            </a:r>
            <a:r>
              <a:rPr sz="1600" dirty="0" err="1"/>
              <a:t>本機建立、AI</a:t>
            </a:r>
            <a:r>
              <a:rPr sz="1600" dirty="0"/>
              <a:t> </a:t>
            </a:r>
            <a:r>
              <a:rPr sz="1600" dirty="0" err="1"/>
              <a:t>協作、RWD</a:t>
            </a:r>
            <a:r>
              <a:rPr sz="1600" dirty="0"/>
              <a:t> 到 </a:t>
            </a:r>
            <a:r>
              <a:rPr sz="1600" dirty="0" err="1"/>
              <a:t>Vercel</a:t>
            </a:r>
            <a:r>
              <a:rPr sz="1600" dirty="0"/>
              <a:t> </a:t>
            </a:r>
            <a:r>
              <a:rPr sz="1600" dirty="0" err="1"/>
              <a:t>雲端發布</a:t>
            </a:r>
            <a:r>
              <a:rPr sz="1600" dirty="0"/>
              <a:t>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7071055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defRPr sz="1600" b="1">
                <a:solidFill>
                  <a:srgbClr val="2563EB"/>
                </a:solidFill>
                <a:latin typeface="Noto Sans"/>
              </a:defRPr>
            </a:pPr>
            <a:r>
              <a:rPr dirty="0"/>
              <a:t>📋 </a:t>
            </a:r>
            <a:r>
              <a:rPr dirty="0" err="1"/>
              <a:t>完成本課程後，學員應具備之</a:t>
            </a:r>
            <a:r>
              <a:rPr dirty="0"/>
              <a:t> 9 </a:t>
            </a:r>
            <a:r>
              <a:rPr dirty="0" err="1"/>
              <a:t>大核心能力</a:t>
            </a:r>
            <a:endParaRPr dirty="0"/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rPr sz="1600" dirty="0"/>
              <a:t>1. </a:t>
            </a:r>
            <a:r>
              <a:rPr sz="1600" dirty="0" err="1"/>
              <a:t>理解</a:t>
            </a:r>
            <a:r>
              <a:rPr sz="1600" dirty="0"/>
              <a:t> </a:t>
            </a:r>
            <a:r>
              <a:rPr sz="1600" dirty="0" err="1"/>
              <a:t>HTML、CSS、JavaScript</a:t>
            </a:r>
            <a:r>
              <a:rPr sz="1600" dirty="0"/>
              <a:t> </a:t>
            </a:r>
            <a:r>
              <a:rPr sz="1600" dirty="0" err="1"/>
              <a:t>與</a:t>
            </a:r>
            <a:r>
              <a:rPr sz="1600" dirty="0"/>
              <a:t> React </a:t>
            </a:r>
            <a:r>
              <a:rPr sz="1600" dirty="0" err="1"/>
              <a:t>的基本角色分工</a:t>
            </a:r>
            <a:endParaRPr sz="1600" dirty="0"/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rPr sz="1600" dirty="0"/>
              <a:t>2. </a:t>
            </a:r>
            <a:r>
              <a:rPr sz="1600" dirty="0" err="1"/>
              <a:t>使用</a:t>
            </a:r>
            <a:r>
              <a:rPr sz="1600" dirty="0"/>
              <a:t> Vite </a:t>
            </a:r>
            <a:r>
              <a:rPr sz="1600" dirty="0" err="1"/>
              <a:t>快速建立現代化</a:t>
            </a:r>
            <a:r>
              <a:rPr sz="1600" dirty="0"/>
              <a:t> React </a:t>
            </a:r>
            <a:r>
              <a:rPr sz="1600" dirty="0" err="1"/>
              <a:t>開發環境</a:t>
            </a:r>
            <a:endParaRPr sz="1600" dirty="0"/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rPr sz="1600" dirty="0"/>
              <a:t>3. </a:t>
            </a:r>
            <a:r>
              <a:rPr sz="1600" dirty="0" err="1"/>
              <a:t>掌握資深前端</a:t>
            </a:r>
            <a:r>
              <a:rPr sz="1600" dirty="0"/>
              <a:t> Prompt </a:t>
            </a:r>
            <a:r>
              <a:rPr sz="1600" dirty="0" err="1"/>
              <a:t>結構，精準引導</a:t>
            </a:r>
            <a:r>
              <a:rPr sz="1600" dirty="0"/>
              <a:t> AI </a:t>
            </a:r>
            <a:r>
              <a:rPr sz="1600" dirty="0" err="1"/>
              <a:t>產生高品質代碼</a:t>
            </a:r>
            <a:endParaRPr sz="1600" dirty="0"/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rPr sz="1600" dirty="0"/>
              <a:t>4. </a:t>
            </a:r>
            <a:r>
              <a:rPr sz="1600" dirty="0" err="1"/>
              <a:t>將複雜網頁頁面拆解為模組化</a:t>
            </a:r>
            <a:r>
              <a:rPr sz="1600" dirty="0"/>
              <a:t> Reusable Components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rPr sz="1600" dirty="0"/>
              <a:t>5. </a:t>
            </a:r>
            <a:r>
              <a:rPr sz="1600" dirty="0" err="1"/>
              <a:t>靈活運用</a:t>
            </a:r>
            <a:r>
              <a:rPr sz="1600" dirty="0"/>
              <a:t> Flexbox </a:t>
            </a:r>
            <a:r>
              <a:rPr sz="1600" dirty="0" err="1"/>
              <a:t>與</a:t>
            </a:r>
            <a:r>
              <a:rPr sz="1600" dirty="0"/>
              <a:t> CSS Grid </a:t>
            </a:r>
            <a:r>
              <a:rPr sz="1600" dirty="0" err="1"/>
              <a:t>建立現代版面佈局</a:t>
            </a:r>
            <a:endParaRPr sz="1600" dirty="0"/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rPr sz="1600" dirty="0"/>
              <a:t>6. </a:t>
            </a:r>
            <a:r>
              <a:rPr sz="1600" dirty="0" err="1"/>
              <a:t>實作</a:t>
            </a:r>
            <a:r>
              <a:rPr sz="1600" dirty="0"/>
              <a:t> Responsive Web Design (RWD) </a:t>
            </a:r>
            <a:r>
              <a:rPr sz="1600" dirty="0" err="1"/>
              <a:t>適應桌機、平板與手機</a:t>
            </a:r>
            <a:endParaRPr sz="1600" dirty="0"/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rPr sz="1600" dirty="0"/>
              <a:t>7. </a:t>
            </a:r>
            <a:r>
              <a:rPr sz="1600" dirty="0" err="1"/>
              <a:t>具備結構化</a:t>
            </a:r>
            <a:r>
              <a:rPr sz="1600" dirty="0"/>
              <a:t> AI </a:t>
            </a:r>
            <a:r>
              <a:rPr sz="1600" dirty="0" err="1"/>
              <a:t>除錯思維，提供精準</a:t>
            </a:r>
            <a:r>
              <a:rPr sz="1600" dirty="0"/>
              <a:t> Log </a:t>
            </a:r>
            <a:r>
              <a:rPr sz="1600" dirty="0" err="1"/>
              <a:t>與最小修改</a:t>
            </a:r>
            <a:endParaRPr sz="1600" dirty="0"/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rPr sz="1600" dirty="0"/>
              <a:t>8. </a:t>
            </a:r>
            <a:r>
              <a:rPr sz="1600" dirty="0" err="1"/>
              <a:t>透過</a:t>
            </a:r>
            <a:r>
              <a:rPr sz="1600" dirty="0"/>
              <a:t> Git </a:t>
            </a:r>
            <a:r>
              <a:rPr sz="1600" dirty="0" err="1"/>
              <a:t>與</a:t>
            </a:r>
            <a:r>
              <a:rPr sz="1600" dirty="0"/>
              <a:t> GitHub </a:t>
            </a:r>
            <a:r>
              <a:rPr sz="1600" dirty="0" err="1"/>
              <a:t>進行代碼版本控制與雲端託管</a:t>
            </a:r>
            <a:endParaRPr sz="1600" dirty="0"/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rPr sz="1600" dirty="0"/>
              <a:t>9. </a:t>
            </a:r>
            <a:r>
              <a:rPr sz="1600" dirty="0" err="1"/>
              <a:t>使用</a:t>
            </a:r>
            <a:r>
              <a:rPr sz="1600" dirty="0"/>
              <a:t> </a:t>
            </a:r>
            <a:r>
              <a:rPr sz="1600" dirty="0" err="1"/>
              <a:t>Vercel</a:t>
            </a:r>
            <a:r>
              <a:rPr sz="1600" dirty="0"/>
              <a:t> </a:t>
            </a:r>
            <a:r>
              <a:rPr sz="1600" dirty="0" err="1"/>
              <a:t>完成自動化</a:t>
            </a:r>
            <a:r>
              <a:rPr sz="1600" dirty="0"/>
              <a:t> CI/CD </a:t>
            </a:r>
            <a:r>
              <a:rPr sz="1600" dirty="0" err="1"/>
              <a:t>部署並取得公開網址</a:t>
            </a:r>
            <a:endParaRPr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200" b="1">
                <a:solidFill>
                  <a:srgbClr val="2563EB"/>
                </a:solidFill>
                <a:latin typeface="Noto Sans"/>
              </a:rPr>
              <a:t>【二、什麼是前端？】 </a:t>
            </a:r>
            <a:r>
              <a:rPr sz="2200" b="1">
                <a:solidFill>
                  <a:srgbClr val="0F172A"/>
                </a:solidFill>
                <a:latin typeface="Noto Sans"/>
              </a:rPr>
              <a:t>Frontend 是使用者直接看到與操作的所有介面與互動體驗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75569"/>
                </a:solidFill>
                <a:latin typeface="Noto Sans"/>
              </a:rPr>
              <a:t>連接後端資料與終端使用者的橋樑，由三大基石構成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475569"/>
                </a:solidFill>
                <a:latin typeface="Noto Sans"/>
              </a:rPr>
              <a:t>AI 輔助前端開發及響應式設計 ｜ Part 1 觀念、架構與開發起步</a:t>
            </a:r>
            <a:r>
              <a:rPr sz="1000" b="1">
                <a:solidFill>
                  <a:srgbClr val="2563EB"/>
                </a:solidFill>
                <a:latin typeface="Noto Sans"/>
              </a:rPr>
              <a:t> ｜ 頁碼：2 / 19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rPr dirty="0"/>
              <a:t>🖥️ </a:t>
            </a:r>
            <a:r>
              <a:rPr dirty="0" err="1"/>
              <a:t>前端涵蓋的視覺與互動要素</a:t>
            </a:r>
            <a:endParaRPr dirty="0"/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rPr sz="1600" dirty="0"/>
              <a:t>• </a:t>
            </a:r>
            <a:r>
              <a:rPr sz="1600" dirty="0" err="1"/>
              <a:t>網站首頁與導覽選單</a:t>
            </a:r>
            <a:r>
              <a:rPr sz="1600" dirty="0"/>
              <a:t> (Navbar &amp; Menu)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rPr sz="1600" dirty="0"/>
              <a:t>• </a:t>
            </a:r>
            <a:r>
              <a:rPr sz="1600" dirty="0" err="1"/>
              <a:t>資訊輸入與查詢表單</a:t>
            </a:r>
            <a:r>
              <a:rPr sz="1600" dirty="0"/>
              <a:t> (Search Forms &amp; Inputs)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rPr sz="1600" dirty="0"/>
              <a:t>• </a:t>
            </a:r>
            <a:r>
              <a:rPr sz="1600" dirty="0" err="1"/>
              <a:t>視覺呈現：圖片、輪播與向量圖示</a:t>
            </a:r>
            <a:endParaRPr sz="1600" dirty="0"/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rPr sz="1600" dirty="0"/>
              <a:t>• </a:t>
            </a:r>
            <a:r>
              <a:rPr sz="1600" dirty="0" err="1"/>
              <a:t>互動操作：按鈕點擊狀態、Hover</a:t>
            </a:r>
            <a:r>
              <a:rPr sz="1600" dirty="0"/>
              <a:t> </a:t>
            </a:r>
            <a:r>
              <a:rPr sz="1600" dirty="0" err="1"/>
              <a:t>視覺回饋</a:t>
            </a:r>
            <a:endParaRPr sz="1600" dirty="0"/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rPr sz="1600" dirty="0"/>
              <a:t>• </a:t>
            </a:r>
            <a:r>
              <a:rPr sz="1600" dirty="0" err="1"/>
              <a:t>動態轉場效果與</a:t>
            </a:r>
            <a:r>
              <a:rPr sz="1600" dirty="0"/>
              <a:t> Loading </a:t>
            </a:r>
            <a:r>
              <a:rPr sz="1600" dirty="0" err="1"/>
              <a:t>動畫</a:t>
            </a:r>
            <a:endParaRPr sz="1600" dirty="0"/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rPr sz="1600" dirty="0"/>
              <a:t>• </a:t>
            </a:r>
            <a:r>
              <a:rPr sz="1600" dirty="0" err="1"/>
              <a:t>核心商業功能：購物車、船班查詢與線上訂票介面</a:t>
            </a:r>
            <a:endParaRPr sz="1600" dirty="0"/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42255" cy="4480560"/>
          </a:xfrm>
          <a:prstGeom prst="roundRect">
            <a:avLst/>
          </a:prstGeom>
          <a:solidFill>
            <a:srgbClr val="EDF2F7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🧱 前端最基本的三個核心技術</a:t>
            </a:r>
          </a:p>
          <a:p>
            <a:pPr>
              <a:spcBef>
                <a:spcPts val="1400"/>
              </a:spcBef>
            </a:pPr>
            <a:r>
              <a:rPr b="1">
                <a:solidFill>
                  <a:srgbClr val="2563EB"/>
                </a:solidFill>
              </a:rPr>
              <a:t>▶ HTML：
</a:t>
            </a:r>
            <a:r>
              <a:rPr sz="1600">
                <a:solidFill>
                  <a:srgbClr val="475569"/>
                </a:solidFill>
              </a:rPr>
              <a:t>負責網站的內容與結構骨架 (Semantic Structure)</a:t>
            </a:r>
          </a:p>
          <a:p>
            <a:pPr>
              <a:spcBef>
                <a:spcPts val="1400"/>
              </a:spcBef>
            </a:pPr>
            <a:r>
              <a:rPr b="1">
                <a:solidFill>
                  <a:srgbClr val="2563EB"/>
                </a:solidFill>
              </a:rPr>
              <a:t>▶ CSS：
</a:t>
            </a:r>
            <a:r>
              <a:rPr sz="1600">
                <a:solidFill>
                  <a:srgbClr val="475569"/>
                </a:solidFill>
              </a:rPr>
              <a:t>負責視覺外觀、色彩、間距、排版與動畫 (Styling &amp; Layout)</a:t>
            </a:r>
          </a:p>
          <a:p>
            <a:pPr>
              <a:spcBef>
                <a:spcPts val="1400"/>
              </a:spcBef>
            </a:pPr>
            <a:r>
              <a:rPr b="1">
                <a:solidFill>
                  <a:srgbClr val="2563EB"/>
                </a:solidFill>
              </a:rPr>
              <a:t>▶ JavaScript：
</a:t>
            </a:r>
            <a:r>
              <a:rPr sz="1600">
                <a:solidFill>
                  <a:srgbClr val="475569"/>
                </a:solidFill>
              </a:rPr>
              <a:t>負責網站的動態行為、事件監聽與資料互動 (Behavior &amp; Logic)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1071790" cy="58990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200" b="1" dirty="0">
                <a:solidFill>
                  <a:srgbClr val="2563EB"/>
                </a:solidFill>
                <a:latin typeface="Noto Sans"/>
              </a:rPr>
              <a:t>【</a:t>
            </a:r>
            <a:r>
              <a:rPr sz="2200" b="1" dirty="0" err="1">
                <a:solidFill>
                  <a:srgbClr val="2563EB"/>
                </a:solidFill>
                <a:latin typeface="Noto Sans"/>
              </a:rPr>
              <a:t>三、HTML</a:t>
            </a:r>
            <a:r>
              <a:rPr sz="2200" b="1" dirty="0">
                <a:solidFill>
                  <a:srgbClr val="2563EB"/>
                </a:solidFill>
                <a:latin typeface="Noto Sans"/>
              </a:rPr>
              <a:t> </a:t>
            </a:r>
            <a:r>
              <a:rPr sz="2200" b="1" dirty="0" err="1">
                <a:solidFill>
                  <a:srgbClr val="2563EB"/>
                </a:solidFill>
                <a:latin typeface="Noto Sans"/>
              </a:rPr>
              <a:t>是什麼</a:t>
            </a:r>
            <a:r>
              <a:rPr sz="2200" b="1" dirty="0">
                <a:solidFill>
                  <a:srgbClr val="2563EB"/>
                </a:solidFill>
                <a:latin typeface="Noto Sans"/>
              </a:rPr>
              <a:t>？】 </a:t>
            </a:r>
            <a:r>
              <a:rPr sz="2200" b="1" dirty="0" err="1">
                <a:solidFill>
                  <a:srgbClr val="0F172A"/>
                </a:solidFill>
                <a:latin typeface="Noto Sans"/>
              </a:rPr>
              <a:t>HyperText</a:t>
            </a:r>
            <a:r>
              <a:rPr sz="2200" b="1" dirty="0">
                <a:solidFill>
                  <a:srgbClr val="0F172A"/>
                </a:solidFill>
                <a:latin typeface="Noto Sans"/>
              </a:rPr>
              <a:t> Markup Language — </a:t>
            </a:r>
            <a:r>
              <a:rPr sz="2200" b="1" dirty="0" err="1">
                <a:solidFill>
                  <a:srgbClr val="0F172A"/>
                </a:solidFill>
                <a:latin typeface="Noto Sans"/>
              </a:rPr>
              <a:t>負責網站的「內容與結構</a:t>
            </a:r>
            <a:r>
              <a:rPr sz="2200" b="1" dirty="0">
                <a:solidFill>
                  <a:srgbClr val="0F172A"/>
                </a:solidFill>
                <a:latin typeface="Noto Sans"/>
              </a:rPr>
              <a:t>」</a:t>
            </a:r>
          </a:p>
          <a:p>
            <a:pPr>
              <a:spcBef>
                <a:spcPts val="400"/>
              </a:spcBef>
            </a:pPr>
            <a:r>
              <a:rPr sz="1300" dirty="0">
                <a:solidFill>
                  <a:srgbClr val="475569"/>
                </a:solidFill>
                <a:latin typeface="Noto Sans"/>
              </a:rPr>
              <a:t>把 HTML </a:t>
            </a:r>
            <a:r>
              <a:rPr sz="1300" dirty="0" err="1">
                <a:solidFill>
                  <a:srgbClr val="475569"/>
                </a:solidFill>
                <a:latin typeface="Noto Sans"/>
              </a:rPr>
              <a:t>理解成建築物的鋼筋骨架，定義資料的語意與階層</a:t>
            </a:r>
            <a:endParaRPr sz="1300" dirty="0">
              <a:solidFill>
                <a:srgbClr val="475569"/>
              </a:solidFill>
              <a:latin typeface="Noto San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475569"/>
                </a:solidFill>
                <a:latin typeface="Noto Sans"/>
              </a:rPr>
              <a:t>AI 輔助前端開發及響應式設計 ｜ Part 1 觀念、架構與開發起步</a:t>
            </a:r>
            <a:r>
              <a:rPr sz="1000" b="1">
                <a:solidFill>
                  <a:srgbClr val="2563EB"/>
                </a:solidFill>
                <a:latin typeface="Noto Sans"/>
              </a:rPr>
              <a:t> ｜ 頁碼：3 / 19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rPr sz="1600" dirty="0"/>
              <a:t>🏗️ </a:t>
            </a:r>
            <a:r>
              <a:rPr sz="1600" dirty="0" err="1"/>
              <a:t>骨架比喻</a:t>
            </a:r>
            <a:endParaRPr sz="1600" dirty="0"/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rPr sz="1600" dirty="0"/>
              <a:t>HTML </a:t>
            </a:r>
            <a:r>
              <a:rPr sz="1600" dirty="0" err="1"/>
              <a:t>就像人體的骨骼或建築骨架。它決定了頁面上有哪些元素存在，但尚未加上油漆與裝潢</a:t>
            </a:r>
            <a:r>
              <a:rPr sz="1600" dirty="0"/>
              <a:t>。</a:t>
            </a:r>
            <a:br>
              <a:rPr sz="1600" dirty="0"/>
            </a:br>
            <a:br>
              <a:rPr sz="1600" dirty="0"/>
            </a:br>
            <a:r>
              <a:rPr sz="1600" dirty="0"/>
              <a:t>HTML </a:t>
            </a:r>
            <a:r>
              <a:rPr sz="1600" dirty="0" err="1"/>
              <a:t>宣告</a:t>
            </a:r>
            <a:r>
              <a:rPr sz="1600" dirty="0"/>
              <a:t>：「</a:t>
            </a:r>
            <a:r>
              <a:rPr sz="1600" dirty="0" err="1"/>
              <a:t>這裡有一個標題、這是一段文字、這是一個按鈕、這是一張圖片表格</a:t>
            </a:r>
            <a:r>
              <a:rPr sz="1600" dirty="0"/>
              <a:t>。」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rPr sz="1600"/>
              <a:t>🏷️ 語意化標籤 (Semantic HTML)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rPr sz="1600"/>
              <a:t>現代前端強調語意化標籤，提升 SEO 與可訪問性 (Accessibility)：</a:t>
            </a:r>
            <a:br>
              <a:rPr sz="1600"/>
            </a:br>
            <a:br>
              <a:rPr sz="1600"/>
            </a:br>
            <a:r>
              <a:rPr sz="1600"/>
              <a:t>• &lt;header&gt; / &lt;nav&gt;：導覽列與標頭</a:t>
            </a:r>
            <a:br>
              <a:rPr sz="1600"/>
            </a:br>
            <a:r>
              <a:rPr sz="1600"/>
              <a:t>• &lt;main&gt; / &lt;article&gt; / &lt;section&gt;：主要內容區塊</a:t>
            </a:r>
            <a:br>
              <a:rPr sz="1600"/>
            </a:br>
            <a:r>
              <a:rPr sz="1600"/>
              <a:t>• &lt;form&gt; / &lt;input&gt; / &lt;button&gt;：互動輸入表單</a:t>
            </a:r>
            <a:br>
              <a:rPr sz="1600"/>
            </a:br>
            <a:r>
              <a:rPr sz="1600"/>
              <a:t>• &lt;footer&gt;：頁尾版權與資訊宣告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rPr sz="1600"/>
              <a:t>🤖 AI 協作重點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rPr sz="1600"/>
              <a:t>引導 AI 撰寫 HTML 時的關鍵指令：</a:t>
            </a:r>
            <a:br>
              <a:rPr sz="1600"/>
            </a:br>
            <a:br>
              <a:rPr sz="1600"/>
            </a:br>
            <a:r>
              <a:rPr sz="1600"/>
              <a:t>• 要求使用 Semantic HTML，避免到處都是毫無意義的 &lt;div&gt;。</a:t>
            </a:r>
            <a:br>
              <a:rPr sz="1600"/>
            </a:br>
            <a:r>
              <a:rPr sz="1600"/>
              <a:t>• 確保表單控制項具備正確的 type 與 accessibility (aria) 屬性。</a:t>
            </a:r>
            <a:br>
              <a:rPr sz="1600"/>
            </a:br>
            <a:r>
              <a:rPr sz="1600"/>
              <a:t>• 結構層級清晰，便於後續 CSS 選擇器與 React 元件拆分。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1097314" cy="58990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200" b="1" dirty="0">
                <a:solidFill>
                  <a:srgbClr val="2563EB"/>
                </a:solidFill>
                <a:latin typeface="Noto Sans"/>
              </a:rPr>
              <a:t>【</a:t>
            </a:r>
            <a:r>
              <a:rPr sz="2200" b="1" dirty="0" err="1">
                <a:solidFill>
                  <a:srgbClr val="2563EB"/>
                </a:solidFill>
                <a:latin typeface="Noto Sans"/>
              </a:rPr>
              <a:t>四、CSS</a:t>
            </a:r>
            <a:r>
              <a:rPr sz="2200" b="1" dirty="0">
                <a:solidFill>
                  <a:srgbClr val="2563EB"/>
                </a:solidFill>
                <a:latin typeface="Noto Sans"/>
              </a:rPr>
              <a:t> </a:t>
            </a:r>
            <a:r>
              <a:rPr sz="2200" b="1" dirty="0" err="1">
                <a:solidFill>
                  <a:srgbClr val="2563EB"/>
                </a:solidFill>
                <a:latin typeface="Noto Sans"/>
              </a:rPr>
              <a:t>是什麼</a:t>
            </a:r>
            <a:r>
              <a:rPr sz="2200" b="1" dirty="0">
                <a:solidFill>
                  <a:srgbClr val="2563EB"/>
                </a:solidFill>
                <a:latin typeface="Noto Sans"/>
              </a:rPr>
              <a:t>？】 </a:t>
            </a:r>
            <a:r>
              <a:rPr sz="2200" b="1" dirty="0">
                <a:solidFill>
                  <a:srgbClr val="0F172A"/>
                </a:solidFill>
                <a:latin typeface="Noto Sans"/>
              </a:rPr>
              <a:t>Cascading Style Sheets — </a:t>
            </a:r>
            <a:r>
              <a:rPr sz="2200" b="1" dirty="0" err="1">
                <a:solidFill>
                  <a:srgbClr val="0F172A"/>
                </a:solidFill>
                <a:latin typeface="Noto Sans"/>
              </a:rPr>
              <a:t>決定元素「長什麼樣子與如何排列</a:t>
            </a:r>
            <a:r>
              <a:rPr sz="2200" b="1" dirty="0">
                <a:solidFill>
                  <a:srgbClr val="0F172A"/>
                </a:solidFill>
                <a:latin typeface="Noto Sans"/>
              </a:rPr>
              <a:t>」</a:t>
            </a:r>
          </a:p>
          <a:p>
            <a:pPr>
              <a:spcBef>
                <a:spcPts val="400"/>
              </a:spcBef>
            </a:pPr>
            <a:r>
              <a:rPr sz="1300" dirty="0">
                <a:solidFill>
                  <a:srgbClr val="475569"/>
                </a:solidFill>
                <a:latin typeface="Noto Sans"/>
              </a:rPr>
              <a:t>HTML </a:t>
            </a:r>
            <a:r>
              <a:rPr sz="1300" dirty="0" err="1">
                <a:solidFill>
                  <a:srgbClr val="475569"/>
                </a:solidFill>
                <a:latin typeface="Noto Sans"/>
              </a:rPr>
              <a:t>決定「這是按鈕</a:t>
            </a:r>
            <a:r>
              <a:rPr sz="1300" dirty="0">
                <a:solidFill>
                  <a:srgbClr val="475569"/>
                </a:solidFill>
                <a:latin typeface="Noto Sans"/>
              </a:rPr>
              <a:t>」；CSS </a:t>
            </a:r>
            <a:r>
              <a:rPr sz="1300" dirty="0" err="1">
                <a:solidFill>
                  <a:srgbClr val="475569"/>
                </a:solidFill>
                <a:latin typeface="Noto Sans"/>
              </a:rPr>
              <a:t>決定「這個按鈕長什麼樣子、放在哪裡</a:t>
            </a:r>
            <a:r>
              <a:rPr sz="1300" dirty="0">
                <a:solidFill>
                  <a:srgbClr val="475569"/>
                </a:solidFill>
                <a:latin typeface="Noto Sans"/>
              </a:rPr>
              <a:t>」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475569"/>
                </a:solidFill>
                <a:latin typeface="Noto Sans"/>
              </a:rPr>
              <a:t>AI 輔助前端開發及響應式設計 ｜ Part 1 觀念、架構與開發起步</a:t>
            </a:r>
            <a:r>
              <a:rPr sz="1000" b="1">
                <a:solidFill>
                  <a:srgbClr val="2563EB"/>
                </a:solidFill>
                <a:latin typeface="Noto Sans"/>
              </a:rPr>
              <a:t> ｜ 頁碼：4 / 19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rPr dirty="0"/>
              <a:t>🎨 CSS </a:t>
            </a:r>
            <a:r>
              <a:rPr dirty="0" err="1"/>
              <a:t>負責的核心視覺範疇</a:t>
            </a:r>
            <a:endParaRPr dirty="0"/>
          </a:p>
          <a:p>
            <a:pPr>
              <a:spcBef>
                <a:spcPts val="600"/>
              </a:spcBef>
            </a:pPr>
            <a:r>
              <a:rPr sz="1600" b="1" dirty="0">
                <a:solidFill>
                  <a:srgbClr val="2563EB"/>
                </a:solidFill>
              </a:rPr>
              <a:t>• </a:t>
            </a:r>
            <a:r>
              <a:rPr sz="1600" b="1" dirty="0" err="1">
                <a:solidFill>
                  <a:srgbClr val="2563EB"/>
                </a:solidFill>
              </a:rPr>
              <a:t>色彩與背景</a:t>
            </a:r>
            <a:r>
              <a:rPr sz="1600" b="1" dirty="0">
                <a:solidFill>
                  <a:srgbClr val="2563EB"/>
                </a:solidFill>
              </a:rPr>
              <a:t> (Colors &amp; Backgrounds)：
  </a:t>
            </a:r>
            <a:r>
              <a:rPr sz="1400" dirty="0" err="1">
                <a:solidFill>
                  <a:srgbClr val="475569"/>
                </a:solidFill>
              </a:rPr>
              <a:t>主色調、文字對比色、漸層與陰影</a:t>
            </a:r>
            <a:r>
              <a:rPr sz="1400" dirty="0">
                <a:solidFill>
                  <a:srgbClr val="475569"/>
                </a:solidFill>
              </a:rPr>
              <a:t> (box-shadow)</a:t>
            </a:r>
          </a:p>
          <a:p>
            <a:pPr>
              <a:spcBef>
                <a:spcPts val="600"/>
              </a:spcBef>
            </a:pPr>
            <a:r>
              <a:rPr sz="1600" b="1" dirty="0">
                <a:solidFill>
                  <a:srgbClr val="2563EB"/>
                </a:solidFill>
              </a:rPr>
              <a:t>• </a:t>
            </a:r>
            <a:r>
              <a:rPr sz="1600" b="1" dirty="0" err="1">
                <a:solidFill>
                  <a:srgbClr val="2563EB"/>
                </a:solidFill>
              </a:rPr>
              <a:t>字體排印</a:t>
            </a:r>
            <a:r>
              <a:rPr sz="1600" b="1" dirty="0">
                <a:solidFill>
                  <a:srgbClr val="2563EB"/>
                </a:solidFill>
              </a:rPr>
              <a:t> (Typography)：
  </a:t>
            </a:r>
            <a:r>
              <a:rPr sz="1400" dirty="0" err="1">
                <a:solidFill>
                  <a:srgbClr val="475569"/>
                </a:solidFill>
              </a:rPr>
              <a:t>字體族系</a:t>
            </a:r>
            <a:r>
              <a:rPr sz="1400" dirty="0">
                <a:solidFill>
                  <a:srgbClr val="475569"/>
                </a:solidFill>
              </a:rPr>
              <a:t> (font-family)、</a:t>
            </a:r>
            <a:r>
              <a:rPr sz="1400" dirty="0" err="1">
                <a:solidFill>
                  <a:srgbClr val="475569"/>
                </a:solidFill>
              </a:rPr>
              <a:t>字重</a:t>
            </a:r>
            <a:r>
              <a:rPr sz="1400" dirty="0">
                <a:solidFill>
                  <a:srgbClr val="475569"/>
                </a:solidFill>
              </a:rPr>
              <a:t> (font-weight)、</a:t>
            </a:r>
            <a:r>
              <a:rPr sz="1400" dirty="0" err="1">
                <a:solidFill>
                  <a:srgbClr val="475569"/>
                </a:solidFill>
              </a:rPr>
              <a:t>行高</a:t>
            </a:r>
            <a:r>
              <a:rPr sz="1400" dirty="0">
                <a:solidFill>
                  <a:srgbClr val="475569"/>
                </a:solidFill>
              </a:rPr>
              <a:t> (line-height)</a:t>
            </a:r>
          </a:p>
          <a:p>
            <a:pPr>
              <a:spcBef>
                <a:spcPts val="600"/>
              </a:spcBef>
            </a:pPr>
            <a:r>
              <a:rPr sz="1600" b="1" dirty="0">
                <a:solidFill>
                  <a:srgbClr val="2563EB"/>
                </a:solidFill>
              </a:rPr>
              <a:t>• </a:t>
            </a:r>
            <a:r>
              <a:rPr sz="1600" b="1" dirty="0" err="1">
                <a:solidFill>
                  <a:srgbClr val="2563EB"/>
                </a:solidFill>
              </a:rPr>
              <a:t>尺寸與盒模型</a:t>
            </a:r>
            <a:r>
              <a:rPr sz="1600" b="1" dirty="0">
                <a:solidFill>
                  <a:srgbClr val="2563EB"/>
                </a:solidFill>
              </a:rPr>
              <a:t> (Box Model &amp; Spacing)：
  </a:t>
            </a:r>
            <a:r>
              <a:rPr sz="1400" dirty="0" err="1">
                <a:solidFill>
                  <a:srgbClr val="475569"/>
                </a:solidFill>
              </a:rPr>
              <a:t>寬高</a:t>
            </a:r>
            <a:r>
              <a:rPr sz="1400" dirty="0">
                <a:solidFill>
                  <a:srgbClr val="475569"/>
                </a:solidFill>
              </a:rPr>
              <a:t> (width/height)、</a:t>
            </a:r>
            <a:r>
              <a:rPr sz="1400" dirty="0" err="1">
                <a:solidFill>
                  <a:srgbClr val="475569"/>
                </a:solidFill>
              </a:rPr>
              <a:t>內距</a:t>
            </a:r>
            <a:r>
              <a:rPr sz="1400" dirty="0">
                <a:solidFill>
                  <a:srgbClr val="475569"/>
                </a:solidFill>
              </a:rPr>
              <a:t> (padding)、</a:t>
            </a:r>
            <a:r>
              <a:rPr sz="1400" dirty="0" err="1">
                <a:solidFill>
                  <a:srgbClr val="475569"/>
                </a:solidFill>
              </a:rPr>
              <a:t>外距</a:t>
            </a:r>
            <a:r>
              <a:rPr sz="1400" dirty="0">
                <a:solidFill>
                  <a:srgbClr val="475569"/>
                </a:solidFill>
              </a:rPr>
              <a:t> (margin)、</a:t>
            </a:r>
            <a:r>
              <a:rPr sz="1400" dirty="0" err="1">
                <a:solidFill>
                  <a:srgbClr val="475569"/>
                </a:solidFill>
              </a:rPr>
              <a:t>圓角</a:t>
            </a:r>
            <a:r>
              <a:rPr sz="1400" dirty="0">
                <a:solidFill>
                  <a:srgbClr val="475569"/>
                </a:solidFill>
              </a:rPr>
              <a:t> (border-radius)</a:t>
            </a:r>
          </a:p>
          <a:p>
            <a:pPr>
              <a:spcBef>
                <a:spcPts val="600"/>
              </a:spcBef>
            </a:pPr>
            <a:r>
              <a:rPr sz="1600" b="1" dirty="0">
                <a:solidFill>
                  <a:srgbClr val="2563EB"/>
                </a:solidFill>
              </a:rPr>
              <a:t>• </a:t>
            </a:r>
            <a:r>
              <a:rPr sz="1600" b="1" dirty="0" err="1">
                <a:solidFill>
                  <a:srgbClr val="2563EB"/>
                </a:solidFill>
              </a:rPr>
              <a:t>版面排列</a:t>
            </a:r>
            <a:r>
              <a:rPr sz="1600" b="1" dirty="0">
                <a:solidFill>
                  <a:srgbClr val="2563EB"/>
                </a:solidFill>
              </a:rPr>
              <a:t> (Layout Systems)：
  </a:t>
            </a:r>
            <a:r>
              <a:rPr sz="1400" dirty="0" err="1">
                <a:solidFill>
                  <a:srgbClr val="475569"/>
                </a:solidFill>
              </a:rPr>
              <a:t>現代佈局的核心：Flexbox</a:t>
            </a:r>
            <a:r>
              <a:rPr sz="1400" dirty="0">
                <a:solidFill>
                  <a:srgbClr val="475569"/>
                </a:solidFill>
              </a:rPr>
              <a:t> (</a:t>
            </a:r>
            <a:r>
              <a:rPr sz="1400" dirty="0" err="1">
                <a:solidFill>
                  <a:srgbClr val="475569"/>
                </a:solidFill>
              </a:rPr>
              <a:t>一維軸向</a:t>
            </a:r>
            <a:r>
              <a:rPr sz="1400" dirty="0">
                <a:solidFill>
                  <a:srgbClr val="475569"/>
                </a:solidFill>
              </a:rPr>
              <a:t>) </a:t>
            </a:r>
            <a:r>
              <a:rPr sz="1400" dirty="0" err="1">
                <a:solidFill>
                  <a:srgbClr val="475569"/>
                </a:solidFill>
              </a:rPr>
              <a:t>與</a:t>
            </a:r>
            <a:r>
              <a:rPr sz="1400" dirty="0">
                <a:solidFill>
                  <a:srgbClr val="475569"/>
                </a:solidFill>
              </a:rPr>
              <a:t> CSS Grid (</a:t>
            </a:r>
            <a:r>
              <a:rPr sz="1400" dirty="0" err="1">
                <a:solidFill>
                  <a:srgbClr val="475569"/>
                </a:solidFill>
              </a:rPr>
              <a:t>二維多欄</a:t>
            </a:r>
            <a:r>
              <a:rPr sz="1400" dirty="0">
                <a:solidFill>
                  <a:srgbClr val="475569"/>
                </a:solidFill>
              </a:rPr>
              <a:t>)</a:t>
            </a:r>
          </a:p>
          <a:p>
            <a:pPr>
              <a:spcBef>
                <a:spcPts val="600"/>
              </a:spcBef>
            </a:pPr>
            <a:r>
              <a:rPr sz="1600" b="1" dirty="0">
                <a:solidFill>
                  <a:srgbClr val="2563EB"/>
                </a:solidFill>
              </a:rPr>
              <a:t>• </a:t>
            </a:r>
            <a:r>
              <a:rPr sz="1600" b="1" dirty="0" err="1">
                <a:solidFill>
                  <a:srgbClr val="2563EB"/>
                </a:solidFill>
              </a:rPr>
              <a:t>動態轉場</a:t>
            </a:r>
            <a:r>
              <a:rPr sz="1600" b="1" dirty="0">
                <a:solidFill>
                  <a:srgbClr val="2563EB"/>
                </a:solidFill>
              </a:rPr>
              <a:t> (Transitions &amp; Animations)：
  </a:t>
            </a:r>
            <a:r>
              <a:rPr sz="1400" dirty="0">
                <a:solidFill>
                  <a:srgbClr val="475569"/>
                </a:solidFill>
              </a:rPr>
              <a:t>Hover </a:t>
            </a:r>
            <a:r>
              <a:rPr sz="1400" dirty="0" err="1">
                <a:solidFill>
                  <a:srgbClr val="475569"/>
                </a:solidFill>
              </a:rPr>
              <a:t>效果、點擊反饋、淡入淡出轉場</a:t>
            </a:r>
            <a:endParaRPr sz="1400" dirty="0">
              <a:solidFill>
                <a:srgbClr val="475569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42255" cy="4480560"/>
          </a:xfrm>
          <a:prstGeom prst="roundRect">
            <a:avLst/>
          </a:prstGeom>
          <a:solidFill>
            <a:srgbClr val="EDF2F7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💡 經典對照與 AI 產出叮嚀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rPr sz="1600"/>
              <a:t>【HTML vs CSS 分工哲學】</a:t>
            </a:r>
            <a:br>
              <a:rPr sz="1600"/>
            </a:br>
            <a:r>
              <a:rPr sz="1600"/>
              <a:t>• HTML 說：「這是一個訂票按鈕」</a:t>
            </a:r>
            <a:br>
              <a:rPr sz="1600"/>
            </a:br>
            <a:r>
              <a:rPr sz="1600"/>
              <a:t>• CSS 說：「這是一個深藍色、圓角 8px、文字置中白色、滑鼠移過去會微微浮起放大的高質感按鈕」</a:t>
            </a:r>
            <a:br>
              <a:rPr sz="1600"/>
            </a:br>
            <a:br>
              <a:rPr sz="1600"/>
            </a:br>
            <a:r>
              <a:rPr sz="1600"/>
              <a:t>【讓 AI 寫 CSS 時的守則】</a:t>
            </a:r>
            <a:br>
              <a:rPr sz="1600"/>
            </a:br>
            <a:r>
              <a:rPr sz="1600"/>
              <a:t>1. 絕對避免濫用 position: absolute！</a:t>
            </a:r>
            <a:br>
              <a:rPr sz="1600"/>
            </a:br>
            <a:r>
              <a:rPr sz="1600"/>
              <a:t>2. 優先要求使用 Flexbox / Grid 流動排版。</a:t>
            </a:r>
            <a:br>
              <a:rPr sz="1600"/>
            </a:br>
            <a:r>
              <a:rPr sz="1600"/>
              <a:t>3. 保留 UI 設計稿的 Spacing (間距規範) 與 Border Radius。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200" b="1">
                <a:solidFill>
                  <a:srgbClr val="2563EB"/>
                </a:solidFill>
                <a:latin typeface="Noto Sans"/>
              </a:rPr>
              <a:t>【五、JavaScript 是什麼？】 </a:t>
            </a:r>
            <a:r>
              <a:rPr sz="2200" b="1">
                <a:solidFill>
                  <a:srgbClr val="0F172A"/>
                </a:solidFill>
                <a:latin typeface="Noto Sans"/>
              </a:rPr>
              <a:t>JavaScript 賦予網站「生命與動態行為」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75569"/>
                </a:solidFill>
                <a:latin typeface="Noto Sans"/>
              </a:rPr>
              <a:t>處理使用者事件、資料運算、非同步 API 呼叫與動態渲染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475569"/>
                </a:solidFill>
                <a:latin typeface="Noto Sans"/>
              </a:rPr>
              <a:t>AI 輔助前端開發及響應式設計 ｜ Part 1 觀念、架構與開發起步</a:t>
            </a:r>
            <a:r>
              <a:rPr sz="1000" b="1">
                <a:solidFill>
                  <a:srgbClr val="2563EB"/>
                </a:solidFill>
                <a:latin typeface="Noto Sans"/>
              </a:rPr>
              <a:t> ｜ 頁碼：5 / 19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rPr dirty="0"/>
              <a:t>⚡ JavaScript </a:t>
            </a:r>
            <a:r>
              <a:rPr dirty="0" err="1"/>
              <a:t>負責的動態互動情境</a:t>
            </a:r>
            <a:endParaRPr dirty="0"/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rPr sz="1600" dirty="0"/>
              <a:t>1. </a:t>
            </a:r>
            <a:r>
              <a:rPr sz="1600" dirty="0" err="1"/>
              <a:t>使用者操作事件</a:t>
            </a:r>
            <a:r>
              <a:rPr sz="1600" dirty="0"/>
              <a:t> (Event Handling)：</a:t>
            </a:r>
            <a:r>
              <a:rPr sz="1600" dirty="0" err="1"/>
              <a:t>點擊按鈕、下拉選單、滾動監聽</a:t>
            </a:r>
            <a:endParaRPr sz="1600" dirty="0"/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rPr sz="1600" dirty="0"/>
              <a:t>2. API </a:t>
            </a:r>
            <a:r>
              <a:rPr sz="1600" dirty="0" err="1"/>
              <a:t>查詢與資料獲取</a:t>
            </a:r>
            <a:r>
              <a:rPr sz="1600" dirty="0"/>
              <a:t> (Fetch / Async Data)：</a:t>
            </a:r>
            <a:r>
              <a:rPr sz="1600" dirty="0" err="1"/>
              <a:t>向後端請求即時船班時刻表與氣象資訊</a:t>
            </a:r>
            <a:endParaRPr sz="1600" dirty="0"/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rPr sz="1600" dirty="0"/>
              <a:t>3. </a:t>
            </a:r>
            <a:r>
              <a:rPr sz="1600" dirty="0" err="1"/>
              <a:t>單頁應用頁面切換</a:t>
            </a:r>
            <a:r>
              <a:rPr sz="1600" dirty="0"/>
              <a:t> (Client-side Routing)：</a:t>
            </a:r>
            <a:r>
              <a:rPr sz="1600" dirty="0" err="1"/>
              <a:t>無刷新流暢換頁</a:t>
            </a:r>
            <a:endParaRPr sz="1600" dirty="0"/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rPr sz="1600" dirty="0"/>
              <a:t>4. </a:t>
            </a:r>
            <a:r>
              <a:rPr sz="1600" dirty="0" err="1"/>
              <a:t>表單驗證與防呆</a:t>
            </a:r>
            <a:r>
              <a:rPr sz="1600" dirty="0"/>
              <a:t> (Form Validation)：</a:t>
            </a:r>
            <a:r>
              <a:rPr sz="1600" dirty="0" err="1"/>
              <a:t>檢查必填欄位、Email</a:t>
            </a:r>
            <a:r>
              <a:rPr sz="1600" dirty="0"/>
              <a:t> </a:t>
            </a:r>
            <a:r>
              <a:rPr sz="1600" dirty="0" err="1"/>
              <a:t>格式與日期邏輯</a:t>
            </a:r>
            <a:endParaRPr sz="1600" dirty="0"/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rPr sz="1600" dirty="0"/>
              <a:t>5. </a:t>
            </a:r>
            <a:r>
              <a:rPr sz="1600" dirty="0" err="1"/>
              <a:t>動態結果更新</a:t>
            </a:r>
            <a:r>
              <a:rPr sz="1600" dirty="0"/>
              <a:t> (DOM / State Update)：</a:t>
            </a:r>
            <a:r>
              <a:rPr sz="1600" dirty="0" err="1"/>
              <a:t>將查詢到的船班卡片動態渲染在畫面上</a:t>
            </a:r>
            <a:endParaRPr sz="1600" dirty="0"/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42255" cy="4480560"/>
          </a:xfrm>
          <a:prstGeom prst="roundRect">
            <a:avLst/>
          </a:prstGeom>
          <a:solidFill>
            <a:srgbClr val="EDF2F7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🧩 前端三劍客完整協同演繹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rPr sz="1600"/>
              <a:t>以「全國客船查詢系統」為例：</a:t>
            </a:r>
            <a:br>
              <a:rPr sz="1600"/>
            </a:br>
            <a:br>
              <a:rPr sz="1600"/>
            </a:br>
            <a:r>
              <a:rPr sz="1600"/>
              <a:t>• HTML：定義查詢表單、出發港口下拉選單、查詢按鈕與卡片清單區域。</a:t>
            </a:r>
            <a:br>
              <a:rPr sz="1600"/>
            </a:br>
            <a:r>
              <a:rPr sz="1600"/>
              <a:t>• CSS：將表單排列整齊、設定卡片陰影與響應式斷點 (手機單欄、桌機三欄)。</a:t>
            </a:r>
            <a:br>
              <a:rPr sz="1600"/>
            </a:br>
            <a:r>
              <a:rPr sz="1600"/>
              <a:t>• JavaScript：當使用者點擊「查詢」時，驗證出發地與目的地是否相同；發送請求取得船班資料；將結果動態更新至畫面；若發生錯誤則顯示警示訊息。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200" b="1">
                <a:solidFill>
                  <a:srgbClr val="2563EB"/>
                </a:solidFill>
                <a:latin typeface="Noto Sans"/>
              </a:rPr>
              <a:t>【六、React 是什麼？】 </a:t>
            </a:r>
            <a:r>
              <a:rPr sz="2200" b="1">
                <a:solidFill>
                  <a:srgbClr val="0F172A"/>
                </a:solidFill>
                <a:latin typeface="Noto Sans"/>
              </a:rPr>
              <a:t>現代前端主流框架 — 以「Component (元件)」為核心構建使用者介面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75569"/>
                </a:solidFill>
                <a:latin typeface="Noto Sans"/>
              </a:rPr>
              <a:t>把龐大複雜的網頁介面，拆解成獨立、可重用、易維護的積木模組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475569"/>
                </a:solidFill>
                <a:latin typeface="Noto Sans"/>
              </a:rPr>
              <a:t>AI 輔助前端開發及響應式設計 ｜ Part 1 觀念、架構與開發起步</a:t>
            </a:r>
            <a:r>
              <a:rPr sz="1000" b="1">
                <a:solidFill>
                  <a:srgbClr val="2563EB"/>
                </a:solidFill>
                <a:latin typeface="Noto Sans"/>
              </a:rPr>
              <a:t> ｜ 頁碼：6 / 19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28810" y="1645920"/>
            <a:ext cx="459183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rPr dirty="0"/>
              <a:t>🧩 React </a:t>
            </a:r>
            <a:r>
              <a:rPr dirty="0" err="1"/>
              <a:t>最核心的思維：Component</a:t>
            </a:r>
            <a:endParaRPr dirty="0"/>
          </a:p>
          <a:p>
            <a:pPr>
              <a:spcBef>
                <a:spcPts val="1000"/>
              </a:spcBef>
              <a:defRPr sz="1300">
                <a:solidFill>
                  <a:srgbClr val="0F172A"/>
                </a:solidFill>
              </a:defRPr>
            </a:pPr>
            <a:r>
              <a:rPr sz="1600" dirty="0"/>
              <a:t>• </a:t>
            </a:r>
            <a:r>
              <a:rPr sz="1600" dirty="0" err="1"/>
              <a:t>宣告式</a:t>
            </a:r>
            <a:r>
              <a:rPr sz="1600" dirty="0"/>
              <a:t> UI (Declarative)：</a:t>
            </a:r>
            <a:br>
              <a:rPr sz="1600" dirty="0"/>
            </a:br>
            <a:r>
              <a:rPr sz="1600" dirty="0"/>
              <a:t>  </a:t>
            </a:r>
            <a:r>
              <a:rPr sz="1600" dirty="0" err="1"/>
              <a:t>定義資料狀態</a:t>
            </a:r>
            <a:r>
              <a:rPr sz="1600" dirty="0"/>
              <a:t> (State)，</a:t>
            </a:r>
            <a:r>
              <a:rPr sz="1600" dirty="0" err="1"/>
              <a:t>畫面隨狀態自動更新</a:t>
            </a:r>
            <a:r>
              <a:rPr sz="1600" dirty="0"/>
              <a:t>。</a:t>
            </a:r>
            <a:br>
              <a:rPr sz="1600" dirty="0"/>
            </a:br>
            <a:r>
              <a:rPr sz="1600" dirty="0"/>
              <a:t>• </a:t>
            </a:r>
            <a:r>
              <a:rPr sz="1600" dirty="0" err="1"/>
              <a:t>積木式組裝</a:t>
            </a:r>
            <a:r>
              <a:rPr sz="1600" dirty="0"/>
              <a:t>：</a:t>
            </a:r>
            <a:br>
              <a:rPr sz="1600" dirty="0"/>
            </a:br>
            <a:r>
              <a:rPr sz="1600" dirty="0"/>
              <a:t>  </a:t>
            </a:r>
            <a:r>
              <a:rPr sz="1600" dirty="0" err="1"/>
              <a:t>頁面由多個小型</a:t>
            </a:r>
            <a:r>
              <a:rPr sz="1600" dirty="0"/>
              <a:t> Component </a:t>
            </a:r>
            <a:r>
              <a:rPr sz="1600" dirty="0" err="1"/>
              <a:t>組合而成</a:t>
            </a:r>
            <a:r>
              <a:rPr sz="1600" dirty="0"/>
              <a:t>。</a:t>
            </a:r>
            <a:br>
              <a:rPr sz="1600" dirty="0"/>
            </a:br>
            <a:r>
              <a:rPr sz="1600" dirty="0"/>
              <a:t>• </a:t>
            </a:r>
            <a:r>
              <a:rPr sz="1600" dirty="0" err="1"/>
              <a:t>單一職責原則</a:t>
            </a:r>
            <a:r>
              <a:rPr sz="1600" dirty="0"/>
              <a:t> (Single Responsibility)：</a:t>
            </a:r>
            <a:br>
              <a:rPr sz="1600" dirty="0"/>
            </a:br>
            <a:r>
              <a:rPr sz="1600" dirty="0"/>
              <a:t>  </a:t>
            </a:r>
            <a:r>
              <a:rPr sz="1600" dirty="0" err="1"/>
              <a:t>每個元件只專注做好一件事，職責分明</a:t>
            </a:r>
            <a:r>
              <a:rPr sz="1600" dirty="0"/>
              <a:t>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1645920"/>
            <a:ext cx="5973775" cy="4480560"/>
          </a:xfrm>
          <a:prstGeom prst="roundRect">
            <a:avLst/>
          </a:prstGeom>
          <a:solidFill>
            <a:srgbClr val="EDF2F7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🚢 實戰案例：客船查詢網站的 Components 拆解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2563EB"/>
                </a:solidFill>
              </a:rPr>
              <a:t>• &lt;Navbar /&gt;：
  </a:t>
            </a:r>
            <a:r>
              <a:rPr sz="1400">
                <a:solidFill>
                  <a:srgbClr val="475569"/>
                </a:solidFill>
              </a:rPr>
              <a:t>頂部導覽列，包含 Logo、導覽連結與行動版漢堡選單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2563EB"/>
                </a:solidFill>
              </a:rPr>
              <a:t>• &lt;SearchForm /&gt;：
  </a:t>
            </a:r>
            <a:r>
              <a:rPr sz="1400">
                <a:solidFill>
                  <a:srgbClr val="475569"/>
                </a:solidFill>
              </a:rPr>
              <a:t>核心搜尋表單，負責港口選擇、日期挑選與查詢按鈕觸發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2563EB"/>
                </a:solidFill>
              </a:rPr>
              <a:t>• &lt;RouteCard /&gt;：
  </a:t>
            </a:r>
            <a:r>
              <a:rPr sz="1400">
                <a:solidFill>
                  <a:srgbClr val="475569"/>
                </a:solidFill>
              </a:rPr>
              <a:t>熱門航線卡片，接收航線名稱、票價、船班時間等 Props 並重複渲染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2563EB"/>
                </a:solidFill>
              </a:rPr>
              <a:t>• &lt;Button /&gt;：
  </a:t>
            </a:r>
            <a:r>
              <a:rPr sz="1400">
                <a:solidFill>
                  <a:srgbClr val="475569"/>
                </a:solidFill>
              </a:rPr>
              <a:t>通用按鈕元件，統一全站主要/次要樣式、尺寸與點擊狀態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2563EB"/>
                </a:solidFill>
              </a:rPr>
              <a:t>• &lt;Footer /&gt;：
  </a:t>
            </a:r>
            <a:r>
              <a:rPr sz="1400">
                <a:solidFill>
                  <a:srgbClr val="475569"/>
                </a:solidFill>
              </a:rPr>
              <a:t>全站頁尾，包含版權宣告、交通部航港局相關資訊與服務電話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200" b="1">
                <a:solidFill>
                  <a:srgbClr val="2563EB"/>
                </a:solidFill>
                <a:latin typeface="Noto Sans"/>
              </a:rPr>
              <a:t>【七、為什麼要 Component 化？】 </a:t>
            </a:r>
            <a:r>
              <a:rPr sz="2200" b="1">
                <a:solidFill>
                  <a:srgbClr val="0F172A"/>
                </a:solidFill>
                <a:latin typeface="Noto Sans"/>
              </a:rPr>
              <a:t>解決傳統維護災難：從「改 30 處」到「改 1 處即全站同步」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75569"/>
                </a:solidFill>
                <a:latin typeface="Noto Sans"/>
              </a:rPr>
              <a:t>模組化帶來極高的可維護性、程式碼複用性與一致的設計系統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475569"/>
                </a:solidFill>
                <a:latin typeface="Noto Sans"/>
              </a:rPr>
              <a:t>AI 輔助前端開發及響應式設計 ｜ Part 1 觀念、架構與開發起步</a:t>
            </a:r>
            <a:r>
              <a:rPr sz="1000" b="1">
                <a:solidFill>
                  <a:srgbClr val="2563EB"/>
                </a:solidFill>
                <a:latin typeface="Noto Sans"/>
              </a:rPr>
              <a:t> ｜ 頁碼：7 / 19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949537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defRPr sz="1600" b="1">
                <a:solidFill>
                  <a:srgbClr val="E11D48"/>
                </a:solidFill>
              </a:defRPr>
            </a:pPr>
            <a:r>
              <a:rPr dirty="0"/>
              <a:t>❌ </a:t>
            </a:r>
            <a:r>
              <a:rPr dirty="0" err="1"/>
              <a:t>傳統手寫</a:t>
            </a:r>
            <a:r>
              <a:rPr dirty="0"/>
              <a:t> HTML </a:t>
            </a:r>
            <a:r>
              <a:rPr dirty="0" err="1"/>
              <a:t>的維護痛點</a:t>
            </a:r>
            <a:endParaRPr dirty="0"/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rPr sz="1600" dirty="0"/>
              <a:t>【</a:t>
            </a:r>
            <a:r>
              <a:rPr sz="1600" dirty="0" err="1"/>
              <a:t>假設全站有</a:t>
            </a:r>
            <a:r>
              <a:rPr sz="1600" dirty="0"/>
              <a:t> 30 </a:t>
            </a:r>
            <a:r>
              <a:rPr sz="1600" dirty="0" err="1"/>
              <a:t>個查詢</a:t>
            </a:r>
            <a:r>
              <a:rPr sz="1600" dirty="0"/>
              <a:t>/</a:t>
            </a:r>
            <a:r>
              <a:rPr sz="1600" dirty="0" err="1"/>
              <a:t>訂票按鈕</a:t>
            </a:r>
            <a:r>
              <a:rPr sz="1600" dirty="0"/>
              <a:t>】</a:t>
            </a:r>
            <a:br>
              <a:rPr sz="1600" dirty="0"/>
            </a:br>
            <a:br>
              <a:rPr sz="1600" dirty="0"/>
            </a:br>
            <a:r>
              <a:rPr sz="1600" dirty="0"/>
              <a:t>• </a:t>
            </a:r>
            <a:r>
              <a:rPr sz="1600" dirty="0" err="1"/>
              <a:t>重複勞動：每個按鈕的</a:t>
            </a:r>
            <a:r>
              <a:rPr sz="1600" dirty="0"/>
              <a:t> HTML/CSS </a:t>
            </a:r>
            <a:r>
              <a:rPr sz="1600" dirty="0" err="1"/>
              <a:t>都要複製貼上</a:t>
            </a:r>
            <a:r>
              <a:rPr sz="1600" dirty="0"/>
              <a:t> 30 </a:t>
            </a:r>
            <a:r>
              <a:rPr sz="1600" dirty="0" err="1"/>
              <a:t>遍</a:t>
            </a:r>
            <a:r>
              <a:rPr sz="1600" dirty="0"/>
              <a:t>。</a:t>
            </a:r>
            <a:br>
              <a:rPr sz="1600" dirty="0"/>
            </a:br>
            <a:r>
              <a:rPr sz="1600" dirty="0"/>
              <a:t>• </a:t>
            </a:r>
            <a:r>
              <a:rPr sz="1600" dirty="0" err="1"/>
              <a:t>遺漏與破版：UI</a:t>
            </a:r>
            <a:r>
              <a:rPr sz="1600" dirty="0"/>
              <a:t> </a:t>
            </a:r>
            <a:r>
              <a:rPr sz="1600" dirty="0" err="1"/>
              <a:t>設計師要求「按鈕圓角從</a:t>
            </a:r>
            <a:r>
              <a:rPr sz="1600" dirty="0"/>
              <a:t> 4px </a:t>
            </a:r>
            <a:r>
              <a:rPr sz="1600" dirty="0" err="1"/>
              <a:t>改為</a:t>
            </a:r>
            <a:r>
              <a:rPr sz="1600" dirty="0"/>
              <a:t> 8px、顏色換成品牌藍」，</a:t>
            </a:r>
            <a:r>
              <a:rPr sz="1600" dirty="0" err="1"/>
              <a:t>工程師必須手動搜尋修改</a:t>
            </a:r>
            <a:r>
              <a:rPr sz="1600" dirty="0"/>
              <a:t> 30 </a:t>
            </a:r>
            <a:r>
              <a:rPr sz="1600" dirty="0" err="1"/>
              <a:t>個檔案</a:t>
            </a:r>
            <a:r>
              <a:rPr sz="1600" dirty="0"/>
              <a:t>/</a:t>
            </a:r>
            <a:r>
              <a:rPr sz="1600" dirty="0" err="1"/>
              <a:t>區塊，極易改漏</a:t>
            </a:r>
            <a:r>
              <a:rPr sz="1600" dirty="0"/>
              <a:t>。</a:t>
            </a:r>
            <a:br>
              <a:rPr sz="1600" dirty="0"/>
            </a:br>
            <a:r>
              <a:rPr sz="1600" dirty="0"/>
              <a:t>• </a:t>
            </a:r>
            <a:r>
              <a:rPr sz="1600" dirty="0" err="1"/>
              <a:t>難以測試：按鈕的</a:t>
            </a:r>
            <a:r>
              <a:rPr sz="1600" dirty="0"/>
              <a:t> Loading </a:t>
            </a:r>
            <a:r>
              <a:rPr sz="1600" dirty="0" err="1"/>
              <a:t>狀態與防連點邏輯，分散在各處無法統一管理</a:t>
            </a:r>
            <a:r>
              <a:rPr sz="1600" dirty="0"/>
              <a:t>。</a:t>
            </a:r>
          </a:p>
        </p:txBody>
      </p:sp>
      <p:pic>
        <p:nvPicPr>
          <p:cNvPr id="7" name="圖片 6" descr="Reusability - React">
            <a:extLst>
              <a:ext uri="{FF2B5EF4-FFF2-40B4-BE49-F238E27FC236}">
                <a16:creationId xmlns:a16="http://schemas.microsoft.com/office/drawing/2014/main" id="{95A4AB1D-C6F8-F6B0-8474-9235C33C48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2059" y="2196807"/>
            <a:ext cx="7176182" cy="337878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200" b="1">
                <a:solidFill>
                  <a:srgbClr val="2563EB"/>
                </a:solidFill>
                <a:latin typeface="Noto Sans"/>
              </a:rPr>
              <a:t>【八、AI Coding 的新開發方式】 </a:t>
            </a:r>
            <a:r>
              <a:rPr sz="2200" b="1">
                <a:solidFill>
                  <a:srgbClr val="0F172A"/>
                </a:solidFill>
                <a:latin typeface="Noto Sans"/>
              </a:rPr>
              <a:t>開發範式轉移：從「手寫試錯」到「架構規格 ➔ AI 生成 ➔ 工程師審查」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75569"/>
                </a:solidFill>
                <a:latin typeface="Noto Sans"/>
              </a:rPr>
              <a:t>AI 負責加速生產；工程師負責定義規格、架構設計、品質審查與驗收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475569"/>
                </a:solidFill>
                <a:latin typeface="Noto Sans"/>
              </a:rPr>
              <a:t>AI 輔助前端開發及響應式設計 ｜ Part 1 觀念、架構與開發起步</a:t>
            </a:r>
            <a:r>
              <a:rPr sz="1000" b="1">
                <a:solidFill>
                  <a:srgbClr val="2563EB"/>
                </a:solidFill>
                <a:latin typeface="Noto Sans"/>
              </a:rPr>
              <a:t> ｜ 頁碼：8 / 19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EDF2F7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defRPr sz="1600" b="1">
                <a:solidFill>
                  <a:srgbClr val="475569"/>
                </a:solidFill>
              </a:defRPr>
            </a:pPr>
            <a:r>
              <a:rPr dirty="0"/>
              <a:t>⏳ </a:t>
            </a:r>
            <a:r>
              <a:rPr dirty="0" err="1"/>
              <a:t>以前的傳統開發流程</a:t>
            </a:r>
            <a:r>
              <a:rPr dirty="0"/>
              <a:t> (Manual)</a:t>
            </a:r>
          </a:p>
          <a:p>
            <a:pPr>
              <a:spcBef>
                <a:spcPts val="800"/>
              </a:spcBef>
              <a:defRPr sz="1300">
                <a:solidFill>
                  <a:srgbClr val="475569"/>
                </a:solidFill>
              </a:defRPr>
            </a:pPr>
            <a:r>
              <a:rPr sz="1600" dirty="0"/>
              <a:t>1. </a:t>
            </a:r>
            <a:r>
              <a:rPr sz="1600" dirty="0" err="1"/>
              <a:t>接收需求</a:t>
            </a:r>
            <a:r>
              <a:rPr sz="1600" dirty="0"/>
              <a:t> ➔ </a:t>
            </a:r>
            <a:r>
              <a:rPr sz="1600" dirty="0" err="1"/>
              <a:t>理解功能</a:t>
            </a:r>
            <a:endParaRPr sz="1600" dirty="0"/>
          </a:p>
          <a:p>
            <a:pPr>
              <a:spcBef>
                <a:spcPts val="800"/>
              </a:spcBef>
              <a:defRPr sz="1300">
                <a:solidFill>
                  <a:srgbClr val="475569"/>
                </a:solidFill>
              </a:defRPr>
            </a:pPr>
            <a:r>
              <a:rPr sz="1600" dirty="0"/>
              <a:t>2. </a:t>
            </a:r>
            <a:r>
              <a:rPr sz="1600" dirty="0" err="1"/>
              <a:t>工程師手動逐行敲寫</a:t>
            </a:r>
            <a:r>
              <a:rPr sz="1600" dirty="0"/>
              <a:t> Code</a:t>
            </a:r>
          </a:p>
          <a:p>
            <a:pPr>
              <a:spcBef>
                <a:spcPts val="800"/>
              </a:spcBef>
              <a:defRPr sz="1300">
                <a:solidFill>
                  <a:srgbClr val="475569"/>
                </a:solidFill>
              </a:defRPr>
            </a:pPr>
            <a:r>
              <a:rPr sz="1600" dirty="0"/>
              <a:t>3. </a:t>
            </a:r>
            <a:r>
              <a:rPr sz="1600" dirty="0" err="1"/>
              <a:t>遇到</a:t>
            </a:r>
            <a:r>
              <a:rPr sz="1600" dirty="0"/>
              <a:t> Bug ➔ </a:t>
            </a:r>
            <a:r>
              <a:rPr sz="1600" dirty="0" err="1"/>
              <a:t>打開</a:t>
            </a:r>
            <a:r>
              <a:rPr sz="1600" dirty="0"/>
              <a:t> Google / </a:t>
            </a:r>
            <a:r>
              <a:rPr sz="1600" dirty="0" err="1"/>
              <a:t>查語法手冊</a:t>
            </a:r>
            <a:endParaRPr sz="1600" dirty="0"/>
          </a:p>
          <a:p>
            <a:pPr>
              <a:spcBef>
                <a:spcPts val="800"/>
              </a:spcBef>
              <a:defRPr sz="1300">
                <a:solidFill>
                  <a:srgbClr val="475569"/>
                </a:solidFill>
              </a:defRPr>
            </a:pPr>
            <a:r>
              <a:rPr sz="1600" dirty="0"/>
              <a:t>4. </a:t>
            </a:r>
            <a:r>
              <a:rPr sz="1600" dirty="0" err="1"/>
              <a:t>翻閱</a:t>
            </a:r>
            <a:r>
              <a:rPr sz="1600" dirty="0"/>
              <a:t> Stack Overflow </a:t>
            </a:r>
            <a:r>
              <a:rPr sz="1600" dirty="0" err="1"/>
              <a:t>找類似解答</a:t>
            </a:r>
            <a:endParaRPr sz="1600" dirty="0"/>
          </a:p>
          <a:p>
            <a:pPr>
              <a:spcBef>
                <a:spcPts val="800"/>
              </a:spcBef>
              <a:defRPr sz="1300">
                <a:solidFill>
                  <a:srgbClr val="475569"/>
                </a:solidFill>
              </a:defRPr>
            </a:pPr>
            <a:r>
              <a:rPr sz="1600" dirty="0"/>
              <a:t>5. </a:t>
            </a:r>
            <a:r>
              <a:rPr sz="1600" dirty="0" err="1"/>
              <a:t>手動修改試錯</a:t>
            </a:r>
            <a:r>
              <a:rPr sz="1600" dirty="0"/>
              <a:t> ➔ </a:t>
            </a:r>
            <a:r>
              <a:rPr sz="1600" dirty="0" err="1"/>
              <a:t>反覆除錯</a:t>
            </a:r>
            <a:endParaRPr sz="1600" dirty="0"/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42255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🚀 現在的 AI 輔助開發流程 (AI-Assisted)</a:t>
            </a:r>
          </a:p>
          <a:p>
            <a:pPr>
              <a:spcBef>
                <a:spcPts val="400"/>
              </a:spcBef>
            </a:pPr>
            <a:r>
              <a:rPr sz="1600" b="1">
                <a:solidFill>
                  <a:srgbClr val="2563EB"/>
                </a:solidFill>
              </a:rPr>
              <a:t>1. 定義明確需求與規格 — </a:t>
            </a:r>
            <a:r>
              <a:rPr sz="1400">
                <a:solidFill>
                  <a:srgbClr val="0F172A"/>
                </a:solidFill>
              </a:rPr>
              <a:t>工程師制定架構、技術限制與驗收標準</a:t>
            </a:r>
          </a:p>
          <a:p>
            <a:pPr>
              <a:spcBef>
                <a:spcPts val="400"/>
              </a:spcBef>
            </a:pPr>
            <a:r>
              <a:rPr sz="1600" b="1">
                <a:solidFill>
                  <a:srgbClr val="2563EB"/>
                </a:solidFill>
              </a:rPr>
              <a:t>2. AI 產生專案架構與目錄 — </a:t>
            </a:r>
            <a:r>
              <a:rPr sz="1400">
                <a:solidFill>
                  <a:srgbClr val="0F172A"/>
                </a:solidFill>
              </a:rPr>
              <a:t>先看結構，確認模組化設計無誤</a:t>
            </a:r>
          </a:p>
          <a:p>
            <a:pPr>
              <a:spcBef>
                <a:spcPts val="400"/>
              </a:spcBef>
            </a:pPr>
            <a:r>
              <a:rPr sz="1600" b="1">
                <a:solidFill>
                  <a:srgbClr val="2563EB"/>
                </a:solidFill>
              </a:rPr>
              <a:t>3. AI 產生初始 Code / 元件 — </a:t>
            </a:r>
            <a:r>
              <a:rPr sz="1400">
                <a:solidFill>
                  <a:srgbClr val="0F172A"/>
                </a:solidFill>
              </a:rPr>
              <a:t>快速獲得可用 Prototype 代碼</a:t>
            </a:r>
          </a:p>
          <a:p>
            <a:pPr>
              <a:spcBef>
                <a:spcPts val="400"/>
              </a:spcBef>
            </a:pPr>
            <a:r>
              <a:rPr sz="1600" b="1">
                <a:solidFill>
                  <a:srgbClr val="2563EB"/>
                </a:solidFill>
              </a:rPr>
              <a:t>4. 工程師 Code Review — </a:t>
            </a:r>
            <a:r>
              <a:rPr sz="1400">
                <a:solidFill>
                  <a:srgbClr val="0F172A"/>
                </a:solidFill>
              </a:rPr>
              <a:t>檢查邏輯、資安、RWD 規範與可維護性</a:t>
            </a:r>
          </a:p>
          <a:p>
            <a:pPr>
              <a:spcBef>
                <a:spcPts val="400"/>
              </a:spcBef>
            </a:pPr>
            <a:r>
              <a:rPr sz="1600" b="1">
                <a:solidFill>
                  <a:srgbClr val="2563EB"/>
                </a:solidFill>
              </a:rPr>
              <a:t>5. AI 輔助精準 Debug — </a:t>
            </a:r>
            <a:r>
              <a:rPr sz="1400">
                <a:solidFill>
                  <a:srgbClr val="0F172A"/>
                </a:solidFill>
              </a:rPr>
              <a:t>提供 Console 錯誤訊息，進行最小修正</a:t>
            </a:r>
          </a:p>
          <a:p>
            <a:pPr>
              <a:spcBef>
                <a:spcPts val="400"/>
              </a:spcBef>
            </a:pPr>
            <a:r>
              <a:rPr sz="1600" b="1">
                <a:solidFill>
                  <a:srgbClr val="2563EB"/>
                </a:solidFill>
              </a:rPr>
              <a:t>6. 跨裝置實機驗收測試 — </a:t>
            </a:r>
            <a:r>
              <a:rPr sz="1400">
                <a:solidFill>
                  <a:srgbClr val="0F172A"/>
                </a:solidFill>
              </a:rPr>
              <a:t>工程師把關最終交付品質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1071374" cy="58990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200" b="1" dirty="0">
                <a:solidFill>
                  <a:srgbClr val="2563EB"/>
                </a:solidFill>
                <a:latin typeface="Noto Sans"/>
              </a:rPr>
              <a:t>【</a:t>
            </a:r>
            <a:r>
              <a:rPr sz="2200" b="1" dirty="0" err="1">
                <a:solidFill>
                  <a:srgbClr val="2563EB"/>
                </a:solidFill>
                <a:latin typeface="Noto Sans"/>
              </a:rPr>
              <a:t>九、常見</a:t>
            </a:r>
            <a:r>
              <a:rPr sz="2200" b="1" dirty="0">
                <a:solidFill>
                  <a:srgbClr val="2563EB"/>
                </a:solidFill>
                <a:latin typeface="Noto Sans"/>
              </a:rPr>
              <a:t> AI Coding </a:t>
            </a:r>
            <a:r>
              <a:rPr sz="2200" b="1" dirty="0" err="1">
                <a:solidFill>
                  <a:srgbClr val="2563EB"/>
                </a:solidFill>
                <a:latin typeface="Noto Sans"/>
              </a:rPr>
              <a:t>工具</a:t>
            </a:r>
            <a:r>
              <a:rPr sz="2200" b="1" dirty="0">
                <a:solidFill>
                  <a:srgbClr val="2563EB"/>
                </a:solidFill>
                <a:latin typeface="Noto Sans"/>
              </a:rPr>
              <a:t>】 </a:t>
            </a:r>
            <a:r>
              <a:rPr sz="2200" b="1" dirty="0" err="1">
                <a:solidFill>
                  <a:srgbClr val="0F172A"/>
                </a:solidFill>
                <a:latin typeface="Noto Sans"/>
              </a:rPr>
              <a:t>善用現代</a:t>
            </a:r>
            <a:r>
              <a:rPr sz="2200" b="1" dirty="0">
                <a:solidFill>
                  <a:srgbClr val="0F172A"/>
                </a:solidFill>
                <a:latin typeface="Noto Sans"/>
              </a:rPr>
              <a:t> AI </a:t>
            </a:r>
            <a:r>
              <a:rPr sz="2200" b="1" dirty="0" err="1">
                <a:solidFill>
                  <a:srgbClr val="0F172A"/>
                </a:solidFill>
                <a:latin typeface="Noto Sans"/>
              </a:rPr>
              <a:t>工具矩陣，掌握</a:t>
            </a:r>
            <a:r>
              <a:rPr sz="2200" b="1" dirty="0">
                <a:solidFill>
                  <a:srgbClr val="0F172A"/>
                </a:solidFill>
                <a:latin typeface="Noto Sans"/>
              </a:rPr>
              <a:t> AI </a:t>
            </a:r>
            <a:r>
              <a:rPr sz="2200" b="1" dirty="0" err="1">
                <a:solidFill>
                  <a:srgbClr val="0F172A"/>
                </a:solidFill>
                <a:latin typeface="Noto Sans"/>
              </a:rPr>
              <a:t>最擅長的高效益任務場景</a:t>
            </a:r>
            <a:endParaRPr sz="2200" b="1" dirty="0">
              <a:solidFill>
                <a:srgbClr val="0F172A"/>
              </a:solidFill>
              <a:latin typeface="Noto Sans"/>
            </a:endParaRPr>
          </a:p>
          <a:p>
            <a:pPr>
              <a:spcBef>
                <a:spcPts val="400"/>
              </a:spcBef>
            </a:pPr>
            <a:r>
              <a:rPr sz="1300" dirty="0" err="1">
                <a:solidFill>
                  <a:srgbClr val="475569"/>
                </a:solidFill>
                <a:latin typeface="Noto Sans"/>
              </a:rPr>
              <a:t>依據不同開發階段，選擇最合適的</a:t>
            </a:r>
            <a:r>
              <a:rPr sz="1300" dirty="0">
                <a:solidFill>
                  <a:srgbClr val="475569"/>
                </a:solidFill>
                <a:latin typeface="Noto Sans"/>
              </a:rPr>
              <a:t> AI </a:t>
            </a:r>
            <a:r>
              <a:rPr sz="1300" dirty="0" err="1">
                <a:solidFill>
                  <a:srgbClr val="475569"/>
                </a:solidFill>
                <a:latin typeface="Noto Sans"/>
              </a:rPr>
              <a:t>助手加速工作流</a:t>
            </a:r>
            <a:endParaRPr sz="1300" dirty="0">
              <a:solidFill>
                <a:srgbClr val="475569"/>
              </a:solidFill>
              <a:latin typeface="Noto San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475569"/>
                </a:solidFill>
                <a:latin typeface="Noto Sans"/>
              </a:rPr>
              <a:t>AI 輔助前端開發及響應式設計 ｜ Part 1 觀念、架構與開發起步</a:t>
            </a:r>
            <a:r>
              <a:rPr sz="1000" b="1">
                <a:solidFill>
                  <a:srgbClr val="2563EB"/>
                </a:solidFill>
                <a:latin typeface="Noto Sans"/>
              </a:rPr>
              <a:t> ｜ 頁碼：9 / 19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19" y="1645920"/>
            <a:ext cx="5242561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rPr dirty="0"/>
              <a:t>🛠️ </a:t>
            </a:r>
            <a:r>
              <a:rPr dirty="0" err="1"/>
              <a:t>主流</a:t>
            </a:r>
            <a:r>
              <a:rPr dirty="0"/>
              <a:t> AI Coding </a:t>
            </a:r>
            <a:r>
              <a:rPr dirty="0" err="1"/>
              <a:t>工具一覽</a:t>
            </a:r>
            <a:endParaRPr dirty="0"/>
          </a:p>
          <a:p>
            <a:pPr>
              <a:spcBef>
                <a:spcPts val="600"/>
              </a:spcBef>
            </a:pPr>
            <a:r>
              <a:rPr sz="1600" b="1" dirty="0">
                <a:solidFill>
                  <a:srgbClr val="0F172A"/>
                </a:solidFill>
              </a:rPr>
              <a:t>• Google AI Studio：
  </a:t>
            </a:r>
            <a:r>
              <a:rPr sz="1400" dirty="0" err="1">
                <a:solidFill>
                  <a:srgbClr val="475569"/>
                </a:solidFill>
              </a:rPr>
              <a:t>具備大</a:t>
            </a:r>
            <a:r>
              <a:rPr sz="1400" dirty="0">
                <a:solidFill>
                  <a:srgbClr val="475569"/>
                </a:solidFill>
              </a:rPr>
              <a:t> Context </a:t>
            </a:r>
            <a:r>
              <a:rPr sz="1400" dirty="0" err="1">
                <a:solidFill>
                  <a:srgbClr val="475569"/>
                </a:solidFill>
              </a:rPr>
              <a:t>視窗與</a:t>
            </a:r>
            <a:r>
              <a:rPr sz="1400" dirty="0">
                <a:solidFill>
                  <a:srgbClr val="475569"/>
                </a:solidFill>
              </a:rPr>
              <a:t> Build </a:t>
            </a:r>
            <a:r>
              <a:rPr sz="1400" dirty="0" err="1">
                <a:solidFill>
                  <a:srgbClr val="475569"/>
                </a:solidFill>
              </a:rPr>
              <a:t>Mode，支援多檔案管理與即時預覽，非常適合打造</a:t>
            </a:r>
            <a:r>
              <a:rPr sz="1400" dirty="0">
                <a:solidFill>
                  <a:srgbClr val="475569"/>
                </a:solidFill>
              </a:rPr>
              <a:t> Prototype</a:t>
            </a:r>
          </a:p>
          <a:p>
            <a:pPr>
              <a:spcBef>
                <a:spcPts val="600"/>
              </a:spcBef>
            </a:pPr>
            <a:r>
              <a:rPr sz="1600" b="1" dirty="0">
                <a:solidFill>
                  <a:srgbClr val="0F172A"/>
                </a:solidFill>
              </a:rPr>
              <a:t>• Google Gemini / Gemini CLI：
  </a:t>
            </a:r>
            <a:r>
              <a:rPr sz="1400" dirty="0" err="1">
                <a:solidFill>
                  <a:srgbClr val="475569"/>
                </a:solidFill>
              </a:rPr>
              <a:t>強大的程式邏輯推理、終端機命令行整合與多模態圖文代碼轉換</a:t>
            </a:r>
            <a:endParaRPr sz="1400" dirty="0">
              <a:solidFill>
                <a:srgbClr val="475569"/>
              </a:solidFill>
            </a:endParaRPr>
          </a:p>
          <a:p>
            <a:pPr>
              <a:spcBef>
                <a:spcPts val="600"/>
              </a:spcBef>
            </a:pPr>
            <a:r>
              <a:rPr sz="1600" b="1" dirty="0">
                <a:solidFill>
                  <a:srgbClr val="0F172A"/>
                </a:solidFill>
              </a:rPr>
              <a:t>• GitHub Copilot：
  </a:t>
            </a:r>
            <a:r>
              <a:rPr sz="1400" dirty="0">
                <a:solidFill>
                  <a:srgbClr val="475569"/>
                </a:solidFill>
              </a:rPr>
              <a:t>IDE </a:t>
            </a:r>
            <a:r>
              <a:rPr sz="1400" dirty="0" err="1">
                <a:solidFill>
                  <a:srgbClr val="475569"/>
                </a:solidFill>
              </a:rPr>
              <a:t>深度整合，即時行內代碼補全與上下文感知輔助</a:t>
            </a:r>
            <a:endParaRPr sz="1400" dirty="0">
              <a:solidFill>
                <a:srgbClr val="475569"/>
              </a:solidFill>
            </a:endParaRPr>
          </a:p>
          <a:p>
            <a:pPr>
              <a:spcBef>
                <a:spcPts val="600"/>
              </a:spcBef>
            </a:pPr>
            <a:r>
              <a:rPr sz="1600" b="1" dirty="0">
                <a:solidFill>
                  <a:srgbClr val="0F172A"/>
                </a:solidFill>
              </a:rPr>
              <a:t>• ChatGPT / OpenAI Codex：
  </a:t>
            </a:r>
            <a:r>
              <a:rPr sz="1400" dirty="0" err="1">
                <a:solidFill>
                  <a:srgbClr val="475569"/>
                </a:solidFill>
              </a:rPr>
              <a:t>通用自然語言轉代碼、架構設計分析與概念解說</a:t>
            </a:r>
            <a:endParaRPr sz="1400" dirty="0">
              <a:solidFill>
                <a:srgbClr val="475569"/>
              </a:solidFill>
            </a:endParaRPr>
          </a:p>
          <a:p>
            <a:pPr>
              <a:spcBef>
                <a:spcPts val="600"/>
              </a:spcBef>
            </a:pPr>
            <a:r>
              <a:rPr sz="1600" b="1" dirty="0">
                <a:solidFill>
                  <a:srgbClr val="0F172A"/>
                </a:solidFill>
              </a:rPr>
              <a:t>• Claude (Anthropic)：
  </a:t>
            </a:r>
            <a:r>
              <a:rPr sz="1400" dirty="0" err="1">
                <a:solidFill>
                  <a:srgbClr val="475569"/>
                </a:solidFill>
              </a:rPr>
              <a:t>長代碼重構、前端</a:t>
            </a:r>
            <a:r>
              <a:rPr sz="1400" dirty="0">
                <a:solidFill>
                  <a:srgbClr val="475569"/>
                </a:solidFill>
              </a:rPr>
              <a:t> UI </a:t>
            </a:r>
            <a:r>
              <a:rPr sz="1400" dirty="0" err="1">
                <a:solidFill>
                  <a:srgbClr val="475569"/>
                </a:solidFill>
              </a:rPr>
              <a:t>視覺生成與細緻的前端語意優化</a:t>
            </a:r>
            <a:endParaRPr sz="1400" dirty="0">
              <a:solidFill>
                <a:srgbClr val="475569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584974" cy="4480560"/>
          </a:xfrm>
          <a:prstGeom prst="roundRect">
            <a:avLst/>
          </a:prstGeom>
          <a:solidFill>
            <a:srgbClr val="EDF2F7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defRPr sz="1600" b="1">
                <a:solidFill>
                  <a:srgbClr val="0D9488"/>
                </a:solidFill>
              </a:defRPr>
            </a:pPr>
            <a:r>
              <a:rPr dirty="0"/>
              <a:t>🎯 AI </a:t>
            </a:r>
            <a:r>
              <a:rPr dirty="0" err="1"/>
              <a:t>最適合協助的</a:t>
            </a:r>
            <a:r>
              <a:rPr dirty="0"/>
              <a:t> 7 </a:t>
            </a:r>
            <a:r>
              <a:rPr dirty="0" err="1"/>
              <a:t>大前端任務</a:t>
            </a:r>
            <a:endParaRPr dirty="0"/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rPr sz="1600" dirty="0"/>
              <a:t>1. </a:t>
            </a:r>
            <a:r>
              <a:rPr sz="1600" dirty="0" err="1"/>
              <a:t>快速產生</a:t>
            </a:r>
            <a:r>
              <a:rPr sz="1600" dirty="0"/>
              <a:t> Prototype </a:t>
            </a:r>
            <a:r>
              <a:rPr sz="1600" dirty="0" err="1"/>
              <a:t>原型與基礎骨架</a:t>
            </a:r>
            <a:endParaRPr sz="1600" dirty="0"/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rPr sz="1600" dirty="0"/>
              <a:t>2. </a:t>
            </a:r>
            <a:r>
              <a:rPr sz="1600" dirty="0" err="1"/>
              <a:t>建立標準化的</a:t>
            </a:r>
            <a:r>
              <a:rPr sz="1600" dirty="0"/>
              <a:t> React UI Components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rPr sz="1600" dirty="0"/>
              <a:t>3. </a:t>
            </a:r>
            <a:r>
              <a:rPr sz="1600" dirty="0" err="1"/>
              <a:t>撰寫複雜的</a:t>
            </a:r>
            <a:r>
              <a:rPr sz="1600" dirty="0"/>
              <a:t> CSS </a:t>
            </a:r>
            <a:r>
              <a:rPr sz="1600" dirty="0" err="1"/>
              <a:t>排版</a:t>
            </a:r>
            <a:r>
              <a:rPr sz="1600" dirty="0"/>
              <a:t> (Flexbox / Grid / </a:t>
            </a:r>
            <a:r>
              <a:rPr sz="1600" dirty="0" err="1"/>
              <a:t>動畫</a:t>
            </a:r>
            <a:r>
              <a:rPr sz="1600" dirty="0"/>
              <a:t>)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rPr sz="1600" dirty="0"/>
              <a:t>4. </a:t>
            </a:r>
            <a:r>
              <a:rPr sz="1600" dirty="0" err="1"/>
              <a:t>產生</a:t>
            </a:r>
            <a:r>
              <a:rPr sz="1600" dirty="0"/>
              <a:t> Mock Data (</a:t>
            </a:r>
            <a:r>
              <a:rPr sz="1600" dirty="0" err="1"/>
              <a:t>假資料</a:t>
            </a:r>
            <a:r>
              <a:rPr sz="1600" dirty="0"/>
              <a:t>) 與 API </a:t>
            </a:r>
            <a:r>
              <a:rPr sz="1600" dirty="0" err="1"/>
              <a:t>呼叫範例</a:t>
            </a:r>
            <a:endParaRPr sz="1600" dirty="0"/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rPr sz="1600" dirty="0"/>
              <a:t>5. </a:t>
            </a:r>
            <a:r>
              <a:rPr sz="1600" dirty="0" err="1"/>
              <a:t>撰寫單元測試</a:t>
            </a:r>
            <a:r>
              <a:rPr sz="1600" dirty="0"/>
              <a:t> (Unit Tests) </a:t>
            </a:r>
            <a:r>
              <a:rPr sz="1600" dirty="0" err="1"/>
              <a:t>與測試案例清單</a:t>
            </a:r>
            <a:endParaRPr sz="1600" dirty="0"/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rPr sz="1600" dirty="0"/>
              <a:t>6. </a:t>
            </a:r>
            <a:r>
              <a:rPr sz="1600" dirty="0" err="1"/>
              <a:t>分析錯誤</a:t>
            </a:r>
            <a:r>
              <a:rPr sz="1600" dirty="0"/>
              <a:t> Log </a:t>
            </a:r>
            <a:r>
              <a:rPr sz="1600" dirty="0" err="1"/>
              <a:t>並提供</a:t>
            </a:r>
            <a:r>
              <a:rPr sz="1600" dirty="0"/>
              <a:t> Root Cause </a:t>
            </a:r>
            <a:r>
              <a:rPr sz="1600" dirty="0" err="1"/>
              <a:t>與最小修正</a:t>
            </a:r>
            <a:endParaRPr sz="1600" dirty="0"/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rPr sz="1600" dirty="0"/>
              <a:t>7. </a:t>
            </a:r>
            <a:r>
              <a:rPr sz="1600" dirty="0" err="1"/>
              <a:t>產出清晰易讀的專案</a:t>
            </a:r>
            <a:r>
              <a:rPr sz="1600" dirty="0"/>
              <a:t> README </a:t>
            </a:r>
            <a:r>
              <a:rPr sz="1600" dirty="0" err="1"/>
              <a:t>與交接技術文件</a:t>
            </a:r>
            <a:endParaRPr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200" b="1">
                <a:solidFill>
                  <a:srgbClr val="2563EB"/>
                </a:solidFill>
                <a:latin typeface="Noto Sans"/>
              </a:rPr>
              <a:t>【十、建立 React 專案】 </a:t>
            </a:r>
            <a:r>
              <a:rPr sz="2200" b="1">
                <a:solidFill>
                  <a:srgbClr val="0F172A"/>
                </a:solidFill>
                <a:latin typeface="Noto Sans"/>
              </a:rPr>
              <a:t>從環境檢查到使用 Vite 快速初始化 React 專案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75569"/>
                </a:solidFill>
                <a:latin typeface="Noto Sans"/>
              </a:rPr>
              <a:t>確認 Node.js 環境後，透過互動式命令行建立乾淨、現代的專案基底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475569"/>
                </a:solidFill>
                <a:latin typeface="Noto Sans"/>
              </a:rPr>
              <a:t>AI 輔助前端開發及響應式設計 ｜ Part 1 觀念、架構與開發起步</a:t>
            </a:r>
            <a:r>
              <a:rPr sz="1000" b="1">
                <a:solidFill>
                  <a:srgbClr val="2563EB"/>
                </a:solidFill>
                <a:latin typeface="Noto Sans"/>
              </a:rPr>
              <a:t> ｜ 頁碼：10 / 19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💻 步驟一：檢查執行環境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rPr sz="1600"/>
              <a:t>需要先安裝 Node.js (建議 LTS 版本 18+ 或 20+)：</a:t>
            </a:r>
            <a:br>
              <a:rPr sz="1600"/>
            </a:br>
            <a:br>
              <a:rPr sz="1600"/>
            </a:br>
            <a:r>
              <a:rPr sz="1600"/>
              <a:t>1. 確認 Node.js 版本：</a:t>
            </a:r>
            <a:br>
              <a:rPr sz="1600"/>
            </a:br>
            <a:r>
              <a:rPr sz="1600"/>
              <a:t>   node -v</a:t>
            </a:r>
            <a:br>
              <a:rPr sz="1600"/>
            </a:br>
            <a:br>
              <a:rPr sz="1600"/>
            </a:br>
            <a:r>
              <a:rPr sz="1600"/>
              <a:t>2. 確認 npm 套件管理工具版本：</a:t>
            </a:r>
            <a:br>
              <a:rPr sz="1600"/>
            </a:br>
            <a:r>
              <a:rPr sz="1600"/>
              <a:t>   npm -v</a:t>
            </a:r>
            <a:br>
              <a:rPr sz="1600"/>
            </a:br>
            <a:br>
              <a:rPr sz="1600"/>
            </a:br>
            <a:r>
              <a:rPr sz="1600"/>
              <a:t>※ 若尚未安裝，請至 nodejs.org 下載安裝。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42255" cy="4480560"/>
          </a:xfrm>
          <a:prstGeom prst="roundRect">
            <a:avLst/>
          </a:prstGeom>
          <a:solidFill>
            <a:srgbClr val="EDF2F7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rPr dirty="0"/>
              <a:t>⚡ </a:t>
            </a:r>
            <a:r>
              <a:rPr dirty="0" err="1"/>
              <a:t>步驟二：執行</a:t>
            </a:r>
            <a:r>
              <a:rPr dirty="0"/>
              <a:t> Vite </a:t>
            </a:r>
            <a:r>
              <a:rPr dirty="0" err="1"/>
              <a:t>建立指令</a:t>
            </a:r>
            <a:endParaRPr dirty="0"/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rPr sz="1600" dirty="0" err="1"/>
              <a:t>在終端機輸入</a:t>
            </a:r>
            <a:r>
              <a:rPr sz="1600" dirty="0"/>
              <a:t>：</a:t>
            </a:r>
            <a:br>
              <a:rPr sz="1600" dirty="0"/>
            </a:br>
            <a:r>
              <a:rPr sz="1600" dirty="0"/>
              <a:t>   </a:t>
            </a:r>
            <a:r>
              <a:rPr sz="1600" dirty="0" err="1"/>
              <a:t>npm</a:t>
            </a:r>
            <a:r>
              <a:rPr sz="1600" dirty="0"/>
              <a:t> create </a:t>
            </a:r>
            <a:r>
              <a:rPr sz="1600" dirty="0" err="1"/>
              <a:t>vite@latest</a:t>
            </a:r>
            <a:br>
              <a:rPr sz="1600" dirty="0"/>
            </a:br>
            <a:br>
              <a:rPr sz="1600" dirty="0"/>
            </a:br>
            <a:r>
              <a:rPr sz="1600" dirty="0" err="1"/>
              <a:t>接著依照提示進行互動式選擇</a:t>
            </a:r>
            <a:r>
              <a:rPr sz="1600" dirty="0"/>
              <a:t>：</a:t>
            </a:r>
            <a:br>
              <a:rPr sz="1600" dirty="0"/>
            </a:br>
            <a:r>
              <a:rPr sz="1600" dirty="0"/>
              <a:t>• Project </a:t>
            </a:r>
            <a:r>
              <a:rPr sz="1600" dirty="0" err="1"/>
              <a:t>name：輸入</a:t>
            </a:r>
            <a:r>
              <a:rPr sz="1600" dirty="0"/>
              <a:t> ferry-booking </a:t>
            </a:r>
            <a:r>
              <a:rPr sz="1600" dirty="0" err="1"/>
              <a:t>或專案名稱</a:t>
            </a:r>
            <a:br>
              <a:rPr sz="1600" dirty="0"/>
            </a:br>
            <a:r>
              <a:rPr sz="1600" dirty="0"/>
              <a:t>• Select a </a:t>
            </a:r>
            <a:r>
              <a:rPr sz="1600" dirty="0" err="1"/>
              <a:t>framework：選擇</a:t>
            </a:r>
            <a:r>
              <a:rPr sz="1600" dirty="0"/>
              <a:t> React</a:t>
            </a:r>
            <a:br>
              <a:rPr sz="1600" dirty="0"/>
            </a:br>
            <a:r>
              <a:rPr sz="1600" dirty="0"/>
              <a:t>• Select a </a:t>
            </a:r>
            <a:r>
              <a:rPr sz="1600" dirty="0" err="1"/>
              <a:t>variant：選擇</a:t>
            </a:r>
            <a:r>
              <a:rPr sz="1600" dirty="0"/>
              <a:t> JavaScript (</a:t>
            </a:r>
            <a:r>
              <a:rPr sz="1600" dirty="0" err="1"/>
              <a:t>或</a:t>
            </a:r>
            <a:r>
              <a:rPr sz="1600" dirty="0"/>
              <a:t> TypeScript)</a:t>
            </a:r>
            <a:br>
              <a:rPr sz="1600" dirty="0"/>
            </a:br>
            <a:br>
              <a:rPr sz="1600" dirty="0"/>
            </a:br>
            <a:r>
              <a:rPr sz="1600" dirty="0" err="1"/>
              <a:t>或使用單行快捷指令</a:t>
            </a:r>
            <a:r>
              <a:rPr sz="1600" dirty="0"/>
              <a:t>：</a:t>
            </a:r>
            <a:br>
              <a:rPr sz="1600" dirty="0"/>
            </a:br>
            <a:r>
              <a:rPr sz="1600" dirty="0"/>
              <a:t>   </a:t>
            </a:r>
            <a:r>
              <a:rPr sz="1600" dirty="0" err="1"/>
              <a:t>npm</a:t>
            </a:r>
            <a:r>
              <a:rPr sz="1600" dirty="0"/>
              <a:t> create </a:t>
            </a:r>
            <a:r>
              <a:rPr sz="1600" dirty="0" err="1"/>
              <a:t>vite@latest</a:t>
            </a:r>
            <a:r>
              <a:rPr sz="1600" dirty="0"/>
              <a:t> ferry-booking -- --template react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1155680" cy="58990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200" b="1" dirty="0">
                <a:solidFill>
                  <a:srgbClr val="2563EB"/>
                </a:solidFill>
                <a:latin typeface="Noto Sans"/>
              </a:rPr>
              <a:t>【</a:t>
            </a:r>
            <a:r>
              <a:rPr sz="2200" b="1" dirty="0" err="1">
                <a:solidFill>
                  <a:srgbClr val="2563EB"/>
                </a:solidFill>
                <a:latin typeface="Noto Sans"/>
              </a:rPr>
              <a:t>十一、安裝套件</a:t>
            </a:r>
            <a:r>
              <a:rPr sz="2200" b="1" dirty="0">
                <a:solidFill>
                  <a:srgbClr val="2563EB"/>
                </a:solidFill>
                <a:latin typeface="Noto Sans"/>
              </a:rPr>
              <a:t>】 </a:t>
            </a:r>
            <a:r>
              <a:rPr sz="2200" b="1" dirty="0" err="1">
                <a:solidFill>
                  <a:srgbClr val="0F172A"/>
                </a:solidFill>
                <a:latin typeface="Noto Sans"/>
              </a:rPr>
              <a:t>進入專案目錄、安裝依賴套件並啟動</a:t>
            </a:r>
            <a:r>
              <a:rPr sz="2200" b="1" dirty="0">
                <a:solidFill>
                  <a:srgbClr val="0F172A"/>
                </a:solidFill>
                <a:latin typeface="Noto Sans"/>
              </a:rPr>
              <a:t> Local Development Server</a:t>
            </a:r>
          </a:p>
          <a:p>
            <a:pPr>
              <a:spcBef>
                <a:spcPts val="400"/>
              </a:spcBef>
            </a:pPr>
            <a:r>
              <a:rPr sz="1300" dirty="0" err="1">
                <a:solidFill>
                  <a:srgbClr val="475569"/>
                </a:solidFill>
                <a:latin typeface="Noto Sans"/>
              </a:rPr>
              <a:t>執行三步驟指令，即可在瀏覽器即時預覽</a:t>
            </a:r>
            <a:r>
              <a:rPr sz="1300" dirty="0">
                <a:solidFill>
                  <a:srgbClr val="475569"/>
                </a:solidFill>
                <a:latin typeface="Noto Sans"/>
              </a:rPr>
              <a:t> React </a:t>
            </a:r>
            <a:r>
              <a:rPr sz="1300" dirty="0" err="1">
                <a:solidFill>
                  <a:srgbClr val="475569"/>
                </a:solidFill>
                <a:latin typeface="Noto Sans"/>
              </a:rPr>
              <a:t>網站</a:t>
            </a:r>
            <a:endParaRPr sz="1300" dirty="0">
              <a:solidFill>
                <a:srgbClr val="475569"/>
              </a:solidFill>
              <a:latin typeface="Noto San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475569"/>
                </a:solidFill>
                <a:latin typeface="Noto Sans"/>
              </a:rPr>
              <a:t>AI 輔助前端開發及響應式設計 ｜ Part 1 觀念、架構與開發起步</a:t>
            </a:r>
            <a:r>
              <a:rPr sz="1000" b="1">
                <a:solidFill>
                  <a:srgbClr val="2563EB"/>
                </a:solidFill>
                <a:latin typeface="Noto Sans"/>
              </a:rPr>
              <a:t> ｜ 頁碼：11 / 19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t>📁 步驟 1：進入專案資料夾</a:t>
            </a:r>
          </a:p>
          <a:p>
            <a:pPr>
              <a:spcBef>
                <a:spcPts val="1200"/>
              </a:spcBef>
            </a:pPr>
            <a:r>
              <a:rPr sz="1600" b="1">
                <a:solidFill>
                  <a:srgbClr val="0D9488"/>
                </a:solidFill>
              </a:rPr>
              <a:t>【執行指令】
$ cd ferry-booking
</a:t>
            </a:r>
            <a:r>
              <a:rPr sz="1600">
                <a:solidFill>
                  <a:srgbClr val="0F172A"/>
                </a:solidFill>
              </a:rPr>
              <a:t>切換終端機工作路徑至剛建立好的專案目錄。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t>📦 步驟 2：安裝所有依賴套件</a:t>
            </a:r>
          </a:p>
          <a:p>
            <a:pPr>
              <a:spcBef>
                <a:spcPts val="1200"/>
              </a:spcBef>
            </a:pPr>
            <a:r>
              <a:rPr sz="1600" b="1">
                <a:solidFill>
                  <a:srgbClr val="0D9488"/>
                </a:solidFill>
              </a:rPr>
              <a:t>【執行指令】
$ npm install (或 npm i)
</a:t>
            </a:r>
            <a:r>
              <a:rPr sz="1600">
                <a:solidFill>
                  <a:srgbClr val="0F172A"/>
                </a:solidFill>
              </a:rPr>
              <a:t>根據 package.json 規範，自 npm 官方倉庫下載 React 等必要模組至 node_modules。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t>🚀 步驟 3：啟動開發伺服器</a:t>
            </a:r>
          </a:p>
          <a:p>
            <a:pPr>
              <a:spcBef>
                <a:spcPts val="1200"/>
              </a:spcBef>
            </a:pPr>
            <a:r>
              <a:rPr sz="1600" b="1">
                <a:solidFill>
                  <a:srgbClr val="0D9488"/>
                </a:solidFill>
              </a:rPr>
              <a:t>【執行指令】
$ npm run dev
</a:t>
            </a:r>
            <a:r>
              <a:rPr sz="1600">
                <a:solidFill>
                  <a:srgbClr val="0F172A"/>
                </a:solidFill>
              </a:rPr>
              <a:t>啟動 Vite 高速開發伺服器，通常會顯示 Local 網址：
➜ Local: http://localhost:5173/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200" b="1">
                <a:solidFill>
                  <a:srgbClr val="2563EB"/>
                </a:solidFill>
                <a:latin typeface="Noto Sans"/>
              </a:rPr>
              <a:t>【十二、Vite 是什麼？】 </a:t>
            </a:r>
            <a:r>
              <a:rPr sz="2200" b="1">
                <a:solidFill>
                  <a:srgbClr val="0F172A"/>
                </a:solidFill>
                <a:latin typeface="Noto Sans"/>
              </a:rPr>
              <a:t>現代前端開發的神級工具 — 極速啟動器與模組打包工具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75569"/>
                </a:solidFill>
                <a:latin typeface="Noto Sans"/>
              </a:rPr>
              <a:t>徹底告別傳統 Webpack 緩慢痛點，提供毫秒級 Hot Module Replacement (HMR)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475569"/>
                </a:solidFill>
                <a:latin typeface="Noto Sans"/>
              </a:rPr>
              <a:t>AI 輔助前端開發及響應式設計 ｜ Part 1 觀念、架構與開發起步</a:t>
            </a:r>
            <a:r>
              <a:rPr sz="1000" b="1">
                <a:solidFill>
                  <a:srgbClr val="2563EB"/>
                </a:solidFill>
                <a:latin typeface="Noto Sans"/>
              </a:rPr>
              <a:t> ｜ 頁碼：12 / 19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4959" y="1645920"/>
            <a:ext cx="3043525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rPr dirty="0"/>
              <a:t>⚡ Vite </a:t>
            </a:r>
            <a:r>
              <a:rPr dirty="0" err="1"/>
              <a:t>的</a:t>
            </a:r>
            <a:r>
              <a:rPr dirty="0"/>
              <a:t> 4 </a:t>
            </a:r>
            <a:r>
              <a:rPr dirty="0" err="1"/>
              <a:t>大核心職責</a:t>
            </a:r>
            <a:endParaRPr dirty="0"/>
          </a:p>
          <a:p>
            <a:pPr>
              <a:spcBef>
                <a:spcPts val="800"/>
              </a:spcBef>
            </a:pPr>
            <a:r>
              <a:rPr sz="1400" b="1" dirty="0">
                <a:solidFill>
                  <a:srgbClr val="0F172A"/>
                </a:solidFill>
              </a:rPr>
              <a:t>1. </a:t>
            </a:r>
            <a:r>
              <a:rPr sz="1400" b="1" dirty="0" err="1">
                <a:solidFill>
                  <a:srgbClr val="0F172A"/>
                </a:solidFill>
              </a:rPr>
              <a:t>快速建立專案腳手架</a:t>
            </a:r>
            <a:r>
              <a:rPr sz="1400" b="1" dirty="0">
                <a:solidFill>
                  <a:srgbClr val="0F172A"/>
                </a:solidFill>
              </a:rPr>
              <a:t>：
  </a:t>
            </a:r>
            <a:r>
              <a:rPr sz="1200" dirty="0" err="1">
                <a:solidFill>
                  <a:srgbClr val="475569"/>
                </a:solidFill>
              </a:rPr>
              <a:t>提供官方標準範本，秒級生成專案目錄</a:t>
            </a:r>
            <a:r>
              <a:rPr sz="1200" dirty="0">
                <a:solidFill>
                  <a:srgbClr val="475569"/>
                </a:solidFill>
              </a:rPr>
              <a:t>。</a:t>
            </a:r>
          </a:p>
          <a:p>
            <a:pPr>
              <a:spcBef>
                <a:spcPts val="800"/>
              </a:spcBef>
            </a:pPr>
            <a:r>
              <a:rPr sz="1400" b="1" dirty="0">
                <a:solidFill>
                  <a:srgbClr val="0F172A"/>
                </a:solidFill>
              </a:rPr>
              <a:t>2. </a:t>
            </a:r>
            <a:r>
              <a:rPr sz="1400" b="1" dirty="0" err="1">
                <a:solidFill>
                  <a:srgbClr val="0F172A"/>
                </a:solidFill>
              </a:rPr>
              <a:t>啟動</a:t>
            </a:r>
            <a:r>
              <a:rPr sz="1400" b="1" dirty="0">
                <a:solidFill>
                  <a:srgbClr val="0F172A"/>
                </a:solidFill>
              </a:rPr>
              <a:t> Development Server：
  </a:t>
            </a:r>
            <a:r>
              <a:rPr sz="1200" dirty="0" err="1">
                <a:solidFill>
                  <a:srgbClr val="475569"/>
                </a:solidFill>
              </a:rPr>
              <a:t>基於原生</a:t>
            </a:r>
            <a:r>
              <a:rPr sz="1200" dirty="0">
                <a:solidFill>
                  <a:srgbClr val="475569"/>
                </a:solidFill>
              </a:rPr>
              <a:t> ES </a:t>
            </a:r>
            <a:r>
              <a:rPr sz="1200" dirty="0" err="1">
                <a:solidFill>
                  <a:srgbClr val="475569"/>
                </a:solidFill>
              </a:rPr>
              <a:t>Modules，無需等待全專案打包，瞬間啟動</a:t>
            </a:r>
            <a:r>
              <a:rPr sz="1200" dirty="0">
                <a:solidFill>
                  <a:srgbClr val="475569"/>
                </a:solidFill>
              </a:rPr>
              <a:t>。</a:t>
            </a:r>
          </a:p>
          <a:p>
            <a:pPr>
              <a:spcBef>
                <a:spcPts val="800"/>
              </a:spcBef>
            </a:pPr>
            <a:r>
              <a:rPr sz="1400" b="1" dirty="0">
                <a:solidFill>
                  <a:srgbClr val="0F172A"/>
                </a:solidFill>
              </a:rPr>
              <a:t>3. </a:t>
            </a:r>
            <a:r>
              <a:rPr sz="1400" b="1" dirty="0" err="1">
                <a:solidFill>
                  <a:srgbClr val="0F172A"/>
                </a:solidFill>
              </a:rPr>
              <a:t>處理模組與依賴轉換</a:t>
            </a:r>
            <a:r>
              <a:rPr sz="1400" b="1" dirty="0">
                <a:solidFill>
                  <a:srgbClr val="0F172A"/>
                </a:solidFill>
              </a:rPr>
              <a:t>：
  </a:t>
            </a:r>
            <a:r>
              <a:rPr sz="1200" dirty="0" err="1">
                <a:solidFill>
                  <a:srgbClr val="475569"/>
                </a:solidFill>
              </a:rPr>
              <a:t>支援</a:t>
            </a:r>
            <a:r>
              <a:rPr sz="1200" dirty="0">
                <a:solidFill>
                  <a:srgbClr val="475569"/>
                </a:solidFill>
              </a:rPr>
              <a:t> JSX、CSS </a:t>
            </a:r>
            <a:r>
              <a:rPr sz="1200" dirty="0" err="1">
                <a:solidFill>
                  <a:srgbClr val="475569"/>
                </a:solidFill>
              </a:rPr>
              <a:t>Modules、PostCSS</a:t>
            </a:r>
            <a:r>
              <a:rPr sz="1200" dirty="0">
                <a:solidFill>
                  <a:srgbClr val="475569"/>
                </a:solidFill>
              </a:rPr>
              <a:t> </a:t>
            </a:r>
            <a:r>
              <a:rPr sz="1200" dirty="0" err="1">
                <a:solidFill>
                  <a:srgbClr val="475569"/>
                </a:solidFill>
              </a:rPr>
              <a:t>等語法即時解析</a:t>
            </a:r>
            <a:r>
              <a:rPr sz="1200" dirty="0">
                <a:solidFill>
                  <a:srgbClr val="475569"/>
                </a:solidFill>
              </a:rPr>
              <a:t>。</a:t>
            </a:r>
          </a:p>
          <a:p>
            <a:pPr>
              <a:spcBef>
                <a:spcPts val="800"/>
              </a:spcBef>
            </a:pPr>
            <a:r>
              <a:rPr sz="1400" b="1" dirty="0">
                <a:solidFill>
                  <a:srgbClr val="0F172A"/>
                </a:solidFill>
              </a:rPr>
              <a:t>4. </a:t>
            </a:r>
            <a:r>
              <a:rPr sz="1400" b="1" dirty="0" err="1">
                <a:solidFill>
                  <a:srgbClr val="0F172A"/>
                </a:solidFill>
              </a:rPr>
              <a:t>產出生產環境代碼</a:t>
            </a:r>
            <a:r>
              <a:rPr sz="1400" b="1" dirty="0">
                <a:solidFill>
                  <a:srgbClr val="0F172A"/>
                </a:solidFill>
              </a:rPr>
              <a:t> (Production Build)：
  </a:t>
            </a:r>
            <a:r>
              <a:rPr sz="1200" dirty="0" err="1">
                <a:solidFill>
                  <a:srgbClr val="475569"/>
                </a:solidFill>
              </a:rPr>
              <a:t>底層使用</a:t>
            </a:r>
            <a:r>
              <a:rPr sz="1200" dirty="0">
                <a:solidFill>
                  <a:srgbClr val="475569"/>
                </a:solidFill>
              </a:rPr>
              <a:t> Rollup </a:t>
            </a:r>
            <a:r>
              <a:rPr sz="1200" dirty="0" err="1">
                <a:solidFill>
                  <a:srgbClr val="475569"/>
                </a:solidFill>
              </a:rPr>
              <a:t>進行代碼壓縮、Tree-shaking</a:t>
            </a:r>
            <a:r>
              <a:rPr sz="1200" dirty="0">
                <a:solidFill>
                  <a:srgbClr val="475569"/>
                </a:solidFill>
              </a:rPr>
              <a:t> </a:t>
            </a:r>
            <a:r>
              <a:rPr sz="1200" dirty="0" err="1">
                <a:solidFill>
                  <a:srgbClr val="475569"/>
                </a:solidFill>
              </a:rPr>
              <a:t>與極致優化</a:t>
            </a:r>
            <a:r>
              <a:rPr sz="1200" dirty="0">
                <a:solidFill>
                  <a:srgbClr val="475569"/>
                </a:solidFill>
              </a:rPr>
              <a:t>。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1B721E6B-B732-C58D-B03F-36B5426940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932143"/>
              </p:ext>
            </p:extLst>
          </p:nvPr>
        </p:nvGraphicFramePr>
        <p:xfrm>
          <a:off x="3479196" y="2137554"/>
          <a:ext cx="1847814" cy="35166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23907">
                  <a:extLst>
                    <a:ext uri="{9D8B030D-6E8A-4147-A177-3AD203B41FA5}">
                      <a16:colId xmlns:a16="http://schemas.microsoft.com/office/drawing/2014/main" val="3413998295"/>
                    </a:ext>
                  </a:extLst>
                </a:gridCol>
                <a:gridCol w="923907">
                  <a:extLst>
                    <a:ext uri="{9D8B030D-6E8A-4147-A177-3AD203B41FA5}">
                      <a16:colId xmlns:a16="http://schemas.microsoft.com/office/drawing/2014/main" val="1094493151"/>
                    </a:ext>
                  </a:extLst>
                </a:gridCol>
              </a:tblGrid>
              <a:tr h="390736">
                <a:tc>
                  <a:txBody>
                    <a:bodyPr/>
                    <a:lstStyle/>
                    <a:p>
                      <a:pPr marL="0" marR="0" indent="0" algn="ctr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zh-TW" sz="1050">
                          <a:effectLst/>
                        </a:rPr>
                        <a:t>JavaScript</a:t>
                      </a:r>
                      <a:endParaRPr lang="zh-TW" sz="1050" b="1" i="0">
                        <a:solidFill>
                          <a:srgbClr val="67676C"/>
                        </a:solidFill>
                        <a:effectLst/>
                        <a:latin typeface="Inter"/>
                      </a:endParaRPr>
                    </a:p>
                  </a:txBody>
                  <a:tcPr marL="152400" marR="152400" marT="76200" marB="7620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zh-TW" sz="1050">
                          <a:effectLst/>
                        </a:rPr>
                        <a:t>TypeScript</a:t>
                      </a:r>
                      <a:endParaRPr lang="zh-TW" sz="1050" b="1" i="0">
                        <a:solidFill>
                          <a:srgbClr val="67676C"/>
                        </a:solidFill>
                        <a:effectLst/>
                        <a:latin typeface="Inter"/>
                      </a:endParaRPr>
                    </a:p>
                  </a:txBody>
                  <a:tcPr marL="152400" marR="152400" marT="76200" marB="76200" anchor="ctr"/>
                </a:tc>
                <a:extLst>
                  <a:ext uri="{0D108BD9-81ED-4DB2-BD59-A6C34878D82A}">
                    <a16:rowId xmlns:a16="http://schemas.microsoft.com/office/drawing/2014/main" val="3818568313"/>
                  </a:ext>
                </a:extLst>
              </a:tr>
              <a:tr h="390736">
                <a:tc>
                  <a:txBody>
                    <a:bodyPr/>
                    <a:lstStyle/>
                    <a:p>
                      <a:pPr marL="0" marR="0" indent="0" algn="ctr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zh-TW" sz="1050" u="sng" dirty="0">
                          <a:effectLst/>
                          <a:hlinkClick r:id="rId2"/>
                        </a:rPr>
                        <a:t>vanilla</a:t>
                      </a:r>
                      <a:endParaRPr lang="zh-TW" sz="1050" b="0" i="0" dirty="0">
                        <a:solidFill>
                          <a:srgbClr val="000000"/>
                        </a:solidFill>
                        <a:effectLst/>
                        <a:latin typeface="Inter"/>
                      </a:endParaRPr>
                    </a:p>
                  </a:txBody>
                  <a:tcPr marL="152400" marR="152400" marT="76200" marB="7620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zh-TW" sz="1050" u="sng" dirty="0">
                          <a:effectLst/>
                          <a:hlinkClick r:id="rId3"/>
                        </a:rPr>
                        <a:t>vanilla-ts</a:t>
                      </a:r>
                      <a:endParaRPr lang="zh-TW" sz="1050" b="0" i="0" dirty="0">
                        <a:solidFill>
                          <a:srgbClr val="000000"/>
                        </a:solidFill>
                        <a:effectLst/>
                        <a:latin typeface="Inter"/>
                      </a:endParaRPr>
                    </a:p>
                  </a:txBody>
                  <a:tcPr marL="152400" marR="152400" marT="76200" marB="76200" anchor="ctr"/>
                </a:tc>
                <a:extLst>
                  <a:ext uri="{0D108BD9-81ED-4DB2-BD59-A6C34878D82A}">
                    <a16:rowId xmlns:a16="http://schemas.microsoft.com/office/drawing/2014/main" val="162928721"/>
                  </a:ext>
                </a:extLst>
              </a:tr>
              <a:tr h="390736">
                <a:tc>
                  <a:txBody>
                    <a:bodyPr/>
                    <a:lstStyle/>
                    <a:p>
                      <a:pPr marL="0" marR="0" indent="0" algn="ctr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zh-TW" sz="1050" u="sng" dirty="0">
                          <a:effectLst/>
                          <a:hlinkClick r:id="rId4"/>
                        </a:rPr>
                        <a:t>vue</a:t>
                      </a:r>
                      <a:endParaRPr lang="zh-TW" sz="1050" b="0" i="0" dirty="0">
                        <a:solidFill>
                          <a:srgbClr val="000000"/>
                        </a:solidFill>
                        <a:effectLst/>
                        <a:latin typeface="Inter"/>
                      </a:endParaRPr>
                    </a:p>
                  </a:txBody>
                  <a:tcPr marL="152400" marR="152400" marT="76200" marB="7620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zh-TW" sz="1050" u="sng" dirty="0">
                          <a:effectLst/>
                          <a:hlinkClick r:id="rId5"/>
                        </a:rPr>
                        <a:t>vue-ts</a:t>
                      </a:r>
                      <a:endParaRPr lang="zh-TW" sz="1050" b="0" i="0" dirty="0">
                        <a:solidFill>
                          <a:srgbClr val="000000"/>
                        </a:solidFill>
                        <a:effectLst/>
                        <a:latin typeface="Inter"/>
                      </a:endParaRPr>
                    </a:p>
                  </a:txBody>
                  <a:tcPr marL="152400" marR="152400" marT="76200" marB="76200" anchor="ctr"/>
                </a:tc>
                <a:extLst>
                  <a:ext uri="{0D108BD9-81ED-4DB2-BD59-A6C34878D82A}">
                    <a16:rowId xmlns:a16="http://schemas.microsoft.com/office/drawing/2014/main" val="3138510271"/>
                  </a:ext>
                </a:extLst>
              </a:tr>
              <a:tr h="390736">
                <a:tc>
                  <a:txBody>
                    <a:bodyPr/>
                    <a:lstStyle/>
                    <a:p>
                      <a:pPr marL="0" marR="0" indent="0" algn="ctr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zh-TW" sz="1050" u="sng" dirty="0">
                          <a:effectLst/>
                          <a:hlinkClick r:id="rId6"/>
                        </a:rPr>
                        <a:t>react</a:t>
                      </a:r>
                      <a:endParaRPr lang="zh-TW" sz="1050" b="0" i="0" dirty="0">
                        <a:solidFill>
                          <a:srgbClr val="000000"/>
                        </a:solidFill>
                        <a:effectLst/>
                        <a:latin typeface="Inter"/>
                      </a:endParaRPr>
                    </a:p>
                  </a:txBody>
                  <a:tcPr marL="152400" marR="152400" marT="76200" marB="7620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zh-TW" sz="1050" u="sng">
                          <a:effectLst/>
                          <a:hlinkClick r:id="rId7"/>
                        </a:rPr>
                        <a:t>react-ts</a:t>
                      </a:r>
                      <a:endParaRPr lang="zh-TW" sz="1050" b="0" i="0">
                        <a:solidFill>
                          <a:srgbClr val="000000"/>
                        </a:solidFill>
                        <a:effectLst/>
                        <a:latin typeface="Inter"/>
                      </a:endParaRPr>
                    </a:p>
                  </a:txBody>
                  <a:tcPr marL="152400" marR="152400" marT="76200" marB="76200" anchor="ctr"/>
                </a:tc>
                <a:extLst>
                  <a:ext uri="{0D108BD9-81ED-4DB2-BD59-A6C34878D82A}">
                    <a16:rowId xmlns:a16="http://schemas.microsoft.com/office/drawing/2014/main" val="3243084199"/>
                  </a:ext>
                </a:extLst>
              </a:tr>
              <a:tr h="390736">
                <a:tc>
                  <a:txBody>
                    <a:bodyPr/>
                    <a:lstStyle/>
                    <a:p>
                      <a:pPr marL="0" marR="0" indent="0" algn="ctr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zh-TW" sz="1050" u="sng">
                          <a:effectLst/>
                          <a:hlinkClick r:id="rId8"/>
                        </a:rPr>
                        <a:t>preact</a:t>
                      </a:r>
                      <a:endParaRPr lang="zh-TW" sz="1050" b="0" i="0">
                        <a:solidFill>
                          <a:srgbClr val="000000"/>
                        </a:solidFill>
                        <a:effectLst/>
                        <a:latin typeface="Inter"/>
                      </a:endParaRPr>
                    </a:p>
                  </a:txBody>
                  <a:tcPr marL="152400" marR="152400" marT="76200" marB="7620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zh-TW" sz="1050" u="sng">
                          <a:effectLst/>
                          <a:hlinkClick r:id="rId9"/>
                        </a:rPr>
                        <a:t>preact-ts</a:t>
                      </a:r>
                      <a:endParaRPr lang="zh-TW" sz="1050" b="0" i="0">
                        <a:solidFill>
                          <a:srgbClr val="000000"/>
                        </a:solidFill>
                        <a:effectLst/>
                        <a:latin typeface="Inter"/>
                      </a:endParaRPr>
                    </a:p>
                  </a:txBody>
                  <a:tcPr marL="152400" marR="152400" marT="76200" marB="76200" anchor="ctr"/>
                </a:tc>
                <a:extLst>
                  <a:ext uri="{0D108BD9-81ED-4DB2-BD59-A6C34878D82A}">
                    <a16:rowId xmlns:a16="http://schemas.microsoft.com/office/drawing/2014/main" val="3736516932"/>
                  </a:ext>
                </a:extLst>
              </a:tr>
              <a:tr h="390736">
                <a:tc>
                  <a:txBody>
                    <a:bodyPr/>
                    <a:lstStyle/>
                    <a:p>
                      <a:pPr marL="0" marR="0" indent="0" algn="ctr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zh-TW" sz="1050" u="sng">
                          <a:effectLst/>
                          <a:hlinkClick r:id="rId10"/>
                        </a:rPr>
                        <a:t>lit</a:t>
                      </a:r>
                      <a:endParaRPr lang="zh-TW" sz="1050" b="0" i="0">
                        <a:solidFill>
                          <a:srgbClr val="000000"/>
                        </a:solidFill>
                        <a:effectLst/>
                        <a:latin typeface="Inter"/>
                      </a:endParaRPr>
                    </a:p>
                  </a:txBody>
                  <a:tcPr marL="152400" marR="152400" marT="76200" marB="7620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zh-TW" sz="1050" u="sng">
                          <a:effectLst/>
                          <a:hlinkClick r:id="rId11"/>
                        </a:rPr>
                        <a:t>lit-ts</a:t>
                      </a:r>
                      <a:endParaRPr lang="zh-TW" sz="1050" b="0" i="0">
                        <a:solidFill>
                          <a:srgbClr val="000000"/>
                        </a:solidFill>
                        <a:effectLst/>
                        <a:latin typeface="Inter"/>
                      </a:endParaRPr>
                    </a:p>
                  </a:txBody>
                  <a:tcPr marL="152400" marR="152400" marT="76200" marB="76200" anchor="ctr"/>
                </a:tc>
                <a:extLst>
                  <a:ext uri="{0D108BD9-81ED-4DB2-BD59-A6C34878D82A}">
                    <a16:rowId xmlns:a16="http://schemas.microsoft.com/office/drawing/2014/main" val="1227509901"/>
                  </a:ext>
                </a:extLst>
              </a:tr>
              <a:tr h="390736">
                <a:tc>
                  <a:txBody>
                    <a:bodyPr/>
                    <a:lstStyle/>
                    <a:p>
                      <a:pPr marL="0" marR="0" indent="0" algn="ctr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zh-TW" sz="1050" u="sng">
                          <a:effectLst/>
                          <a:hlinkClick r:id="rId12"/>
                        </a:rPr>
                        <a:t>svelte</a:t>
                      </a:r>
                      <a:endParaRPr lang="zh-TW" sz="1050" b="0" i="0">
                        <a:solidFill>
                          <a:srgbClr val="000000"/>
                        </a:solidFill>
                        <a:effectLst/>
                        <a:latin typeface="Inter"/>
                      </a:endParaRPr>
                    </a:p>
                  </a:txBody>
                  <a:tcPr marL="152400" marR="152400" marT="76200" marB="7620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zh-TW" sz="1050" u="sng">
                          <a:effectLst/>
                          <a:hlinkClick r:id="rId13"/>
                        </a:rPr>
                        <a:t>svelte-ts</a:t>
                      </a:r>
                      <a:endParaRPr lang="zh-TW" sz="1050" b="0" i="0">
                        <a:solidFill>
                          <a:srgbClr val="000000"/>
                        </a:solidFill>
                        <a:effectLst/>
                        <a:latin typeface="Inter"/>
                      </a:endParaRPr>
                    </a:p>
                  </a:txBody>
                  <a:tcPr marL="152400" marR="152400" marT="76200" marB="76200" anchor="ctr"/>
                </a:tc>
                <a:extLst>
                  <a:ext uri="{0D108BD9-81ED-4DB2-BD59-A6C34878D82A}">
                    <a16:rowId xmlns:a16="http://schemas.microsoft.com/office/drawing/2014/main" val="3715950483"/>
                  </a:ext>
                </a:extLst>
              </a:tr>
              <a:tr h="390736">
                <a:tc>
                  <a:txBody>
                    <a:bodyPr/>
                    <a:lstStyle/>
                    <a:p>
                      <a:pPr marL="0" marR="0" indent="0" algn="ctr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zh-TW" sz="1050" u="sng">
                          <a:effectLst/>
                          <a:hlinkClick r:id="rId14"/>
                        </a:rPr>
                        <a:t>solid</a:t>
                      </a:r>
                      <a:endParaRPr lang="zh-TW" sz="1050" b="0" i="0">
                        <a:solidFill>
                          <a:srgbClr val="000000"/>
                        </a:solidFill>
                        <a:effectLst/>
                        <a:latin typeface="Inter"/>
                      </a:endParaRPr>
                    </a:p>
                  </a:txBody>
                  <a:tcPr marL="152400" marR="152400" marT="76200" marB="7620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zh-TW" sz="1050" u="sng">
                          <a:effectLst/>
                          <a:hlinkClick r:id="rId15"/>
                        </a:rPr>
                        <a:t>solid-ts</a:t>
                      </a:r>
                      <a:endParaRPr lang="zh-TW" sz="1050" b="0" i="0">
                        <a:solidFill>
                          <a:srgbClr val="000000"/>
                        </a:solidFill>
                        <a:effectLst/>
                        <a:latin typeface="Inter"/>
                      </a:endParaRPr>
                    </a:p>
                  </a:txBody>
                  <a:tcPr marL="152400" marR="152400" marT="76200" marB="76200" anchor="ctr"/>
                </a:tc>
                <a:extLst>
                  <a:ext uri="{0D108BD9-81ED-4DB2-BD59-A6C34878D82A}">
                    <a16:rowId xmlns:a16="http://schemas.microsoft.com/office/drawing/2014/main" val="2153877663"/>
                  </a:ext>
                </a:extLst>
              </a:tr>
              <a:tr h="390736">
                <a:tc>
                  <a:txBody>
                    <a:bodyPr/>
                    <a:lstStyle/>
                    <a:p>
                      <a:pPr marL="0" marR="0" indent="0" algn="ctr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zh-TW" sz="1050" u="sng">
                          <a:effectLst/>
                          <a:hlinkClick r:id="rId16"/>
                        </a:rPr>
                        <a:t>qwik</a:t>
                      </a:r>
                      <a:endParaRPr lang="zh-TW" sz="1050" b="0" i="0">
                        <a:solidFill>
                          <a:srgbClr val="000000"/>
                        </a:solidFill>
                        <a:effectLst/>
                        <a:latin typeface="Inter"/>
                      </a:endParaRPr>
                    </a:p>
                  </a:txBody>
                  <a:tcPr marL="152400" marR="152400" marT="76200" marB="7620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zh-TW" sz="1050" u="sng" dirty="0">
                          <a:effectLst/>
                          <a:hlinkClick r:id="rId17"/>
                        </a:rPr>
                        <a:t>qwik-ts</a:t>
                      </a:r>
                      <a:endParaRPr lang="zh-TW" sz="1050" b="0" i="0" dirty="0">
                        <a:solidFill>
                          <a:srgbClr val="000000"/>
                        </a:solidFill>
                        <a:effectLst/>
                        <a:latin typeface="Inter"/>
                      </a:endParaRPr>
                    </a:p>
                  </a:txBody>
                  <a:tcPr marL="152400" marR="152400" marT="76200" marB="76200" anchor="ctr"/>
                </a:tc>
                <a:extLst>
                  <a:ext uri="{0D108BD9-81ED-4DB2-BD59-A6C34878D82A}">
                    <a16:rowId xmlns:a16="http://schemas.microsoft.com/office/drawing/2014/main" val="3909888180"/>
                  </a:ext>
                </a:extLst>
              </a:tr>
            </a:tbl>
          </a:graphicData>
        </a:graphic>
      </p:graphicFrame>
      <p:pic>
        <p:nvPicPr>
          <p:cNvPr id="9" name="圖片 8" descr="Vite downloads">
            <a:extLst>
              <a:ext uri="{FF2B5EF4-FFF2-40B4-BE49-F238E27FC236}">
                <a16:creationId xmlns:a16="http://schemas.microsoft.com/office/drawing/2014/main" id="{4E9C2FBC-0EF2-91D3-DDCA-B19DE8C92DE2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478066" y="2147430"/>
            <a:ext cx="6468975" cy="35067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200" b="1">
                <a:solidFill>
                  <a:srgbClr val="2563EB"/>
                </a:solidFill>
                <a:latin typeface="Noto Sans"/>
              </a:rPr>
              <a:t>【十三、基本 React 專案結構】 </a:t>
            </a:r>
            <a:r>
              <a:rPr sz="2200" b="1">
                <a:solidFill>
                  <a:srgbClr val="0F172A"/>
                </a:solidFill>
                <a:latin typeface="Noto Sans"/>
              </a:rPr>
              <a:t>解析 Vite 初始化後的標準目錄結構與各檔案核心職責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75569"/>
                </a:solidFill>
                <a:latin typeface="Noto Sans"/>
              </a:rPr>
              <a:t>掌握專案入口、配置檔與主程式的相依關係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475569"/>
                </a:solidFill>
                <a:latin typeface="Noto Sans"/>
              </a:rPr>
              <a:t>AI 輔助前端開發及響應式設計 ｜ Part 1 觀念、架構與開發起步</a:t>
            </a:r>
            <a:r>
              <a:rPr sz="1000" b="1">
                <a:solidFill>
                  <a:srgbClr val="2563EB"/>
                </a:solidFill>
                <a:latin typeface="Noto Sans"/>
              </a:rPr>
              <a:t> ｜ 頁碼：13 / 19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19" y="1645920"/>
            <a:ext cx="4798947" cy="4480560"/>
          </a:xfrm>
          <a:prstGeom prst="roundRect">
            <a:avLst/>
          </a:prstGeom>
          <a:solidFill>
            <a:srgbClr val="EDF2F7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rPr dirty="0"/>
              <a:t>📂 Vite </a:t>
            </a:r>
            <a:r>
              <a:rPr dirty="0" err="1"/>
              <a:t>初始化原生檔案清單</a:t>
            </a:r>
            <a:endParaRPr dirty="0"/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  <a:latin typeface="Liberation Mono"/>
              </a:defRPr>
            </a:pPr>
            <a:r>
              <a:rPr sz="1400" dirty="0"/>
              <a:t>my-react-app/</a:t>
            </a:r>
            <a:br>
              <a:rPr sz="1400" dirty="0"/>
            </a:br>
            <a:r>
              <a:rPr sz="1400" dirty="0"/>
              <a:t>├── </a:t>
            </a:r>
            <a:r>
              <a:rPr sz="1400" dirty="0" err="1"/>
              <a:t>node_modules</a:t>
            </a:r>
            <a:r>
              <a:rPr sz="1400" dirty="0"/>
              <a:t>/         # </a:t>
            </a:r>
            <a:r>
              <a:rPr sz="1400" dirty="0" err="1"/>
              <a:t>下載的第三方套件庫</a:t>
            </a:r>
            <a:br>
              <a:rPr sz="1400" dirty="0"/>
            </a:br>
            <a:r>
              <a:rPr sz="1400" dirty="0"/>
              <a:t>├── public/               # </a:t>
            </a:r>
            <a:r>
              <a:rPr sz="1400" dirty="0" err="1"/>
              <a:t>靜態資源</a:t>
            </a:r>
            <a:r>
              <a:rPr sz="1400" dirty="0"/>
              <a:t> (</a:t>
            </a:r>
            <a:r>
              <a:rPr sz="1400" dirty="0" err="1"/>
              <a:t>圖標、favicon</a:t>
            </a:r>
            <a:r>
              <a:rPr sz="1400" dirty="0"/>
              <a:t>)</a:t>
            </a:r>
            <a:br>
              <a:rPr sz="1400" dirty="0"/>
            </a:br>
            <a:r>
              <a:rPr sz="1400" dirty="0"/>
              <a:t>│   └── </a:t>
            </a:r>
            <a:r>
              <a:rPr sz="1400" dirty="0" err="1"/>
              <a:t>vite.svg</a:t>
            </a:r>
            <a:br>
              <a:rPr sz="1400" dirty="0"/>
            </a:br>
            <a:r>
              <a:rPr sz="1400" dirty="0"/>
              <a:t>├── </a:t>
            </a:r>
            <a:r>
              <a:rPr sz="1400" dirty="0" err="1"/>
              <a:t>src</a:t>
            </a:r>
            <a:r>
              <a:rPr sz="1400" dirty="0"/>
              <a:t>/                  # </a:t>
            </a:r>
            <a:r>
              <a:rPr sz="1400" dirty="0" err="1"/>
              <a:t>核心原始程式碼</a:t>
            </a:r>
            <a:br>
              <a:rPr sz="1400" dirty="0"/>
            </a:br>
            <a:r>
              <a:rPr sz="1400" dirty="0"/>
              <a:t>│   ├── assets/           # </a:t>
            </a:r>
            <a:r>
              <a:rPr sz="1400" dirty="0" err="1"/>
              <a:t>圖檔與靜態媒體</a:t>
            </a:r>
            <a:br>
              <a:rPr sz="1400" dirty="0"/>
            </a:br>
            <a:r>
              <a:rPr sz="1400" dirty="0"/>
              <a:t>│   ├── </a:t>
            </a:r>
            <a:r>
              <a:rPr sz="1400" dirty="0" err="1"/>
              <a:t>App.css</a:t>
            </a:r>
            <a:r>
              <a:rPr sz="1400" dirty="0"/>
              <a:t>           # </a:t>
            </a:r>
            <a:r>
              <a:rPr sz="1400" dirty="0" err="1"/>
              <a:t>主元件樣式</a:t>
            </a:r>
            <a:br>
              <a:rPr sz="1400" dirty="0"/>
            </a:br>
            <a:r>
              <a:rPr sz="1400" dirty="0"/>
              <a:t>│   ├── </a:t>
            </a:r>
            <a:r>
              <a:rPr sz="1400" dirty="0" err="1"/>
              <a:t>App.jsx</a:t>
            </a:r>
            <a:r>
              <a:rPr sz="1400" dirty="0"/>
              <a:t>           # </a:t>
            </a:r>
            <a:r>
              <a:rPr sz="1400" dirty="0" err="1"/>
              <a:t>根元件</a:t>
            </a:r>
            <a:r>
              <a:rPr sz="1400" dirty="0"/>
              <a:t> (Root Component)</a:t>
            </a:r>
            <a:br>
              <a:rPr sz="1400" dirty="0"/>
            </a:br>
            <a:r>
              <a:rPr sz="1400" dirty="0"/>
              <a:t>│   ├── </a:t>
            </a:r>
            <a:r>
              <a:rPr sz="1400" dirty="0" err="1"/>
              <a:t>index.css</a:t>
            </a:r>
            <a:r>
              <a:rPr sz="1400" dirty="0"/>
              <a:t>         # </a:t>
            </a:r>
            <a:r>
              <a:rPr sz="1400" dirty="0" err="1"/>
              <a:t>全域基礎樣式</a:t>
            </a:r>
            <a:br>
              <a:rPr sz="1400" dirty="0"/>
            </a:br>
            <a:r>
              <a:rPr sz="1400" dirty="0"/>
              <a:t>│   └── </a:t>
            </a:r>
            <a:r>
              <a:rPr sz="1400" dirty="0" err="1"/>
              <a:t>main.jsx</a:t>
            </a:r>
            <a:r>
              <a:rPr sz="1400" dirty="0"/>
              <a:t>          # JavaScript </a:t>
            </a:r>
            <a:r>
              <a:rPr sz="1400" dirty="0" err="1"/>
              <a:t>執行入口點</a:t>
            </a:r>
            <a:br>
              <a:rPr sz="1400" dirty="0"/>
            </a:br>
            <a:r>
              <a:rPr sz="1400" dirty="0"/>
              <a:t>├── </a:t>
            </a:r>
            <a:r>
              <a:rPr sz="1400" dirty="0" err="1"/>
              <a:t>index.html</a:t>
            </a:r>
            <a:r>
              <a:rPr sz="1400" dirty="0"/>
              <a:t>            # </a:t>
            </a:r>
            <a:r>
              <a:rPr sz="1400" dirty="0" err="1"/>
              <a:t>網頁</a:t>
            </a:r>
            <a:r>
              <a:rPr sz="1400" dirty="0"/>
              <a:t> HTML </a:t>
            </a:r>
            <a:r>
              <a:rPr sz="1400" dirty="0" err="1"/>
              <a:t>入口</a:t>
            </a:r>
            <a:br>
              <a:rPr sz="1400" dirty="0"/>
            </a:br>
            <a:r>
              <a:rPr sz="1400" dirty="0"/>
              <a:t>├── </a:t>
            </a:r>
            <a:r>
              <a:rPr sz="1400" dirty="0" err="1"/>
              <a:t>package.json</a:t>
            </a:r>
            <a:r>
              <a:rPr sz="1400" dirty="0"/>
              <a:t>          # </a:t>
            </a:r>
            <a:r>
              <a:rPr sz="1400" dirty="0" err="1"/>
              <a:t>專案資訊與套件版本清單</a:t>
            </a:r>
            <a:br>
              <a:rPr sz="1400" dirty="0"/>
            </a:br>
            <a:r>
              <a:rPr sz="1400" dirty="0"/>
              <a:t>└── </a:t>
            </a:r>
            <a:r>
              <a:rPr sz="1400" dirty="0" err="1"/>
              <a:t>vite.config.js</a:t>
            </a:r>
            <a:r>
              <a:rPr sz="1400" dirty="0"/>
              <a:t>        # Vite </a:t>
            </a:r>
            <a:r>
              <a:rPr sz="1400" dirty="0" err="1"/>
              <a:t>設定檔</a:t>
            </a:r>
            <a:endParaRPr sz="1400" dirty="0"/>
          </a:p>
        </p:txBody>
      </p:sp>
      <p:sp>
        <p:nvSpPr>
          <p:cNvPr id="6" name="Rounded Rectangle 5"/>
          <p:cNvSpPr/>
          <p:nvPr/>
        </p:nvSpPr>
        <p:spPr>
          <a:xfrm>
            <a:off x="5669280" y="1645920"/>
            <a:ext cx="5790895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rPr dirty="0"/>
              <a:t>🔑 </a:t>
            </a:r>
            <a:r>
              <a:rPr dirty="0" err="1"/>
              <a:t>核心檔案角色深度解析</a:t>
            </a:r>
            <a:endParaRPr dirty="0"/>
          </a:p>
          <a:p>
            <a:pPr>
              <a:spcBef>
                <a:spcPts val="800"/>
              </a:spcBef>
            </a:pPr>
            <a:r>
              <a:rPr sz="1600" b="1" dirty="0">
                <a:solidFill>
                  <a:srgbClr val="0F172A"/>
                </a:solidFill>
              </a:rPr>
              <a:t>• </a:t>
            </a:r>
            <a:r>
              <a:rPr sz="1600" b="1" dirty="0" err="1">
                <a:solidFill>
                  <a:srgbClr val="0F172A"/>
                </a:solidFill>
              </a:rPr>
              <a:t>index.html</a:t>
            </a:r>
            <a:r>
              <a:rPr sz="1600" b="1" dirty="0">
                <a:solidFill>
                  <a:srgbClr val="0F172A"/>
                </a:solidFill>
              </a:rPr>
              <a:t>：
  </a:t>
            </a:r>
            <a:r>
              <a:rPr sz="1400" dirty="0" err="1">
                <a:solidFill>
                  <a:srgbClr val="475569"/>
                </a:solidFill>
              </a:rPr>
              <a:t>單頁應用</a:t>
            </a:r>
            <a:r>
              <a:rPr sz="1400" dirty="0">
                <a:solidFill>
                  <a:srgbClr val="475569"/>
                </a:solidFill>
              </a:rPr>
              <a:t> (SPA) </a:t>
            </a:r>
            <a:r>
              <a:rPr sz="1400" dirty="0" err="1">
                <a:solidFill>
                  <a:srgbClr val="475569"/>
                </a:solidFill>
              </a:rPr>
              <a:t>的唯一</a:t>
            </a:r>
            <a:r>
              <a:rPr sz="1400" dirty="0">
                <a:solidFill>
                  <a:srgbClr val="475569"/>
                </a:solidFill>
              </a:rPr>
              <a:t> HTML </a:t>
            </a:r>
            <a:r>
              <a:rPr sz="1400" dirty="0" err="1">
                <a:solidFill>
                  <a:srgbClr val="475569"/>
                </a:solidFill>
              </a:rPr>
              <a:t>頁面，包含</a:t>
            </a:r>
            <a:r>
              <a:rPr sz="1400" dirty="0">
                <a:solidFill>
                  <a:srgbClr val="475569"/>
                </a:solidFill>
              </a:rPr>
              <a:t> &lt;div id="root"&gt;&lt;/div&gt; </a:t>
            </a:r>
            <a:r>
              <a:rPr sz="1400" dirty="0" err="1">
                <a:solidFill>
                  <a:srgbClr val="475569"/>
                </a:solidFill>
              </a:rPr>
              <a:t>作為掛載點</a:t>
            </a:r>
            <a:r>
              <a:rPr sz="1400" dirty="0">
                <a:solidFill>
                  <a:srgbClr val="475569"/>
                </a:solidFill>
              </a:rPr>
              <a:t>。</a:t>
            </a:r>
          </a:p>
          <a:p>
            <a:pPr>
              <a:spcBef>
                <a:spcPts val="800"/>
              </a:spcBef>
            </a:pPr>
            <a:r>
              <a:rPr sz="1600" b="1" dirty="0">
                <a:solidFill>
                  <a:srgbClr val="0F172A"/>
                </a:solidFill>
              </a:rPr>
              <a:t>• </a:t>
            </a:r>
            <a:r>
              <a:rPr sz="1600" b="1" dirty="0" err="1">
                <a:solidFill>
                  <a:srgbClr val="0F172A"/>
                </a:solidFill>
              </a:rPr>
              <a:t>src</a:t>
            </a:r>
            <a:r>
              <a:rPr sz="1600" b="1" dirty="0">
                <a:solidFill>
                  <a:srgbClr val="0F172A"/>
                </a:solidFill>
              </a:rPr>
              <a:t>/</a:t>
            </a:r>
            <a:r>
              <a:rPr sz="1600" b="1" dirty="0" err="1">
                <a:solidFill>
                  <a:srgbClr val="0F172A"/>
                </a:solidFill>
              </a:rPr>
              <a:t>main.jsx</a:t>
            </a:r>
            <a:r>
              <a:rPr sz="1600" b="1" dirty="0">
                <a:solidFill>
                  <a:srgbClr val="0F172A"/>
                </a:solidFill>
              </a:rPr>
              <a:t>：
  </a:t>
            </a:r>
            <a:r>
              <a:rPr sz="1400" dirty="0" err="1">
                <a:solidFill>
                  <a:srgbClr val="475569"/>
                </a:solidFill>
              </a:rPr>
              <a:t>透過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ReactDOM.createRoot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將</a:t>
            </a:r>
            <a:r>
              <a:rPr sz="1400" dirty="0">
                <a:solidFill>
                  <a:srgbClr val="475569"/>
                </a:solidFill>
              </a:rPr>
              <a:t> &lt;App /&gt; </a:t>
            </a:r>
            <a:r>
              <a:rPr sz="1400" dirty="0" err="1">
                <a:solidFill>
                  <a:srgbClr val="475569"/>
                </a:solidFill>
              </a:rPr>
              <a:t>掛載至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index.html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的</a:t>
            </a:r>
            <a:r>
              <a:rPr sz="1400" dirty="0">
                <a:solidFill>
                  <a:srgbClr val="475569"/>
                </a:solidFill>
              </a:rPr>
              <a:t> root </a:t>
            </a:r>
            <a:r>
              <a:rPr sz="1400" dirty="0" err="1">
                <a:solidFill>
                  <a:srgbClr val="475569"/>
                </a:solidFill>
              </a:rPr>
              <a:t>節點</a:t>
            </a:r>
            <a:r>
              <a:rPr sz="1400" dirty="0">
                <a:solidFill>
                  <a:srgbClr val="475569"/>
                </a:solidFill>
              </a:rPr>
              <a:t>。</a:t>
            </a:r>
          </a:p>
          <a:p>
            <a:pPr>
              <a:spcBef>
                <a:spcPts val="800"/>
              </a:spcBef>
            </a:pPr>
            <a:r>
              <a:rPr sz="1600" b="1" dirty="0">
                <a:solidFill>
                  <a:srgbClr val="0F172A"/>
                </a:solidFill>
              </a:rPr>
              <a:t>• </a:t>
            </a:r>
            <a:r>
              <a:rPr sz="1600" b="1" dirty="0" err="1">
                <a:solidFill>
                  <a:srgbClr val="0F172A"/>
                </a:solidFill>
              </a:rPr>
              <a:t>src</a:t>
            </a:r>
            <a:r>
              <a:rPr sz="1600" b="1" dirty="0">
                <a:solidFill>
                  <a:srgbClr val="0F172A"/>
                </a:solidFill>
              </a:rPr>
              <a:t>/</a:t>
            </a:r>
            <a:r>
              <a:rPr sz="1600" b="1" dirty="0" err="1">
                <a:solidFill>
                  <a:srgbClr val="0F172A"/>
                </a:solidFill>
              </a:rPr>
              <a:t>App.jsx</a:t>
            </a:r>
            <a:r>
              <a:rPr sz="1600" b="1" dirty="0">
                <a:solidFill>
                  <a:srgbClr val="0F172A"/>
                </a:solidFill>
              </a:rPr>
              <a:t>：
  </a:t>
            </a:r>
            <a:r>
              <a:rPr sz="1400" dirty="0" err="1">
                <a:solidFill>
                  <a:srgbClr val="475569"/>
                </a:solidFill>
              </a:rPr>
              <a:t>全站的核心根元件，組織並調度各個子元件的排版與資料流</a:t>
            </a:r>
            <a:r>
              <a:rPr sz="1400" dirty="0">
                <a:solidFill>
                  <a:srgbClr val="475569"/>
                </a:solidFill>
              </a:rPr>
              <a:t>。</a:t>
            </a:r>
          </a:p>
          <a:p>
            <a:pPr>
              <a:spcBef>
                <a:spcPts val="800"/>
              </a:spcBef>
            </a:pPr>
            <a:r>
              <a:rPr sz="1600" b="1" dirty="0">
                <a:solidFill>
                  <a:srgbClr val="0F172A"/>
                </a:solidFill>
              </a:rPr>
              <a:t>• </a:t>
            </a:r>
            <a:r>
              <a:rPr sz="1600" b="1" dirty="0" err="1">
                <a:solidFill>
                  <a:srgbClr val="0F172A"/>
                </a:solidFill>
              </a:rPr>
              <a:t>package.json</a:t>
            </a:r>
            <a:r>
              <a:rPr sz="1600" b="1" dirty="0">
                <a:solidFill>
                  <a:srgbClr val="0F172A"/>
                </a:solidFill>
              </a:rPr>
              <a:t>：
  </a:t>
            </a:r>
            <a:r>
              <a:rPr sz="1400" dirty="0" err="1">
                <a:solidFill>
                  <a:srgbClr val="475569"/>
                </a:solidFill>
              </a:rPr>
              <a:t>記錄專案依賴</a:t>
            </a:r>
            <a:r>
              <a:rPr sz="1400" dirty="0">
                <a:solidFill>
                  <a:srgbClr val="475569"/>
                </a:solidFill>
              </a:rPr>
              <a:t> (dependencies) </a:t>
            </a:r>
            <a:r>
              <a:rPr sz="1400" dirty="0" err="1">
                <a:solidFill>
                  <a:srgbClr val="475569"/>
                </a:solidFill>
              </a:rPr>
              <a:t>與執行腳本</a:t>
            </a:r>
            <a:r>
              <a:rPr sz="1400" dirty="0">
                <a:solidFill>
                  <a:srgbClr val="475569"/>
                </a:solidFill>
              </a:rPr>
              <a:t> (scripts: dev, build, preview)。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1077859" cy="58990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200" b="1">
                <a:solidFill>
                  <a:srgbClr val="2563EB"/>
                </a:solidFill>
                <a:latin typeface="Noto Sans"/>
              </a:rPr>
              <a:t>【十四、建議專案結構】 </a:t>
            </a:r>
            <a:r>
              <a:rPr sz="2200" b="1">
                <a:solidFill>
                  <a:srgbClr val="0F172A"/>
                </a:solidFill>
                <a:latin typeface="Noto Sans"/>
              </a:rPr>
              <a:t>適合 AI 協作的前端模組化目錄架構 (Scalable Architecture)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75569"/>
                </a:solidFill>
                <a:latin typeface="Noto Sans"/>
              </a:rPr>
              <a:t>元件、假資料、樣式分門別類，避免所有程式碼塞在單一檔案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475569"/>
                </a:solidFill>
                <a:latin typeface="Noto Sans"/>
              </a:rPr>
              <a:t>AI 輔助前端開發及響應式設計 ｜ Part 1 觀念、架構與開發起步</a:t>
            </a:r>
            <a:r>
              <a:rPr sz="1000" b="1">
                <a:solidFill>
                  <a:srgbClr val="2563EB"/>
                </a:solidFill>
                <a:latin typeface="Noto Sans"/>
              </a:rPr>
              <a:t> ｜ 頁碼：14 / 19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4754880" cy="4480560"/>
          </a:xfrm>
          <a:prstGeom prst="roundRect">
            <a:avLst/>
          </a:prstGeom>
          <a:solidFill>
            <a:srgbClr val="EDF2F7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rPr dirty="0"/>
              <a:t>📁 </a:t>
            </a:r>
            <a:r>
              <a:rPr dirty="0" err="1"/>
              <a:t>實戰推薦的</a:t>
            </a:r>
            <a:r>
              <a:rPr dirty="0"/>
              <a:t> </a:t>
            </a:r>
            <a:r>
              <a:rPr dirty="0" err="1"/>
              <a:t>src</a:t>
            </a:r>
            <a:r>
              <a:rPr dirty="0"/>
              <a:t>/ </a:t>
            </a:r>
            <a:r>
              <a:rPr dirty="0" err="1"/>
              <a:t>目錄劃分</a:t>
            </a:r>
            <a:endParaRPr dirty="0"/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  <a:latin typeface="Liberation Mono"/>
              </a:defRPr>
            </a:pPr>
            <a:r>
              <a:rPr sz="1400" dirty="0" err="1"/>
              <a:t>src</a:t>
            </a:r>
            <a:r>
              <a:rPr sz="1400" dirty="0"/>
              <a:t>/</a:t>
            </a:r>
            <a:br>
              <a:rPr sz="1400" dirty="0"/>
            </a:br>
            <a:r>
              <a:rPr sz="1400" dirty="0"/>
              <a:t>├── components/       # </a:t>
            </a:r>
            <a:r>
              <a:rPr sz="1400" dirty="0" err="1"/>
              <a:t>獨立</a:t>
            </a:r>
            <a:r>
              <a:rPr sz="1400" dirty="0"/>
              <a:t> UI </a:t>
            </a:r>
            <a:r>
              <a:rPr sz="1400" dirty="0" err="1"/>
              <a:t>元件庫</a:t>
            </a:r>
            <a:br>
              <a:rPr sz="1400" dirty="0"/>
            </a:br>
            <a:r>
              <a:rPr sz="1400" dirty="0"/>
              <a:t>│   ├── </a:t>
            </a:r>
            <a:r>
              <a:rPr sz="1400" dirty="0" err="1"/>
              <a:t>Navbar.jsx</a:t>
            </a:r>
            <a:br>
              <a:rPr sz="1400" dirty="0"/>
            </a:br>
            <a:r>
              <a:rPr sz="1400" dirty="0"/>
              <a:t>│   ├── </a:t>
            </a:r>
            <a:r>
              <a:rPr sz="1400" dirty="0" err="1"/>
              <a:t>Hero.jsx</a:t>
            </a:r>
            <a:br>
              <a:rPr sz="1400" dirty="0"/>
            </a:br>
            <a:r>
              <a:rPr sz="1400" dirty="0"/>
              <a:t>│   ├── </a:t>
            </a:r>
            <a:r>
              <a:rPr sz="1400" dirty="0" err="1"/>
              <a:t>SearchForm.jsx</a:t>
            </a:r>
            <a:br>
              <a:rPr sz="1400" dirty="0"/>
            </a:br>
            <a:r>
              <a:rPr sz="1400" dirty="0"/>
              <a:t>│   ├── </a:t>
            </a:r>
            <a:r>
              <a:rPr sz="1400" dirty="0" err="1"/>
              <a:t>RouteCard.jsx</a:t>
            </a:r>
            <a:br>
              <a:rPr sz="1400" dirty="0"/>
            </a:br>
            <a:r>
              <a:rPr sz="1400" dirty="0"/>
              <a:t>│   ├── </a:t>
            </a:r>
            <a:r>
              <a:rPr sz="1400" dirty="0" err="1"/>
              <a:t>NewsSection.jsx</a:t>
            </a:r>
            <a:br>
              <a:rPr sz="1400" dirty="0"/>
            </a:br>
            <a:r>
              <a:rPr sz="1400" dirty="0"/>
              <a:t>│   ├── </a:t>
            </a:r>
            <a:r>
              <a:rPr sz="1400" dirty="0" err="1"/>
              <a:t>FAQSection.jsx</a:t>
            </a:r>
            <a:br>
              <a:rPr sz="1400" dirty="0"/>
            </a:br>
            <a:r>
              <a:rPr sz="1400" dirty="0"/>
              <a:t>│   └── </a:t>
            </a:r>
            <a:r>
              <a:rPr sz="1400" dirty="0" err="1"/>
              <a:t>Footer.jsx</a:t>
            </a:r>
            <a:br>
              <a:rPr sz="1400" dirty="0"/>
            </a:br>
            <a:r>
              <a:rPr sz="1400" dirty="0"/>
              <a:t>├── data/             # Mock Data </a:t>
            </a:r>
            <a:r>
              <a:rPr sz="1400" dirty="0" err="1"/>
              <a:t>靜態假資料</a:t>
            </a:r>
            <a:br>
              <a:rPr sz="1400" dirty="0"/>
            </a:br>
            <a:r>
              <a:rPr sz="1400" dirty="0"/>
              <a:t>│   └── </a:t>
            </a:r>
            <a:r>
              <a:rPr sz="1400" dirty="0" err="1"/>
              <a:t>mockFerryRoutes.js</a:t>
            </a:r>
            <a:br>
              <a:rPr sz="1400" dirty="0"/>
            </a:br>
            <a:r>
              <a:rPr sz="1400" dirty="0"/>
              <a:t>├── styles/           # </a:t>
            </a:r>
            <a:r>
              <a:rPr sz="1400" dirty="0" err="1"/>
              <a:t>拆分模組化</a:t>
            </a:r>
            <a:r>
              <a:rPr sz="1400" dirty="0"/>
              <a:t> CSS </a:t>
            </a:r>
            <a:r>
              <a:rPr sz="1400" dirty="0" err="1"/>
              <a:t>樣式</a:t>
            </a:r>
            <a:br>
              <a:rPr sz="1400" dirty="0"/>
            </a:br>
            <a:r>
              <a:rPr sz="1400" dirty="0"/>
              <a:t>│   ├── </a:t>
            </a:r>
            <a:r>
              <a:rPr sz="1400" dirty="0" err="1"/>
              <a:t>global.css</a:t>
            </a:r>
            <a:br>
              <a:rPr sz="1400" dirty="0"/>
            </a:br>
            <a:r>
              <a:rPr sz="1400" dirty="0"/>
              <a:t>│   └── </a:t>
            </a:r>
            <a:r>
              <a:rPr sz="1400" dirty="0" err="1"/>
              <a:t>components.css</a:t>
            </a:r>
            <a:br>
              <a:rPr sz="1400" dirty="0"/>
            </a:br>
            <a:r>
              <a:rPr sz="1400" dirty="0"/>
              <a:t>├── </a:t>
            </a:r>
            <a:r>
              <a:rPr sz="1400" dirty="0" err="1"/>
              <a:t>App.jsx</a:t>
            </a:r>
            <a:r>
              <a:rPr sz="1400" dirty="0"/>
              <a:t>           # </a:t>
            </a:r>
            <a:r>
              <a:rPr sz="1400" dirty="0" err="1"/>
              <a:t>組織各元件之主頁面</a:t>
            </a:r>
            <a:br>
              <a:rPr sz="1400" dirty="0"/>
            </a:br>
            <a:r>
              <a:rPr sz="1400" dirty="0"/>
              <a:t>└── </a:t>
            </a:r>
            <a:r>
              <a:rPr sz="1400" dirty="0" err="1"/>
              <a:t>main.jsx</a:t>
            </a:r>
            <a:r>
              <a:rPr sz="1400" dirty="0"/>
              <a:t>          # </a:t>
            </a:r>
            <a:r>
              <a:rPr sz="1400" dirty="0" err="1"/>
              <a:t>掛載入口</a:t>
            </a:r>
            <a:endParaRPr sz="1400" dirty="0"/>
          </a:p>
        </p:txBody>
      </p:sp>
      <p:sp>
        <p:nvSpPr>
          <p:cNvPr id="6" name="Rounded Rectangle 5"/>
          <p:cNvSpPr/>
          <p:nvPr/>
        </p:nvSpPr>
        <p:spPr>
          <a:xfrm>
            <a:off x="5852160" y="1645920"/>
            <a:ext cx="5608015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defRPr sz="1500" b="1">
                <a:solidFill>
                  <a:srgbClr val="0D9488"/>
                </a:solidFill>
              </a:defRPr>
            </a:pPr>
            <a:r>
              <a:t>🎯 良好目錄結構對 AI 協作的巨大好處</a:t>
            </a: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0F172A"/>
                </a:solidFill>
              </a:rPr>
              <a:t>• 1. 縮小 Context 範圍，降低 AI 幻覺：
  </a:t>
            </a:r>
            <a:r>
              <a:rPr sz="1400">
                <a:solidFill>
                  <a:srgbClr val="475569"/>
                </a:solidFill>
              </a:rPr>
              <a:t>提示詞只需聚焦修改單一元件檔 (如 SearchForm.jsx)，AI 不會因為檔案過大而漏掉其他邏輯。</a:t>
            </a: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0F172A"/>
                </a:solidFill>
              </a:rPr>
              <a:t>• 2. 職責分離 (Separation of Concerns)：
  </a:t>
            </a:r>
            <a:r>
              <a:rPr sz="1400">
                <a:solidFill>
                  <a:srgbClr val="475569"/>
                </a:solidFill>
              </a:rPr>
              <a:t>UI 元件歸 UI、假資料歸 data/、樣式歸 styles/，程式碼乾淨好維護。</a:t>
            </a: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0F172A"/>
                </a:solidFill>
              </a:rPr>
              <a:t>• 3. 團隊協作與 Git 合併不易衝突：
  </a:t>
            </a:r>
            <a:r>
              <a:rPr sz="1400">
                <a:solidFill>
                  <a:srgbClr val="475569"/>
                </a:solidFill>
              </a:rPr>
              <a:t>多人或多輪 Prompt 分工開發不同 Component，不會同時卡在 App.jsx。</a:t>
            </a: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0F172A"/>
                </a:solidFill>
              </a:rPr>
              <a:t>• 4. 提升元件重用價值：
  </a:t>
            </a:r>
            <a:r>
              <a:rPr sz="1400">
                <a:solidFill>
                  <a:srgbClr val="475569"/>
                </a:solidFill>
              </a:rPr>
              <a:t>RouteCard 等通用元件可隨時抽換或移植到其他頁面使用。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1201076" cy="58990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200" b="1" dirty="0">
                <a:solidFill>
                  <a:srgbClr val="2563EB"/>
                </a:solidFill>
                <a:latin typeface="Noto Sans"/>
              </a:rPr>
              <a:t>【</a:t>
            </a:r>
            <a:r>
              <a:rPr sz="2200" b="1" dirty="0" err="1">
                <a:solidFill>
                  <a:srgbClr val="2563EB"/>
                </a:solidFill>
                <a:latin typeface="Noto Sans"/>
              </a:rPr>
              <a:t>十五、如何讓</a:t>
            </a:r>
            <a:r>
              <a:rPr sz="2200" b="1" dirty="0">
                <a:solidFill>
                  <a:srgbClr val="2563EB"/>
                </a:solidFill>
                <a:latin typeface="Noto Sans"/>
              </a:rPr>
              <a:t> AI </a:t>
            </a:r>
            <a:r>
              <a:rPr sz="2200" b="1" dirty="0" err="1">
                <a:solidFill>
                  <a:srgbClr val="2563EB"/>
                </a:solidFill>
                <a:latin typeface="Noto Sans"/>
              </a:rPr>
              <a:t>寫前端</a:t>
            </a:r>
            <a:r>
              <a:rPr sz="2200" b="1" dirty="0">
                <a:solidFill>
                  <a:srgbClr val="2563EB"/>
                </a:solidFill>
                <a:latin typeface="Noto Sans"/>
              </a:rPr>
              <a:t>】 </a:t>
            </a:r>
            <a:r>
              <a:rPr sz="2200" b="1" dirty="0" err="1">
                <a:solidFill>
                  <a:srgbClr val="0F172A"/>
                </a:solidFill>
                <a:latin typeface="Noto Sans"/>
              </a:rPr>
              <a:t>拒絕模糊指令</a:t>
            </a:r>
            <a:r>
              <a:rPr sz="2200" b="1" dirty="0">
                <a:solidFill>
                  <a:srgbClr val="0F172A"/>
                </a:solidFill>
                <a:latin typeface="Noto Sans"/>
              </a:rPr>
              <a:t>！「</a:t>
            </a:r>
            <a:r>
              <a:rPr sz="2200" b="1" dirty="0" err="1">
                <a:solidFill>
                  <a:srgbClr val="0F172A"/>
                </a:solidFill>
                <a:latin typeface="Noto Sans"/>
              </a:rPr>
              <a:t>一句話做網站」只會產出難以維護的爛代碼</a:t>
            </a:r>
            <a:endParaRPr sz="2200" b="1" dirty="0">
              <a:solidFill>
                <a:srgbClr val="0F172A"/>
              </a:solidFill>
              <a:latin typeface="Noto Sans"/>
            </a:endParaRPr>
          </a:p>
          <a:p>
            <a:pPr>
              <a:spcBef>
                <a:spcPts val="400"/>
              </a:spcBef>
            </a:pPr>
            <a:r>
              <a:rPr sz="1300" dirty="0" err="1">
                <a:solidFill>
                  <a:srgbClr val="475569"/>
                </a:solidFill>
                <a:latin typeface="Noto Sans"/>
              </a:rPr>
              <a:t>了解錯誤</a:t>
            </a:r>
            <a:r>
              <a:rPr sz="1300" dirty="0">
                <a:solidFill>
                  <a:srgbClr val="475569"/>
                </a:solidFill>
                <a:latin typeface="Noto Sans"/>
              </a:rPr>
              <a:t> Prompt </a:t>
            </a:r>
            <a:r>
              <a:rPr sz="1300" dirty="0" err="1">
                <a:solidFill>
                  <a:srgbClr val="475569"/>
                </a:solidFill>
                <a:latin typeface="Noto Sans"/>
              </a:rPr>
              <a:t>帶來的</a:t>
            </a:r>
            <a:r>
              <a:rPr sz="1300" dirty="0">
                <a:solidFill>
                  <a:srgbClr val="475569"/>
                </a:solidFill>
                <a:latin typeface="Noto Sans"/>
              </a:rPr>
              <a:t> 5 </a:t>
            </a:r>
            <a:r>
              <a:rPr sz="1300" dirty="0" err="1">
                <a:solidFill>
                  <a:srgbClr val="475569"/>
                </a:solidFill>
                <a:latin typeface="Noto Sans"/>
              </a:rPr>
              <a:t>大災難，建立資深前端的指令防線</a:t>
            </a:r>
            <a:endParaRPr sz="1300" dirty="0">
              <a:solidFill>
                <a:srgbClr val="475569"/>
              </a:solidFill>
              <a:latin typeface="Noto San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475569"/>
                </a:solidFill>
                <a:latin typeface="Noto Sans"/>
              </a:rPr>
              <a:t>AI 輔助前端開發及響應式設計 ｜ Part 1 觀念、架構與開發起步</a:t>
            </a:r>
            <a:r>
              <a:rPr sz="1000" b="1">
                <a:solidFill>
                  <a:srgbClr val="2563EB"/>
                </a:solidFill>
                <a:latin typeface="Noto Sans"/>
              </a:rPr>
              <a:t> ｜ 頁碼：15 / 19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defRPr sz="1600" b="1">
                <a:solidFill>
                  <a:srgbClr val="E11D48"/>
                </a:solidFill>
              </a:defRPr>
            </a:pPr>
            <a:r>
              <a:rPr dirty="0"/>
              <a:t>❌ </a:t>
            </a:r>
            <a:r>
              <a:rPr dirty="0" err="1"/>
              <a:t>錯誤的</a:t>
            </a:r>
            <a:r>
              <a:rPr dirty="0"/>
              <a:t> Prompt </a:t>
            </a:r>
            <a:r>
              <a:rPr dirty="0" err="1"/>
              <a:t>範例</a:t>
            </a:r>
            <a:endParaRPr dirty="0"/>
          </a:p>
          <a:p>
            <a:pPr>
              <a:spcBef>
                <a:spcPts val="1000"/>
              </a:spcBef>
              <a:defRPr sz="1400" b="1">
                <a:solidFill>
                  <a:srgbClr val="0F172A"/>
                </a:solidFill>
              </a:defRPr>
            </a:pPr>
            <a:r>
              <a:rPr dirty="0"/>
              <a:t>「</a:t>
            </a:r>
            <a:r>
              <a:rPr dirty="0" err="1"/>
              <a:t>幫我做一個客船查詢網站，要好看、專業、功能完整</a:t>
            </a:r>
            <a:r>
              <a:rPr dirty="0"/>
              <a:t>。」</a:t>
            </a:r>
          </a:p>
          <a:p>
            <a:pPr>
              <a:spcBef>
                <a:spcPts val="1200"/>
              </a:spcBef>
              <a:defRPr sz="1200">
                <a:solidFill>
                  <a:srgbClr val="475569"/>
                </a:solidFill>
              </a:defRPr>
            </a:pPr>
            <a:r>
              <a:rPr sz="1600" dirty="0"/>
              <a:t>【</a:t>
            </a:r>
            <a:r>
              <a:rPr sz="1600" dirty="0" err="1"/>
              <a:t>為什麼這樣問注定失敗</a:t>
            </a:r>
            <a:r>
              <a:rPr sz="1600" dirty="0"/>
              <a:t>？】</a:t>
            </a:r>
            <a:br>
              <a:rPr sz="1600" dirty="0"/>
            </a:br>
            <a:r>
              <a:rPr sz="1600" dirty="0"/>
              <a:t>• AI </a:t>
            </a:r>
            <a:r>
              <a:rPr sz="1600" dirty="0" err="1"/>
              <a:t>不知道誰要用、有什麼船班資料</a:t>
            </a:r>
            <a:r>
              <a:rPr sz="1600" dirty="0"/>
              <a:t>。</a:t>
            </a:r>
            <a:br>
              <a:rPr sz="1600" dirty="0"/>
            </a:br>
            <a:r>
              <a:rPr sz="1600" dirty="0"/>
              <a:t>• AI </a:t>
            </a:r>
            <a:r>
              <a:rPr sz="1600" dirty="0" err="1"/>
              <a:t>不知道要用什麼技術框架</a:t>
            </a:r>
            <a:r>
              <a:rPr sz="1600" dirty="0"/>
              <a:t> (React/Vue/HTML?)。</a:t>
            </a:r>
            <a:br>
              <a:rPr sz="1600" dirty="0"/>
            </a:br>
            <a:r>
              <a:rPr sz="1600" dirty="0"/>
              <a:t>• AI </a:t>
            </a:r>
            <a:r>
              <a:rPr sz="1600" dirty="0" err="1"/>
              <a:t>不知道什麼叫「好看」與「專業</a:t>
            </a:r>
            <a:r>
              <a:rPr sz="1600" dirty="0"/>
              <a:t>」 (</a:t>
            </a:r>
            <a:r>
              <a:rPr sz="1600" dirty="0" err="1"/>
              <a:t>缺乏可量化驗收條件</a:t>
            </a:r>
            <a:r>
              <a:rPr sz="1600" dirty="0"/>
              <a:t>)。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42255" cy="4480560"/>
          </a:xfrm>
          <a:prstGeom prst="roundRect">
            <a:avLst/>
          </a:prstGeom>
          <a:solidFill>
            <a:srgbClr val="EDF2F7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defRPr sz="1600" b="1">
                <a:solidFill>
                  <a:srgbClr val="D97706"/>
                </a:solidFill>
              </a:defRPr>
            </a:pPr>
            <a:r>
              <a:t>⚠️ 模糊指令帶來的 5 大代碼災難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0F172A"/>
                </a:solidFill>
              </a:rPr>
              <a:t>• 1. 單一超大檔案 (Monolithic)：
  </a:t>
            </a:r>
            <a:r>
              <a:rPr sz="1400">
                <a:solidFill>
                  <a:srgbClr val="475569"/>
                </a:solidFill>
              </a:rPr>
              <a:t>把數百行 HTML、CSS、JS 全部塞在 App.jsx 裡。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0F172A"/>
                </a:solidFill>
              </a:rPr>
              <a:t>• 2. 大量 Hardcode 寫死資料：
  </a:t>
            </a:r>
            <a:r>
              <a:rPr sz="1400">
                <a:solidFill>
                  <a:srgbClr val="475569"/>
                </a:solidFill>
              </a:rPr>
              <a:t>按鈕、卡片內容全部寫死，無法抽換或連 API。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0F172A"/>
                </a:solidFill>
              </a:rPr>
              <a:t>• 3. 濫用 Absolute Positioning：
  </a:t>
            </a:r>
            <a:r>
              <a:rPr sz="1400">
                <a:solidFill>
                  <a:srgbClr val="475569"/>
                </a:solidFill>
              </a:rPr>
              <a:t>到處都是 position: absolute; top: 120px，手機版一開全部跑版。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0F172A"/>
                </a:solidFill>
              </a:rPr>
              <a:t>• 4. 缺乏 Component 概念：
  </a:t>
            </a:r>
            <a:r>
              <a:rPr sz="1400">
                <a:solidFill>
                  <a:srgbClr val="475569"/>
                </a:solidFill>
              </a:rPr>
              <a:t>重複的 UI 複製貼上好幾遍，維護極端困難。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0F172A"/>
                </a:solidFill>
              </a:rPr>
              <a:t>• 5. 難以擴充與 Debug：
  </a:t>
            </a:r>
            <a:r>
              <a:rPr sz="1400">
                <a:solidFill>
                  <a:srgbClr val="475569"/>
                </a:solidFill>
              </a:rPr>
              <a:t>只要修改一個小地方，整個網站排版跟著崩壞。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260735" cy="9284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200" b="1" dirty="0">
                <a:solidFill>
                  <a:srgbClr val="2563EB"/>
                </a:solidFill>
                <a:latin typeface="Noto Sans"/>
              </a:rPr>
              <a:t>【</a:t>
            </a:r>
            <a:r>
              <a:rPr sz="2200" b="1" dirty="0" err="1">
                <a:solidFill>
                  <a:srgbClr val="2563EB"/>
                </a:solidFill>
                <a:latin typeface="Noto Sans"/>
              </a:rPr>
              <a:t>十六、好的</a:t>
            </a:r>
            <a:r>
              <a:rPr sz="2200" b="1" dirty="0">
                <a:solidFill>
                  <a:srgbClr val="2563EB"/>
                </a:solidFill>
                <a:latin typeface="Noto Sans"/>
              </a:rPr>
              <a:t> Frontend Prompt】 </a:t>
            </a:r>
            <a:r>
              <a:rPr sz="2200" b="1" dirty="0" err="1">
                <a:solidFill>
                  <a:srgbClr val="0F172A"/>
                </a:solidFill>
                <a:latin typeface="Noto Sans"/>
              </a:rPr>
              <a:t>資深前端結構化</a:t>
            </a:r>
            <a:r>
              <a:rPr sz="2200" b="1" dirty="0">
                <a:solidFill>
                  <a:srgbClr val="0F172A"/>
                </a:solidFill>
                <a:latin typeface="Noto Sans"/>
              </a:rPr>
              <a:t> Prompt </a:t>
            </a:r>
            <a:r>
              <a:rPr sz="2200" b="1" dirty="0" err="1">
                <a:solidFill>
                  <a:srgbClr val="0F172A"/>
                </a:solidFill>
                <a:latin typeface="Noto Sans"/>
              </a:rPr>
              <a:t>範本</a:t>
            </a:r>
            <a:r>
              <a:rPr sz="2200" b="1" dirty="0">
                <a:solidFill>
                  <a:srgbClr val="0F172A"/>
                </a:solidFill>
                <a:latin typeface="Noto Sans"/>
              </a:rPr>
              <a:t> — </a:t>
            </a:r>
            <a:r>
              <a:rPr sz="2200" b="1" dirty="0" err="1">
                <a:solidFill>
                  <a:srgbClr val="0F172A"/>
                </a:solidFill>
                <a:latin typeface="Noto Sans"/>
              </a:rPr>
              <a:t>設定角色、限制與</a:t>
            </a:r>
            <a:r>
              <a:rPr sz="2200" b="1" dirty="0">
                <a:solidFill>
                  <a:srgbClr val="0F172A"/>
                </a:solidFill>
                <a:latin typeface="Noto Sans"/>
              </a:rPr>
              <a:t> 10 </a:t>
            </a:r>
            <a:r>
              <a:rPr sz="2200" b="1" dirty="0" err="1">
                <a:solidFill>
                  <a:srgbClr val="0F172A"/>
                </a:solidFill>
                <a:latin typeface="Noto Sans"/>
              </a:rPr>
              <a:t>大規範</a:t>
            </a:r>
            <a:endParaRPr sz="2200" b="1" dirty="0">
              <a:solidFill>
                <a:srgbClr val="0F172A"/>
              </a:solidFill>
              <a:latin typeface="Noto Sans"/>
            </a:endParaRPr>
          </a:p>
          <a:p>
            <a:pPr>
              <a:spcBef>
                <a:spcPts val="400"/>
              </a:spcBef>
            </a:pPr>
            <a:r>
              <a:rPr sz="1300" dirty="0" err="1">
                <a:solidFill>
                  <a:srgbClr val="475569"/>
                </a:solidFill>
                <a:latin typeface="Noto Sans"/>
              </a:rPr>
              <a:t>透過清晰邊界與驗收標準，引導</a:t>
            </a:r>
            <a:r>
              <a:rPr sz="1300" dirty="0">
                <a:solidFill>
                  <a:srgbClr val="475569"/>
                </a:solidFill>
                <a:latin typeface="Noto Sans"/>
              </a:rPr>
              <a:t> AI </a:t>
            </a:r>
            <a:r>
              <a:rPr sz="1300" dirty="0" err="1">
                <a:solidFill>
                  <a:srgbClr val="475569"/>
                </a:solidFill>
                <a:latin typeface="Noto Sans"/>
              </a:rPr>
              <a:t>產出企業級可維護代碼</a:t>
            </a:r>
            <a:endParaRPr sz="1300" dirty="0">
              <a:solidFill>
                <a:srgbClr val="475569"/>
              </a:solidFill>
              <a:latin typeface="Noto San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475569"/>
                </a:solidFill>
                <a:latin typeface="Noto Sans"/>
              </a:rPr>
              <a:t>AI 輔助前端開發及響應式設計 ｜ Part 1 觀念、架構與開發起步</a:t>
            </a:r>
            <a:r>
              <a:rPr sz="1000" b="1">
                <a:solidFill>
                  <a:srgbClr val="2563EB"/>
                </a:solidFill>
                <a:latin typeface="Noto Sans"/>
              </a:rPr>
              <a:t> ｜ 頁碼：16 / 19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4480560"/>
          </a:xfrm>
          <a:prstGeom prst="roundRect">
            <a:avLst/>
          </a:prstGeom>
          <a:solidFill>
            <a:srgbClr val="EDF2F7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rPr dirty="0"/>
              <a:t>📋 </a:t>
            </a:r>
            <a:r>
              <a:rPr dirty="0" err="1"/>
              <a:t>可直接套用的</a:t>
            </a:r>
            <a:r>
              <a:rPr dirty="0"/>
              <a:t> Senior Frontend Prompt </a:t>
            </a:r>
            <a:r>
              <a:rPr dirty="0" err="1"/>
              <a:t>模板</a:t>
            </a:r>
            <a:endParaRPr dirty="0"/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rPr sz="1400" dirty="0" err="1"/>
              <a:t>你是一名</a:t>
            </a:r>
            <a:r>
              <a:rPr sz="1400" dirty="0"/>
              <a:t> Senior Frontend </a:t>
            </a:r>
            <a:r>
              <a:rPr sz="1400" dirty="0" err="1"/>
              <a:t>Developer。請根據以下網站需求建立</a:t>
            </a:r>
            <a:r>
              <a:rPr sz="1400" dirty="0"/>
              <a:t> React </a:t>
            </a:r>
            <a:r>
              <a:rPr sz="1400" dirty="0" err="1"/>
              <a:t>網站</a:t>
            </a:r>
            <a:r>
              <a:rPr sz="1400" dirty="0"/>
              <a:t>。</a:t>
            </a:r>
            <a:br>
              <a:rPr sz="1400" dirty="0"/>
            </a:br>
            <a:r>
              <a:rPr sz="1400" dirty="0" err="1"/>
              <a:t>技術棧：React</a:t>
            </a:r>
            <a:r>
              <a:rPr sz="1400" dirty="0"/>
              <a:t> (Vite), </a:t>
            </a:r>
            <a:r>
              <a:rPr sz="1400" dirty="0" err="1"/>
              <a:t>模組化</a:t>
            </a:r>
            <a:r>
              <a:rPr sz="1400" dirty="0"/>
              <a:t> CSS。</a:t>
            </a:r>
            <a:br>
              <a:rPr sz="1400" dirty="0"/>
            </a:br>
            <a:br>
              <a:rPr sz="1400" dirty="0"/>
            </a:br>
            <a:r>
              <a:rPr sz="1400" dirty="0"/>
              <a:t>【</a:t>
            </a:r>
            <a:r>
              <a:rPr sz="1400" dirty="0" err="1"/>
              <a:t>架構與編碼</a:t>
            </a:r>
            <a:r>
              <a:rPr sz="1400" dirty="0"/>
              <a:t> 10 </a:t>
            </a:r>
            <a:r>
              <a:rPr sz="1400" dirty="0" err="1"/>
              <a:t>大規範</a:t>
            </a:r>
            <a:r>
              <a:rPr sz="1400" dirty="0"/>
              <a:t>】</a:t>
            </a:r>
            <a:br>
              <a:rPr sz="1400" dirty="0"/>
            </a:br>
            <a:r>
              <a:rPr sz="1400" dirty="0"/>
              <a:t>1. </a:t>
            </a:r>
            <a:r>
              <a:rPr sz="1400" dirty="0" err="1"/>
              <a:t>使用</a:t>
            </a:r>
            <a:r>
              <a:rPr sz="1400" dirty="0"/>
              <a:t> Component Architecture (</a:t>
            </a:r>
            <a:r>
              <a:rPr sz="1400" dirty="0" err="1"/>
              <a:t>元件化架構</a:t>
            </a:r>
            <a:r>
              <a:rPr sz="1400" dirty="0"/>
              <a:t>) </a:t>
            </a:r>
            <a:r>
              <a:rPr sz="1400" dirty="0" err="1"/>
              <a:t>拆分</a:t>
            </a:r>
            <a:r>
              <a:rPr sz="1400" dirty="0"/>
              <a:t> UI。</a:t>
            </a:r>
            <a:br>
              <a:rPr sz="1400" dirty="0"/>
            </a:br>
            <a:r>
              <a:rPr sz="1400" dirty="0"/>
              <a:t>2. </a:t>
            </a:r>
            <a:r>
              <a:rPr sz="1400" dirty="0" err="1"/>
              <a:t>排版優先使用</a:t>
            </a:r>
            <a:r>
              <a:rPr lang="en-US" sz="1400" dirty="0" err="1"/>
              <a:t>Bootstap</a:t>
            </a:r>
            <a:r>
              <a:rPr lang="en-US" sz="1400" dirty="0"/>
              <a:t>,</a:t>
            </a:r>
            <a:r>
              <a:rPr lang="zh-TW" altLang="en-US" sz="1400" dirty="0"/>
              <a:t> </a:t>
            </a:r>
            <a:r>
              <a:rPr sz="1400" dirty="0"/>
              <a:t>Flexbox 與 CSS </a:t>
            </a:r>
            <a:r>
              <a:rPr sz="1400" dirty="0" err="1"/>
              <a:t>Grid，禁止濫用</a:t>
            </a:r>
            <a:r>
              <a:rPr sz="1400" dirty="0"/>
              <a:t> absolute positioning。</a:t>
            </a:r>
            <a:br>
              <a:rPr sz="1400" dirty="0"/>
            </a:br>
            <a:r>
              <a:rPr sz="1400" dirty="0"/>
              <a:t>3. </a:t>
            </a:r>
            <a:r>
              <a:rPr sz="1400" dirty="0" err="1"/>
              <a:t>支援</a:t>
            </a:r>
            <a:r>
              <a:rPr sz="1400" dirty="0"/>
              <a:t> Responsive </a:t>
            </a:r>
            <a:r>
              <a:rPr sz="1400" dirty="0" err="1"/>
              <a:t>Design：Desktop</a:t>
            </a:r>
            <a:r>
              <a:rPr sz="1400" dirty="0"/>
              <a:t> (1200px+), Tablet (768px), Mobile (375px)。</a:t>
            </a:r>
            <a:br>
              <a:rPr sz="1400" dirty="0"/>
            </a:br>
            <a:r>
              <a:rPr sz="1400" dirty="0"/>
              <a:t>4. </a:t>
            </a:r>
            <a:r>
              <a:rPr sz="1400" dirty="0" err="1"/>
              <a:t>重複出現的</a:t>
            </a:r>
            <a:r>
              <a:rPr sz="1400" dirty="0"/>
              <a:t> UI </a:t>
            </a:r>
            <a:r>
              <a:rPr sz="1400" dirty="0" err="1"/>
              <a:t>元素必須建立</a:t>
            </a:r>
            <a:r>
              <a:rPr sz="1400" dirty="0"/>
              <a:t> Reusable Component </a:t>
            </a:r>
            <a:r>
              <a:rPr sz="1400" dirty="0" err="1"/>
              <a:t>並以</a:t>
            </a:r>
            <a:r>
              <a:rPr sz="1400" dirty="0"/>
              <a:t> Props </a:t>
            </a:r>
            <a:r>
              <a:rPr sz="1400" dirty="0" err="1"/>
              <a:t>傳遞資料</a:t>
            </a:r>
            <a:r>
              <a:rPr sz="1400" dirty="0"/>
              <a:t>。</a:t>
            </a:r>
            <a:br>
              <a:rPr sz="1400" dirty="0"/>
            </a:br>
            <a:r>
              <a:rPr sz="1400" dirty="0"/>
              <a:t>5. </a:t>
            </a:r>
            <a:r>
              <a:rPr sz="1400" dirty="0" err="1"/>
              <a:t>嚴格保留</a:t>
            </a:r>
            <a:r>
              <a:rPr sz="1400" dirty="0"/>
              <a:t> UI </a:t>
            </a:r>
            <a:r>
              <a:rPr sz="1400" dirty="0" err="1"/>
              <a:t>設計稿的</a:t>
            </a:r>
            <a:r>
              <a:rPr sz="1400" dirty="0"/>
              <a:t> spacing (</a:t>
            </a:r>
            <a:r>
              <a:rPr sz="1400" dirty="0" err="1"/>
              <a:t>間距</a:t>
            </a:r>
            <a:r>
              <a:rPr sz="1400" dirty="0"/>
              <a:t>)、typography (</a:t>
            </a:r>
            <a:r>
              <a:rPr sz="1400" dirty="0" err="1"/>
              <a:t>字體階層</a:t>
            </a:r>
            <a:r>
              <a:rPr sz="1400" dirty="0"/>
              <a:t>) 與 border-radius。</a:t>
            </a:r>
            <a:br>
              <a:rPr sz="1400" dirty="0"/>
            </a:br>
            <a:r>
              <a:rPr sz="1400" dirty="0"/>
              <a:t>6. </a:t>
            </a:r>
            <a:r>
              <a:rPr sz="1400" dirty="0" err="1"/>
              <a:t>使用</a:t>
            </a:r>
            <a:r>
              <a:rPr sz="1400" dirty="0"/>
              <a:t> Semantic HTML (header, nav, main, section, footer)。</a:t>
            </a:r>
            <a:br>
              <a:rPr sz="1400" dirty="0"/>
            </a:br>
            <a:r>
              <a:rPr sz="1400" dirty="0"/>
              <a:t>7. </a:t>
            </a:r>
            <a:r>
              <a:rPr sz="1400" dirty="0" err="1"/>
              <a:t>程式碼必須結構清晰、附帶必要註解且容易維護</a:t>
            </a:r>
            <a:r>
              <a:rPr lang="zh-TW" altLang="en-US" sz="1400" dirty="0"/>
              <a:t>。</a:t>
            </a:r>
            <a:br>
              <a:rPr lang="zh-TW" altLang="en-US" sz="1400" dirty="0"/>
            </a:br>
            <a:br>
              <a:rPr lang="zh-TW" altLang="en-US" sz="1400" dirty="0"/>
            </a:br>
            <a:r>
              <a:rPr lang="en-US" altLang="zh-TW" sz="1400" dirty="0"/>
              <a:t>【</a:t>
            </a:r>
            <a:r>
              <a:rPr lang="zh-TW" altLang="en-US" sz="1400" dirty="0"/>
              <a:t>產出順序要求</a:t>
            </a:r>
            <a:r>
              <a:rPr lang="en-US" altLang="zh-TW" sz="1400" dirty="0"/>
              <a:t>】</a:t>
            </a:r>
            <a:br>
              <a:rPr lang="en-US" altLang="zh-TW" sz="1400" dirty="0"/>
            </a:br>
            <a:r>
              <a:rPr lang="zh-TW" altLang="en-US" sz="1400" dirty="0"/>
              <a:t>請先列出「</a:t>
            </a:r>
            <a:r>
              <a:rPr lang="en-US" sz="1400" dirty="0"/>
              <a:t>Project Structure (</a:t>
            </a:r>
            <a:r>
              <a:rPr lang="zh-TW" altLang="en-US" sz="1400" dirty="0"/>
              <a:t>目錄結構</a:t>
            </a:r>
            <a:r>
              <a:rPr lang="en-US" altLang="zh-TW" sz="1400" dirty="0"/>
              <a:t>)</a:t>
            </a:r>
            <a:r>
              <a:rPr lang="zh-TW" altLang="en-US" sz="1400" dirty="0"/>
              <a:t>」確認後，再逐一產生各 </a:t>
            </a:r>
            <a:r>
              <a:rPr lang="en-US" sz="1400" dirty="0"/>
              <a:t>Components </a:t>
            </a:r>
            <a:r>
              <a:rPr lang="zh-TW" altLang="en-US" sz="1400" dirty="0"/>
              <a:t>與 </a:t>
            </a:r>
            <a:r>
              <a:rPr lang="en-US" sz="1400" dirty="0"/>
              <a:t>CSS </a:t>
            </a:r>
            <a:r>
              <a:rPr lang="zh-TW" altLang="en-US" sz="1400" dirty="0"/>
              <a:t>代碼。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53860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200" b="1" dirty="0">
                <a:solidFill>
                  <a:srgbClr val="2563EB"/>
                </a:solidFill>
                <a:latin typeface="Noto Sans"/>
              </a:rPr>
              <a:t>【</a:t>
            </a:r>
            <a:r>
              <a:rPr sz="2200" b="1" dirty="0" err="1">
                <a:solidFill>
                  <a:srgbClr val="2563EB"/>
                </a:solidFill>
                <a:latin typeface="Noto Sans"/>
              </a:rPr>
              <a:t>十七、Figma</a:t>
            </a:r>
            <a:r>
              <a:rPr sz="2200" b="1" dirty="0">
                <a:solidFill>
                  <a:srgbClr val="2563EB"/>
                </a:solidFill>
                <a:latin typeface="Noto Sans"/>
              </a:rPr>
              <a:t> → Code】 </a:t>
            </a:r>
            <a:r>
              <a:rPr sz="2200" b="1" dirty="0">
                <a:solidFill>
                  <a:srgbClr val="0F172A"/>
                </a:solidFill>
                <a:latin typeface="Noto Sans"/>
              </a:rPr>
              <a:t>將 UI </a:t>
            </a:r>
            <a:r>
              <a:rPr sz="2200" b="1" dirty="0" err="1">
                <a:solidFill>
                  <a:srgbClr val="0F172A"/>
                </a:solidFill>
                <a:latin typeface="Noto Sans"/>
              </a:rPr>
              <a:t>設計稿無縫轉換為前端代碼</a:t>
            </a:r>
            <a:endParaRPr lang="en-US" sz="2200" b="1" dirty="0">
              <a:solidFill>
                <a:srgbClr val="0F172A"/>
              </a:solidFill>
              <a:latin typeface="Noto Sans"/>
            </a:endParaRPr>
          </a:p>
          <a:p>
            <a:r>
              <a:rPr sz="1300" dirty="0">
                <a:solidFill>
                  <a:srgbClr val="475569"/>
                </a:solidFill>
                <a:latin typeface="Noto Sans"/>
              </a:rPr>
              <a:t>Figma Auto Layout </a:t>
            </a:r>
            <a:r>
              <a:rPr sz="1300" dirty="0" err="1">
                <a:solidFill>
                  <a:srgbClr val="475569"/>
                </a:solidFill>
                <a:latin typeface="Noto Sans"/>
              </a:rPr>
              <a:t>概念精準對應現代</a:t>
            </a:r>
            <a:r>
              <a:rPr sz="1300" dirty="0">
                <a:solidFill>
                  <a:srgbClr val="475569"/>
                </a:solidFill>
                <a:latin typeface="Noto Sans"/>
              </a:rPr>
              <a:t> CSS </a:t>
            </a:r>
            <a:r>
              <a:rPr sz="1300" dirty="0" err="1">
                <a:solidFill>
                  <a:srgbClr val="475569"/>
                </a:solidFill>
                <a:latin typeface="Noto Sans"/>
              </a:rPr>
              <a:t>排版系統</a:t>
            </a:r>
            <a:endParaRPr sz="1300" dirty="0">
              <a:solidFill>
                <a:srgbClr val="475569"/>
              </a:solidFill>
              <a:latin typeface="Noto San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475569"/>
                </a:solidFill>
                <a:latin typeface="Noto Sans"/>
              </a:rPr>
              <a:t>AI 輔助前端開發及響應式設計 ｜ Part 1 觀念、架構與開發起步</a:t>
            </a:r>
            <a:r>
              <a:rPr sz="1000" b="1">
                <a:solidFill>
                  <a:srgbClr val="2563EB"/>
                </a:solidFill>
                <a:latin typeface="Noto Sans"/>
              </a:rPr>
              <a:t> ｜ 頁碼：17 / 19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rPr lang="zh-TW" altLang="en-US" sz="1400" dirty="0">
                <a:solidFill>
                  <a:srgbClr val="475569"/>
                </a:solidFill>
              </a:rPr>
              <a:t>請使用 </a:t>
            </a:r>
            <a:r>
              <a:rPr lang="en-US" sz="1400" dirty="0">
                <a:solidFill>
                  <a:srgbClr val="475569"/>
                </a:solidFill>
              </a:rPr>
              <a:t>Figma MCP </a:t>
            </a:r>
            <a:r>
              <a:rPr lang="zh-TW" altLang="en-US" sz="1400" dirty="0">
                <a:solidFill>
                  <a:srgbClr val="475569"/>
                </a:solidFill>
              </a:rPr>
              <a:t>讀取目前選取的 </a:t>
            </a:r>
            <a:r>
              <a:rPr lang="en-US" sz="1400" dirty="0">
                <a:solidFill>
                  <a:srgbClr val="475569"/>
                </a:solidFill>
              </a:rPr>
              <a:t>Frame。</a:t>
            </a:r>
          </a:p>
          <a:p>
            <a:pPr>
              <a:defRPr sz="1600" b="1">
                <a:solidFill>
                  <a:srgbClr val="2563EB"/>
                </a:solidFill>
              </a:defRPr>
            </a:pPr>
            <a:endParaRPr lang="en-US" sz="1400" dirty="0">
              <a:solidFill>
                <a:srgbClr val="475569"/>
              </a:solidFill>
            </a:endParaRPr>
          </a:p>
          <a:p>
            <a:pPr>
              <a:defRPr sz="1600" b="1">
                <a:solidFill>
                  <a:srgbClr val="2563EB"/>
                </a:solidFill>
              </a:defRPr>
            </a:pPr>
            <a:r>
              <a:rPr lang="zh-TW" altLang="en-US" sz="1400" dirty="0">
                <a:solidFill>
                  <a:srgbClr val="475569"/>
                </a:solidFill>
              </a:rPr>
              <a:t>將這個設計實作成 </a:t>
            </a:r>
            <a:r>
              <a:rPr lang="en-US" sz="1400" dirty="0">
                <a:solidFill>
                  <a:srgbClr val="475569"/>
                </a:solidFill>
              </a:rPr>
              <a:t>React </a:t>
            </a:r>
            <a:r>
              <a:rPr lang="zh-TW" altLang="en-US" sz="1400" dirty="0">
                <a:solidFill>
                  <a:srgbClr val="475569"/>
                </a:solidFill>
              </a:rPr>
              <a:t>網站。</a:t>
            </a:r>
          </a:p>
          <a:p>
            <a:pPr>
              <a:defRPr sz="1600" b="1">
                <a:solidFill>
                  <a:srgbClr val="2563EB"/>
                </a:solidFill>
              </a:defRPr>
            </a:pPr>
            <a:endParaRPr lang="zh-TW" altLang="en-US" sz="1400" dirty="0">
              <a:solidFill>
                <a:srgbClr val="475569"/>
              </a:solidFill>
            </a:endParaRPr>
          </a:p>
          <a:p>
            <a:pPr>
              <a:defRPr sz="1600" b="1">
                <a:solidFill>
                  <a:srgbClr val="2563EB"/>
                </a:solidFill>
              </a:defRPr>
            </a:pPr>
            <a:r>
              <a:rPr lang="zh-TW" altLang="en-US" sz="1400" dirty="0">
                <a:solidFill>
                  <a:srgbClr val="475569"/>
                </a:solidFill>
              </a:rPr>
              <a:t>要求：</a:t>
            </a:r>
          </a:p>
          <a:p>
            <a:pPr>
              <a:defRPr sz="1600" b="1">
                <a:solidFill>
                  <a:srgbClr val="2563EB"/>
                </a:solidFill>
              </a:defRPr>
            </a:pPr>
            <a:r>
              <a:rPr lang="en-US" altLang="zh-TW" sz="1400" dirty="0">
                <a:solidFill>
                  <a:srgbClr val="475569"/>
                </a:solidFill>
              </a:rPr>
              <a:t>- </a:t>
            </a:r>
            <a:r>
              <a:rPr lang="zh-TW" altLang="en-US" sz="1400" dirty="0">
                <a:solidFill>
                  <a:srgbClr val="475569"/>
                </a:solidFill>
              </a:rPr>
              <a:t>使用 </a:t>
            </a:r>
            <a:r>
              <a:rPr lang="en-US" sz="1400" dirty="0">
                <a:solidFill>
                  <a:srgbClr val="475569"/>
                </a:solidFill>
              </a:rPr>
              <a:t>Vite + React</a:t>
            </a:r>
          </a:p>
          <a:p>
            <a:pPr>
              <a:defRPr sz="1600" b="1">
                <a:solidFill>
                  <a:srgbClr val="2563EB"/>
                </a:solidFill>
              </a:defRPr>
            </a:pPr>
            <a:r>
              <a:rPr lang="en-US" sz="1400" dirty="0">
                <a:solidFill>
                  <a:srgbClr val="475569"/>
                </a:solidFill>
              </a:rPr>
              <a:t>- </a:t>
            </a:r>
            <a:r>
              <a:rPr lang="zh-TW" altLang="en-US" sz="1400" dirty="0">
                <a:solidFill>
                  <a:srgbClr val="475569"/>
                </a:solidFill>
              </a:rPr>
              <a:t>保留 </a:t>
            </a:r>
            <a:r>
              <a:rPr lang="en-US" sz="1400" dirty="0">
                <a:solidFill>
                  <a:srgbClr val="475569"/>
                </a:solidFill>
              </a:rPr>
              <a:t>Figma </a:t>
            </a:r>
            <a:r>
              <a:rPr lang="en-US" sz="1400" dirty="0" err="1">
                <a:solidFill>
                  <a:srgbClr val="475569"/>
                </a:solidFill>
              </a:rPr>
              <a:t>layout、spacing</a:t>
            </a:r>
            <a:r>
              <a:rPr lang="en-US" sz="1400" dirty="0">
                <a:solidFill>
                  <a:srgbClr val="475569"/>
                </a:solidFill>
              </a:rPr>
              <a:t>、</a:t>
            </a:r>
            <a:r>
              <a:rPr lang="zh-TW" altLang="en-US" sz="1400" dirty="0">
                <a:solidFill>
                  <a:srgbClr val="475569"/>
                </a:solidFill>
              </a:rPr>
              <a:t>顏色與字型</a:t>
            </a:r>
          </a:p>
          <a:p>
            <a:pPr>
              <a:defRPr sz="1600" b="1">
                <a:solidFill>
                  <a:srgbClr val="2563EB"/>
                </a:solidFill>
              </a:defRPr>
            </a:pPr>
            <a:r>
              <a:rPr lang="en-US" altLang="zh-TW" sz="1400" dirty="0">
                <a:solidFill>
                  <a:srgbClr val="475569"/>
                </a:solidFill>
              </a:rPr>
              <a:t>- </a:t>
            </a:r>
            <a:r>
              <a:rPr lang="zh-TW" altLang="en-US" sz="1400" dirty="0">
                <a:solidFill>
                  <a:srgbClr val="475569"/>
                </a:solidFill>
              </a:rPr>
              <a:t>使用 </a:t>
            </a:r>
            <a:r>
              <a:rPr lang="en-US" sz="1400" dirty="0">
                <a:solidFill>
                  <a:srgbClr val="475569"/>
                </a:solidFill>
              </a:rPr>
              <a:t>Flexbox / Grid</a:t>
            </a:r>
          </a:p>
          <a:p>
            <a:pPr>
              <a:defRPr sz="1600" b="1">
                <a:solidFill>
                  <a:srgbClr val="2563EB"/>
                </a:solidFill>
              </a:defRPr>
            </a:pPr>
            <a:r>
              <a:rPr lang="en-US" sz="1400" dirty="0">
                <a:solidFill>
                  <a:srgbClr val="475569"/>
                </a:solidFill>
              </a:rPr>
              <a:t>- </a:t>
            </a:r>
            <a:r>
              <a:rPr lang="zh-TW" altLang="en-US" sz="1400" dirty="0">
                <a:solidFill>
                  <a:srgbClr val="475569"/>
                </a:solidFill>
              </a:rPr>
              <a:t>支援 </a:t>
            </a:r>
            <a:r>
              <a:rPr lang="en-US" sz="1400" dirty="0">
                <a:solidFill>
                  <a:srgbClr val="475569"/>
                </a:solidFill>
              </a:rPr>
              <a:t>Desktop / Tablet / Mobile</a:t>
            </a:r>
          </a:p>
          <a:p>
            <a:pPr>
              <a:defRPr sz="1600" b="1">
                <a:solidFill>
                  <a:srgbClr val="2563EB"/>
                </a:solidFill>
              </a:defRPr>
            </a:pPr>
            <a:r>
              <a:rPr lang="en-US" sz="1400" dirty="0">
                <a:solidFill>
                  <a:srgbClr val="475569"/>
                </a:solidFill>
              </a:rPr>
              <a:t>- Figma Component </a:t>
            </a:r>
            <a:r>
              <a:rPr lang="zh-TW" altLang="en-US" sz="1400" dirty="0">
                <a:solidFill>
                  <a:srgbClr val="475569"/>
                </a:solidFill>
              </a:rPr>
              <a:t>轉成 </a:t>
            </a:r>
            <a:r>
              <a:rPr lang="en-US" sz="1400" dirty="0">
                <a:solidFill>
                  <a:srgbClr val="475569"/>
                </a:solidFill>
              </a:rPr>
              <a:t>reusable React component</a:t>
            </a:r>
          </a:p>
          <a:p>
            <a:pPr>
              <a:defRPr sz="1600" b="1">
                <a:solidFill>
                  <a:srgbClr val="2563EB"/>
                </a:solidFill>
              </a:defRPr>
            </a:pPr>
            <a:r>
              <a:rPr lang="en-US" sz="1400" dirty="0">
                <a:solidFill>
                  <a:srgbClr val="475569"/>
                </a:solidFill>
              </a:rPr>
              <a:t>- </a:t>
            </a:r>
            <a:r>
              <a:rPr lang="zh-TW" altLang="en-US" sz="1400" dirty="0">
                <a:solidFill>
                  <a:srgbClr val="475569"/>
                </a:solidFill>
              </a:rPr>
              <a:t>避免大量 </a:t>
            </a:r>
            <a:r>
              <a:rPr lang="en-US" sz="1400" dirty="0">
                <a:solidFill>
                  <a:srgbClr val="475569"/>
                </a:solidFill>
              </a:rPr>
              <a:t>absolute positioning</a:t>
            </a:r>
          </a:p>
          <a:p>
            <a:pPr>
              <a:defRPr sz="1600" b="1">
                <a:solidFill>
                  <a:srgbClr val="2563EB"/>
                </a:solidFill>
              </a:defRPr>
            </a:pPr>
            <a:r>
              <a:rPr lang="en-US" sz="1400" dirty="0">
                <a:solidFill>
                  <a:srgbClr val="475569"/>
                </a:solidFill>
              </a:rPr>
              <a:t>- </a:t>
            </a:r>
            <a:r>
              <a:rPr lang="zh-TW" altLang="en-US" sz="1400" dirty="0">
                <a:solidFill>
                  <a:srgbClr val="475569"/>
                </a:solidFill>
              </a:rPr>
              <a:t>圖片與 </a:t>
            </a:r>
            <a:r>
              <a:rPr lang="en-US" sz="1400" dirty="0">
                <a:solidFill>
                  <a:srgbClr val="475569"/>
                </a:solidFill>
              </a:rPr>
              <a:t>icon </a:t>
            </a:r>
            <a:r>
              <a:rPr lang="zh-TW" altLang="en-US" sz="1400" dirty="0">
                <a:solidFill>
                  <a:srgbClr val="475569"/>
                </a:solidFill>
              </a:rPr>
              <a:t>依照 </a:t>
            </a:r>
            <a:r>
              <a:rPr lang="en-US" sz="1400" dirty="0">
                <a:solidFill>
                  <a:srgbClr val="475569"/>
                </a:solidFill>
              </a:rPr>
              <a:t>Figma assets </a:t>
            </a:r>
            <a:r>
              <a:rPr lang="zh-TW" altLang="en-US" sz="1400" dirty="0">
                <a:solidFill>
                  <a:srgbClr val="475569"/>
                </a:solidFill>
              </a:rPr>
              <a:t>處理</a:t>
            </a:r>
          </a:p>
          <a:p>
            <a:pPr>
              <a:defRPr sz="1600" b="1">
                <a:solidFill>
                  <a:srgbClr val="2563EB"/>
                </a:solidFill>
              </a:defRPr>
            </a:pPr>
            <a:r>
              <a:rPr lang="en-US" altLang="zh-TW" sz="1400" dirty="0">
                <a:solidFill>
                  <a:srgbClr val="475569"/>
                </a:solidFill>
              </a:rPr>
              <a:t>- </a:t>
            </a:r>
            <a:r>
              <a:rPr lang="zh-TW" altLang="en-US" sz="1400" dirty="0">
                <a:solidFill>
                  <a:srgbClr val="475569"/>
                </a:solidFill>
              </a:rPr>
              <a:t>程式碼放入目前 </a:t>
            </a:r>
            <a:r>
              <a:rPr lang="en-US" sz="1400" dirty="0">
                <a:solidFill>
                  <a:srgbClr val="475569"/>
                </a:solidFill>
              </a:rPr>
              <a:t>Git repository</a:t>
            </a:r>
          </a:p>
          <a:p>
            <a:pPr>
              <a:defRPr sz="1600" b="1">
                <a:solidFill>
                  <a:srgbClr val="2563EB"/>
                </a:solidFill>
              </a:defRPr>
            </a:pPr>
            <a:r>
              <a:rPr lang="en-US" sz="1400" dirty="0">
                <a:solidFill>
                  <a:srgbClr val="475569"/>
                </a:solidFill>
              </a:rPr>
              <a:t>- </a:t>
            </a:r>
            <a:r>
              <a:rPr lang="zh-TW" altLang="en-US" sz="1400" dirty="0">
                <a:solidFill>
                  <a:srgbClr val="475569"/>
                </a:solidFill>
              </a:rPr>
              <a:t>完成後執行 </a:t>
            </a:r>
            <a:r>
              <a:rPr lang="en-US" sz="1400" dirty="0" err="1">
                <a:solidFill>
                  <a:srgbClr val="475569"/>
                </a:solidFill>
              </a:rPr>
              <a:t>npm</a:t>
            </a:r>
            <a:r>
              <a:rPr lang="en-US" sz="1400" dirty="0">
                <a:solidFill>
                  <a:srgbClr val="475569"/>
                </a:solidFill>
              </a:rPr>
              <a:t> run build</a:t>
            </a:r>
          </a:p>
          <a:p>
            <a:pPr>
              <a:defRPr sz="1600" b="1">
                <a:solidFill>
                  <a:srgbClr val="2563EB"/>
                </a:solidFill>
              </a:defRPr>
            </a:pPr>
            <a:r>
              <a:rPr lang="en-US" sz="1400" dirty="0">
                <a:solidFill>
                  <a:srgbClr val="475569"/>
                </a:solidFill>
              </a:rPr>
              <a:t>- </a:t>
            </a:r>
            <a:r>
              <a:rPr lang="zh-TW" altLang="en-US" sz="1400" dirty="0">
                <a:solidFill>
                  <a:srgbClr val="475569"/>
                </a:solidFill>
              </a:rPr>
              <a:t>確認成功後 </a:t>
            </a:r>
            <a:r>
              <a:rPr lang="en-US" sz="1400" dirty="0">
                <a:solidFill>
                  <a:srgbClr val="475569"/>
                </a:solidFill>
              </a:rPr>
              <a:t>commit</a:t>
            </a:r>
          </a:p>
          <a:p>
            <a:pPr>
              <a:defRPr sz="1600" b="1">
                <a:solidFill>
                  <a:srgbClr val="2563EB"/>
                </a:solidFill>
              </a:defRPr>
            </a:pPr>
            <a:r>
              <a:rPr lang="en-US" sz="1400" dirty="0">
                <a:solidFill>
                  <a:srgbClr val="475569"/>
                </a:solidFill>
              </a:rPr>
              <a:t>- </a:t>
            </a:r>
            <a:r>
              <a:rPr lang="zh-TW" altLang="en-US" sz="1400" dirty="0">
                <a:solidFill>
                  <a:srgbClr val="475569"/>
                </a:solidFill>
              </a:rPr>
              <a:t>建立新的 </a:t>
            </a:r>
            <a:r>
              <a:rPr lang="en-US" sz="1400" dirty="0">
                <a:solidFill>
                  <a:srgbClr val="475569"/>
                </a:solidFill>
              </a:rPr>
              <a:t>branch</a:t>
            </a:r>
          </a:p>
          <a:p>
            <a:pPr>
              <a:defRPr sz="1600" b="1">
                <a:solidFill>
                  <a:srgbClr val="2563EB"/>
                </a:solidFill>
              </a:defRPr>
            </a:pPr>
            <a:r>
              <a:rPr lang="en-US" sz="1400" dirty="0">
                <a:solidFill>
                  <a:srgbClr val="475569"/>
                </a:solidFill>
              </a:rPr>
              <a:t>- push </a:t>
            </a:r>
            <a:r>
              <a:rPr lang="zh-TW" altLang="en-US" sz="1400" dirty="0">
                <a:solidFill>
                  <a:srgbClr val="475569"/>
                </a:solidFill>
              </a:rPr>
              <a:t>到 </a:t>
            </a:r>
            <a:r>
              <a:rPr lang="en-US" sz="1400" dirty="0">
                <a:solidFill>
                  <a:srgbClr val="475569"/>
                </a:solidFill>
              </a:rPr>
              <a:t>GitHub</a:t>
            </a:r>
          </a:p>
          <a:p>
            <a:pPr>
              <a:defRPr sz="1600" b="1">
                <a:solidFill>
                  <a:srgbClr val="2563EB"/>
                </a:solidFill>
              </a:defRPr>
            </a:pPr>
            <a:r>
              <a:rPr lang="en-US" sz="1400" dirty="0">
                <a:solidFill>
                  <a:srgbClr val="475569"/>
                </a:solidFill>
              </a:rPr>
              <a:t>- </a:t>
            </a:r>
            <a:r>
              <a:rPr lang="zh-TW" altLang="en-US" sz="1400" dirty="0">
                <a:solidFill>
                  <a:srgbClr val="475569"/>
                </a:solidFill>
              </a:rPr>
              <a:t>建立 </a:t>
            </a:r>
            <a:r>
              <a:rPr lang="en-US" sz="1400" dirty="0">
                <a:solidFill>
                  <a:srgbClr val="475569"/>
                </a:solidFill>
              </a:rPr>
              <a:t>Pull Request</a:t>
            </a:r>
            <a:endParaRPr sz="1400" dirty="0">
              <a:solidFill>
                <a:srgbClr val="475569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42255" cy="4480560"/>
          </a:xfrm>
          <a:prstGeom prst="roundRect">
            <a:avLst/>
          </a:prstGeom>
          <a:solidFill>
            <a:srgbClr val="EDF2F7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defRPr sz="1600" b="1">
                <a:solidFill>
                  <a:srgbClr val="0D9488"/>
                </a:solidFill>
              </a:defRPr>
            </a:pPr>
            <a:r>
              <a:rPr lang="zh-TW" altLang="zh-TW" b="1" dirty="0">
                <a:solidFill>
                  <a:srgbClr val="0D9488"/>
                </a:solidFill>
              </a:rPr>
              <a:t>Figma</a:t>
            </a:r>
            <a:br>
              <a:rPr lang="zh-TW" altLang="zh-TW" b="1" dirty="0">
                <a:solidFill>
                  <a:srgbClr val="0D9488"/>
                </a:solidFill>
              </a:rPr>
            </a:br>
            <a:r>
              <a:rPr lang="zh-TW" altLang="zh-TW" b="1" dirty="0">
                <a:solidFill>
                  <a:srgbClr val="0D9488"/>
                </a:solidFill>
              </a:rPr>
              <a:t>↓</a:t>
            </a:r>
            <a:br>
              <a:rPr lang="zh-TW" altLang="zh-TW" b="1" dirty="0">
                <a:solidFill>
                  <a:srgbClr val="0D9488"/>
                </a:solidFill>
              </a:rPr>
            </a:br>
            <a:r>
              <a:rPr lang="zh-TW" altLang="zh-TW" b="1" dirty="0">
                <a:solidFill>
                  <a:srgbClr val="0D9488"/>
                </a:solidFill>
              </a:rPr>
              <a:t>Figma MCP</a:t>
            </a:r>
            <a:br>
              <a:rPr lang="zh-TW" altLang="zh-TW" b="1" dirty="0">
                <a:solidFill>
                  <a:srgbClr val="0D9488"/>
                </a:solidFill>
              </a:rPr>
            </a:br>
            <a:r>
              <a:rPr lang="zh-TW" altLang="zh-TW" b="1" dirty="0">
                <a:solidFill>
                  <a:srgbClr val="0D9488"/>
                </a:solidFill>
              </a:rPr>
              <a:t>↓</a:t>
            </a:r>
            <a:br>
              <a:rPr lang="zh-TW" altLang="zh-TW" b="1" dirty="0">
                <a:solidFill>
                  <a:srgbClr val="0D9488"/>
                </a:solidFill>
              </a:rPr>
            </a:br>
            <a:r>
              <a:rPr lang="zh-TW" altLang="zh-TW" b="1" dirty="0">
                <a:solidFill>
                  <a:srgbClr val="0D9488"/>
                </a:solidFill>
              </a:rPr>
              <a:t>Codex / Gemini CLI</a:t>
            </a:r>
            <a:br>
              <a:rPr lang="zh-TW" altLang="zh-TW" b="1" dirty="0">
                <a:solidFill>
                  <a:srgbClr val="0D9488"/>
                </a:solidFill>
              </a:rPr>
            </a:br>
            <a:r>
              <a:rPr lang="zh-TW" altLang="zh-TW" b="1" dirty="0">
                <a:solidFill>
                  <a:srgbClr val="0D9488"/>
                </a:solidFill>
              </a:rPr>
              <a:t>↓</a:t>
            </a:r>
            <a:br>
              <a:rPr lang="zh-TW" altLang="zh-TW" b="1" dirty="0">
                <a:solidFill>
                  <a:srgbClr val="0D9488"/>
                </a:solidFill>
              </a:rPr>
            </a:br>
            <a:r>
              <a:rPr lang="zh-TW" altLang="zh-TW" b="1" dirty="0">
                <a:solidFill>
                  <a:srgbClr val="0D9488"/>
                </a:solidFill>
              </a:rPr>
              <a:t>Vite + React</a:t>
            </a:r>
            <a:br>
              <a:rPr lang="zh-TW" altLang="zh-TW" b="1" dirty="0">
                <a:solidFill>
                  <a:srgbClr val="0D9488"/>
                </a:solidFill>
              </a:rPr>
            </a:br>
            <a:r>
              <a:rPr lang="zh-TW" altLang="zh-TW" b="1" dirty="0">
                <a:solidFill>
                  <a:srgbClr val="0D9488"/>
                </a:solidFill>
              </a:rPr>
              <a:t>↓</a:t>
            </a:r>
            <a:br>
              <a:rPr lang="zh-TW" altLang="zh-TW" b="1" dirty="0">
                <a:solidFill>
                  <a:srgbClr val="0D9488"/>
                </a:solidFill>
              </a:rPr>
            </a:br>
            <a:r>
              <a:rPr lang="zh-TW" altLang="zh-TW" b="1" dirty="0">
                <a:solidFill>
                  <a:srgbClr val="0D9488"/>
                </a:solidFill>
              </a:rPr>
              <a:t>GitHub</a:t>
            </a:r>
            <a:br>
              <a:rPr lang="zh-TW" altLang="zh-TW" b="1" dirty="0">
                <a:solidFill>
                  <a:srgbClr val="0D9488"/>
                </a:solidFill>
              </a:rPr>
            </a:br>
            <a:r>
              <a:rPr lang="zh-TW" altLang="zh-TW" b="1" dirty="0">
                <a:solidFill>
                  <a:srgbClr val="0D9488"/>
                </a:solidFill>
              </a:rPr>
              <a:t>↓</a:t>
            </a:r>
            <a:br>
              <a:rPr lang="zh-TW" altLang="zh-TW" b="1" dirty="0">
                <a:solidFill>
                  <a:srgbClr val="0D9488"/>
                </a:solidFill>
              </a:rPr>
            </a:br>
            <a:r>
              <a:rPr lang="zh-TW" altLang="zh-TW" b="1" dirty="0">
                <a:solidFill>
                  <a:srgbClr val="0D9488"/>
                </a:solidFill>
              </a:rPr>
              <a:t>Vercel</a:t>
            </a:r>
            <a:endParaRPr sz="1400" dirty="0">
              <a:solidFill>
                <a:srgbClr val="2563EB"/>
              </a:solidFill>
              <a:latin typeface="Liberation Mon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200" b="1">
                <a:solidFill>
                  <a:srgbClr val="2563EB"/>
                </a:solidFill>
                <a:latin typeface="Noto Sans"/>
              </a:rPr>
              <a:t>【十八、Flexbox】 </a:t>
            </a:r>
            <a:r>
              <a:rPr sz="2200" b="1">
                <a:solidFill>
                  <a:srgbClr val="0F172A"/>
                </a:solidFill>
                <a:latin typeface="Noto Sans"/>
              </a:rPr>
              <a:t>一維軸向彈性佈局 — 適用於導覽列、按鈕組與單向排列元件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75569"/>
                </a:solidFill>
                <a:latin typeface="Noto Sans"/>
              </a:rPr>
              <a:t>掌控主軸 (Main Axis) 與交叉軸 (Cross Axis) 的對齊與分配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475569"/>
                </a:solidFill>
                <a:latin typeface="Noto Sans"/>
              </a:rPr>
              <a:t>AI 輔助前端開發及響應式設計 ｜ Part 1 觀念、架構與開發起步</a:t>
            </a:r>
            <a:r>
              <a:rPr sz="1000" b="1">
                <a:solidFill>
                  <a:srgbClr val="2563EB"/>
                </a:solidFill>
                <a:latin typeface="Noto Sans"/>
              </a:rPr>
              <a:t> ｜ 頁碼：18 / 19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🎯 Flexbox 最適合的應用場景</a:t>
            </a: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0F172A"/>
                </a:solidFill>
              </a:rPr>
              <a:t>• Navigation (導覽列)：
  </a:t>
            </a:r>
            <a:r>
              <a:rPr sz="1400">
                <a:solidFill>
                  <a:srgbClr val="475569"/>
                </a:solidFill>
              </a:rPr>
              <a:t>Logo 置左、選單置中、登入按鈕置右 (space-between)。</a:t>
            </a: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0F172A"/>
                </a:solidFill>
              </a:rPr>
              <a:t>• Button Group (按鈕群組)：
  </a:t>
            </a:r>
            <a:r>
              <a:rPr sz="1400">
                <a:solidFill>
                  <a:srgbClr val="475569"/>
                </a:solidFill>
              </a:rPr>
              <a:t>主要按鈕與次要按鈕水平並排與固定間距 (gap)。</a:t>
            </a: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0F172A"/>
                </a:solidFill>
              </a:rPr>
              <a:t>• Card Inner Layout (卡片內部)：
  </a:t>
            </a:r>
            <a:r>
              <a:rPr sz="1400">
                <a:solidFill>
                  <a:srgbClr val="475569"/>
                </a:solidFill>
              </a:rPr>
              <a:t>垂直排列圖片、標題、標籤與底部按鈕。</a:t>
            </a: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0F172A"/>
                </a:solidFill>
              </a:rPr>
              <a:t>• Horizontal Alignment：
  </a:t>
            </a:r>
            <a:r>
              <a:rPr sz="1400">
                <a:solidFill>
                  <a:srgbClr val="475569"/>
                </a:solidFill>
              </a:rPr>
              <a:t>垂直置中 (align-items: center) 完美解決長年居中難題。</a:t>
            </a:r>
          </a:p>
        </p:txBody>
      </p:sp>
      <p:pic>
        <p:nvPicPr>
          <p:cNvPr id="7" name="圖片 6" descr="Xamarin.Forms Layout Types | App interface design, Ux design principles ...">
            <a:extLst>
              <a:ext uri="{FF2B5EF4-FFF2-40B4-BE49-F238E27FC236}">
                <a16:creationId xmlns:a16="http://schemas.microsoft.com/office/drawing/2014/main" id="{26DB62DF-DBD6-22F4-1FFA-3485AF65A7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2610" y="2225411"/>
            <a:ext cx="5382587" cy="3588391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19" y="365760"/>
            <a:ext cx="11264737" cy="58990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200" b="1" dirty="0">
                <a:solidFill>
                  <a:srgbClr val="2563EB"/>
                </a:solidFill>
                <a:latin typeface="Noto Sans"/>
              </a:rPr>
              <a:t>【</a:t>
            </a:r>
            <a:r>
              <a:rPr sz="2200" b="1" dirty="0" err="1">
                <a:solidFill>
                  <a:srgbClr val="2563EB"/>
                </a:solidFill>
                <a:latin typeface="Noto Sans"/>
              </a:rPr>
              <a:t>十九、CSS</a:t>
            </a:r>
            <a:r>
              <a:rPr sz="2200" b="1" dirty="0">
                <a:solidFill>
                  <a:srgbClr val="2563EB"/>
                </a:solidFill>
                <a:latin typeface="Noto Sans"/>
              </a:rPr>
              <a:t> Grid】 </a:t>
            </a:r>
            <a:r>
              <a:rPr sz="2200" b="1" dirty="0" err="1">
                <a:solidFill>
                  <a:srgbClr val="0F172A"/>
                </a:solidFill>
                <a:latin typeface="Noto Sans"/>
              </a:rPr>
              <a:t>二維多欄網格佈局</a:t>
            </a:r>
            <a:r>
              <a:rPr sz="2200" b="1" dirty="0">
                <a:solidFill>
                  <a:srgbClr val="0F172A"/>
                </a:solidFill>
                <a:latin typeface="Noto Sans"/>
              </a:rPr>
              <a:t> — </a:t>
            </a:r>
            <a:r>
              <a:rPr sz="2200" b="1" dirty="0" err="1">
                <a:solidFill>
                  <a:srgbClr val="0F172A"/>
                </a:solidFill>
                <a:latin typeface="Noto Sans"/>
              </a:rPr>
              <a:t>適用於</a:t>
            </a:r>
            <a:r>
              <a:rPr sz="2200" b="1" dirty="0">
                <a:solidFill>
                  <a:srgbClr val="0F172A"/>
                </a:solidFill>
                <a:latin typeface="Noto Sans"/>
              </a:rPr>
              <a:t> </a:t>
            </a:r>
            <a:r>
              <a:rPr sz="2200" b="1" dirty="0" err="1">
                <a:solidFill>
                  <a:srgbClr val="0F172A"/>
                </a:solidFill>
                <a:latin typeface="Noto Sans"/>
              </a:rPr>
              <a:t>Dashboard、多欄卡片清單與全頁排版</a:t>
            </a:r>
            <a:endParaRPr sz="2200" b="1" dirty="0">
              <a:solidFill>
                <a:srgbClr val="0F172A"/>
              </a:solidFill>
              <a:latin typeface="Noto Sans"/>
            </a:endParaRPr>
          </a:p>
          <a:p>
            <a:pPr>
              <a:spcBef>
                <a:spcPts val="400"/>
              </a:spcBef>
            </a:pPr>
            <a:r>
              <a:rPr sz="1300" dirty="0" err="1">
                <a:solidFill>
                  <a:srgbClr val="475569"/>
                </a:solidFill>
                <a:latin typeface="Noto Sans"/>
              </a:rPr>
              <a:t>同時控制「行</a:t>
            </a:r>
            <a:r>
              <a:rPr sz="1300" dirty="0">
                <a:solidFill>
                  <a:srgbClr val="475569"/>
                </a:solidFill>
                <a:latin typeface="Noto Sans"/>
              </a:rPr>
              <a:t> (Row)」</a:t>
            </a:r>
            <a:r>
              <a:rPr sz="1300" dirty="0" err="1">
                <a:solidFill>
                  <a:srgbClr val="475569"/>
                </a:solidFill>
                <a:latin typeface="Noto Sans"/>
              </a:rPr>
              <a:t>與「列</a:t>
            </a:r>
            <a:r>
              <a:rPr sz="1300" dirty="0">
                <a:solidFill>
                  <a:srgbClr val="475569"/>
                </a:solidFill>
                <a:latin typeface="Noto Sans"/>
              </a:rPr>
              <a:t> (Column)」，</a:t>
            </a:r>
            <a:r>
              <a:rPr sz="1300" dirty="0" err="1">
                <a:solidFill>
                  <a:srgbClr val="475569"/>
                </a:solidFill>
                <a:latin typeface="Noto Sans"/>
              </a:rPr>
              <a:t>打造強大且靈活的網格系統</a:t>
            </a:r>
            <a:endParaRPr sz="1300" dirty="0">
              <a:solidFill>
                <a:srgbClr val="475569"/>
              </a:solidFill>
              <a:latin typeface="Noto San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475569"/>
                </a:solidFill>
                <a:latin typeface="Noto Sans"/>
              </a:rPr>
              <a:t>AI 輔助前端開發及響應式設計 ｜ Part 1 觀念、架構與開發起步</a:t>
            </a:r>
            <a:r>
              <a:rPr sz="1000" b="1">
                <a:solidFill>
                  <a:srgbClr val="2563EB"/>
                </a:solidFill>
                <a:latin typeface="Noto Sans"/>
              </a:rPr>
              <a:t> ｜ 頁碼：19 / 19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5744" y="1645920"/>
            <a:ext cx="5656416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rPr dirty="0"/>
              <a:t>🎯 CSS Grid </a:t>
            </a:r>
            <a:r>
              <a:rPr dirty="0" err="1"/>
              <a:t>最適合的應用場景</a:t>
            </a:r>
            <a:endParaRPr dirty="0"/>
          </a:p>
          <a:p>
            <a:pPr>
              <a:spcBef>
                <a:spcPts val="800"/>
              </a:spcBef>
            </a:pPr>
            <a:r>
              <a:rPr sz="1600" b="1" dirty="0">
                <a:solidFill>
                  <a:srgbClr val="0F172A"/>
                </a:solidFill>
              </a:rPr>
              <a:t>• </a:t>
            </a:r>
            <a:r>
              <a:rPr sz="1600" b="1" dirty="0" err="1">
                <a:solidFill>
                  <a:srgbClr val="0F172A"/>
                </a:solidFill>
              </a:rPr>
              <a:t>多欄卡片排列</a:t>
            </a:r>
            <a:r>
              <a:rPr sz="1600" b="1" dirty="0">
                <a:solidFill>
                  <a:srgbClr val="0F172A"/>
                </a:solidFill>
              </a:rPr>
              <a:t> (Card Grid)：
  </a:t>
            </a:r>
            <a:r>
              <a:rPr sz="1400" dirty="0" err="1">
                <a:solidFill>
                  <a:srgbClr val="475569"/>
                </a:solidFill>
              </a:rPr>
              <a:t>熱門船班航線卡片：桌機</a:t>
            </a:r>
            <a:r>
              <a:rPr sz="1400" dirty="0">
                <a:solidFill>
                  <a:srgbClr val="475569"/>
                </a:solidFill>
              </a:rPr>
              <a:t> 3 </a:t>
            </a:r>
            <a:r>
              <a:rPr sz="1400" dirty="0" err="1">
                <a:solidFill>
                  <a:srgbClr val="475569"/>
                </a:solidFill>
              </a:rPr>
              <a:t>欄、平板</a:t>
            </a:r>
            <a:r>
              <a:rPr sz="1400" dirty="0">
                <a:solidFill>
                  <a:srgbClr val="475569"/>
                </a:solidFill>
              </a:rPr>
              <a:t> 2 </a:t>
            </a:r>
            <a:r>
              <a:rPr sz="1400" dirty="0" err="1">
                <a:solidFill>
                  <a:srgbClr val="475569"/>
                </a:solidFill>
              </a:rPr>
              <a:t>欄、手機</a:t>
            </a:r>
            <a:r>
              <a:rPr sz="1400" dirty="0">
                <a:solidFill>
                  <a:srgbClr val="475569"/>
                </a:solidFill>
              </a:rPr>
              <a:t> 1 </a:t>
            </a:r>
            <a:r>
              <a:rPr sz="1400" dirty="0" err="1">
                <a:solidFill>
                  <a:srgbClr val="475569"/>
                </a:solidFill>
              </a:rPr>
              <a:t>欄</a:t>
            </a:r>
            <a:r>
              <a:rPr sz="1400" dirty="0">
                <a:solidFill>
                  <a:srgbClr val="475569"/>
                </a:solidFill>
              </a:rPr>
              <a:t>。</a:t>
            </a:r>
          </a:p>
          <a:p>
            <a:pPr>
              <a:spcBef>
                <a:spcPts val="800"/>
              </a:spcBef>
            </a:pPr>
            <a:r>
              <a:rPr sz="1600" b="1" dirty="0">
                <a:solidFill>
                  <a:srgbClr val="0F172A"/>
                </a:solidFill>
              </a:rPr>
              <a:t>• </a:t>
            </a:r>
            <a:r>
              <a:rPr sz="1600" b="1" dirty="0" err="1">
                <a:solidFill>
                  <a:srgbClr val="0F172A"/>
                </a:solidFill>
              </a:rPr>
              <a:t>複雜儀表板</a:t>
            </a:r>
            <a:r>
              <a:rPr sz="1600" b="1" dirty="0">
                <a:solidFill>
                  <a:srgbClr val="0F172A"/>
                </a:solidFill>
              </a:rPr>
              <a:t> (Dashboard Layout)：
  </a:t>
            </a:r>
            <a:r>
              <a:rPr sz="1400" dirty="0" err="1">
                <a:solidFill>
                  <a:srgbClr val="475569"/>
                </a:solidFill>
              </a:rPr>
              <a:t>側邊欄</a:t>
            </a:r>
            <a:r>
              <a:rPr sz="1400" dirty="0">
                <a:solidFill>
                  <a:srgbClr val="475569"/>
                </a:solidFill>
              </a:rPr>
              <a:t> (Sidebar) + </a:t>
            </a:r>
            <a:r>
              <a:rPr sz="1400" dirty="0" err="1">
                <a:solidFill>
                  <a:srgbClr val="475569"/>
                </a:solidFill>
              </a:rPr>
              <a:t>頂部</a:t>
            </a:r>
            <a:r>
              <a:rPr sz="1400" dirty="0">
                <a:solidFill>
                  <a:srgbClr val="475569"/>
                </a:solidFill>
              </a:rPr>
              <a:t> Header + </a:t>
            </a:r>
            <a:r>
              <a:rPr sz="1400" dirty="0" err="1">
                <a:solidFill>
                  <a:srgbClr val="475569"/>
                </a:solidFill>
              </a:rPr>
              <a:t>內容主區塊</a:t>
            </a:r>
            <a:r>
              <a:rPr sz="1400" dirty="0">
                <a:solidFill>
                  <a:srgbClr val="475569"/>
                </a:solidFill>
              </a:rPr>
              <a:t> + </a:t>
            </a:r>
            <a:r>
              <a:rPr sz="1400" dirty="0" err="1">
                <a:solidFill>
                  <a:srgbClr val="475569"/>
                </a:solidFill>
              </a:rPr>
              <a:t>統計卡片</a:t>
            </a:r>
            <a:r>
              <a:rPr sz="1400" dirty="0">
                <a:solidFill>
                  <a:srgbClr val="475569"/>
                </a:solidFill>
              </a:rPr>
              <a:t>。</a:t>
            </a:r>
          </a:p>
          <a:p>
            <a:pPr>
              <a:spcBef>
                <a:spcPts val="800"/>
              </a:spcBef>
            </a:pPr>
            <a:r>
              <a:rPr sz="1600" b="1" dirty="0">
                <a:solidFill>
                  <a:srgbClr val="0F172A"/>
                </a:solidFill>
              </a:rPr>
              <a:t>• </a:t>
            </a:r>
            <a:r>
              <a:rPr sz="1600" b="1" dirty="0" err="1">
                <a:solidFill>
                  <a:srgbClr val="0F172A"/>
                </a:solidFill>
              </a:rPr>
              <a:t>自動自適應排版</a:t>
            </a:r>
            <a:r>
              <a:rPr sz="1600" b="1" dirty="0">
                <a:solidFill>
                  <a:srgbClr val="0F172A"/>
                </a:solidFill>
              </a:rPr>
              <a:t> (Auto-fit / minmax)：
  </a:t>
            </a:r>
            <a:r>
              <a:rPr sz="1400" dirty="0" err="1">
                <a:solidFill>
                  <a:srgbClr val="475569"/>
                </a:solidFill>
              </a:rPr>
              <a:t>無需大量</a:t>
            </a:r>
            <a:r>
              <a:rPr sz="1400" dirty="0">
                <a:solidFill>
                  <a:srgbClr val="475569"/>
                </a:solidFill>
              </a:rPr>
              <a:t> Media </a:t>
            </a:r>
            <a:r>
              <a:rPr sz="1400" dirty="0" err="1">
                <a:solidFill>
                  <a:srgbClr val="475569"/>
                </a:solidFill>
              </a:rPr>
              <a:t>Query，卡片依據最小寬度自動換行排列</a:t>
            </a:r>
            <a:r>
              <a:rPr sz="1400" dirty="0">
                <a:solidFill>
                  <a:srgbClr val="475569"/>
                </a:solidFill>
              </a:rPr>
              <a:t>。</a:t>
            </a:r>
          </a:p>
          <a:p>
            <a:pPr>
              <a:spcBef>
                <a:spcPts val="800"/>
              </a:spcBef>
            </a:pPr>
            <a:r>
              <a:rPr sz="1600" b="1" dirty="0">
                <a:solidFill>
                  <a:srgbClr val="0F172A"/>
                </a:solidFill>
              </a:rPr>
              <a:t>• </a:t>
            </a:r>
            <a:r>
              <a:rPr sz="1600" b="1" dirty="0" err="1">
                <a:solidFill>
                  <a:srgbClr val="0F172A"/>
                </a:solidFill>
              </a:rPr>
              <a:t>圖片畫廊與特價專區</a:t>
            </a:r>
            <a:r>
              <a:rPr sz="1600" b="1" dirty="0">
                <a:solidFill>
                  <a:srgbClr val="0F172A"/>
                </a:solidFill>
              </a:rPr>
              <a:t>：
  </a:t>
            </a:r>
            <a:r>
              <a:rPr sz="1400" dirty="0" err="1">
                <a:solidFill>
                  <a:srgbClr val="475569"/>
                </a:solidFill>
              </a:rPr>
              <a:t>跨欄</a:t>
            </a:r>
            <a:r>
              <a:rPr sz="1400" dirty="0">
                <a:solidFill>
                  <a:srgbClr val="475569"/>
                </a:solidFill>
              </a:rPr>
              <a:t> (span) </a:t>
            </a:r>
            <a:r>
              <a:rPr sz="1400" dirty="0" err="1">
                <a:solidFill>
                  <a:srgbClr val="475569"/>
                </a:solidFill>
              </a:rPr>
              <a:t>與非對稱視覺版面</a:t>
            </a:r>
            <a:r>
              <a:rPr sz="1400" dirty="0">
                <a:solidFill>
                  <a:srgbClr val="475569"/>
                </a:solidFill>
              </a:rPr>
              <a:t>。</a:t>
            </a: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894DC3AE-4E0D-DBFC-4EA4-CE85DB3AA81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4908" t="44088" r="8112" b="15720"/>
          <a:stretch>
            <a:fillRect/>
          </a:stretch>
        </p:blipFill>
        <p:spPr>
          <a:xfrm>
            <a:off x="5984705" y="2147803"/>
            <a:ext cx="6011551" cy="364457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</TotalTime>
  <Words>2871</Words>
  <Application>Microsoft Macintosh PowerPoint</Application>
  <PresentationFormat>Widescreen</PresentationFormat>
  <Paragraphs>226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Inter</vt:lpstr>
      <vt:lpstr>Liberation Mono</vt:lpstr>
      <vt:lpstr>Arial</vt:lpstr>
      <vt:lpstr>Calibri</vt:lpstr>
      <vt:lpstr>Noto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Leon Chang</cp:lastModifiedBy>
  <cp:revision>14</cp:revision>
  <dcterms:created xsi:type="dcterms:W3CDTF">2013-01-27T09:14:16Z</dcterms:created>
  <dcterms:modified xsi:type="dcterms:W3CDTF">2026-08-29T02:34:55Z</dcterms:modified>
  <cp:category/>
</cp:coreProperties>
</file>