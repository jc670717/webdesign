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【二十、Responsive Web Design】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響應式網頁設計 (RWD) — 讓同一個網站完美適應任何螢幕尺寸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同一個 HTML 架構，透過彈性 CSS 流暢切換桌機、平板與手機排版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頁碼：20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📱 </a:t>
            </a:r>
            <a:r>
              <a:rPr dirty="0" err="1"/>
              <a:t>為什麼</a:t>
            </a:r>
            <a:r>
              <a:rPr dirty="0"/>
              <a:t> RWD </a:t>
            </a:r>
            <a:r>
              <a:rPr dirty="0" err="1"/>
              <a:t>是現代網頁的標配</a:t>
            </a:r>
            <a:r>
              <a:rPr dirty="0"/>
              <a:t>？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行動流量過半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超過</a:t>
            </a:r>
            <a:r>
              <a:rPr sz="1400" dirty="0">
                <a:solidFill>
                  <a:srgbClr val="475569"/>
                </a:solidFill>
              </a:rPr>
              <a:t> 60% </a:t>
            </a:r>
            <a:r>
              <a:rPr sz="1400" dirty="0" err="1">
                <a:solidFill>
                  <a:srgbClr val="475569"/>
                </a:solidFill>
              </a:rPr>
              <a:t>使用者透過手機查詢船班或訂票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單一維護成本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無需為手機與電腦分別維護兩套獨立網站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避免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m.site.com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傳統包袱</a:t>
            </a:r>
            <a:r>
              <a:rPr sz="1400" dirty="0">
                <a:solidFill>
                  <a:srgbClr val="475569"/>
                </a:solidFill>
              </a:rPr>
              <a:t>)。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SEO </a:t>
            </a:r>
            <a:r>
              <a:rPr sz="1600" b="1" dirty="0" err="1">
                <a:solidFill>
                  <a:srgbClr val="0F172A"/>
                </a:solidFill>
              </a:rPr>
              <a:t>搜尋引擎友善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>
                <a:solidFill>
                  <a:srgbClr val="475569"/>
                </a:solidFill>
              </a:rPr>
              <a:t>Google </a:t>
            </a:r>
            <a:r>
              <a:rPr sz="1400" dirty="0" err="1">
                <a:solidFill>
                  <a:srgbClr val="475569"/>
                </a:solidFill>
              </a:rPr>
              <a:t>採用</a:t>
            </a:r>
            <a:r>
              <a:rPr sz="1400" dirty="0">
                <a:solidFill>
                  <a:srgbClr val="475569"/>
                </a:solidFill>
              </a:rPr>
              <a:t> Mobile-first </a:t>
            </a:r>
            <a:r>
              <a:rPr sz="1400" dirty="0" err="1">
                <a:solidFill>
                  <a:srgbClr val="475569"/>
                </a:solidFill>
              </a:rPr>
              <a:t>Indexing，響應式網站享有更高排名權重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600" b="1" dirty="0">
                <a:solidFill>
                  <a:srgbClr val="0F172A"/>
                </a:solidFill>
              </a:rPr>
              <a:t>• </a:t>
            </a:r>
            <a:r>
              <a:rPr sz="1600" b="1" dirty="0" err="1">
                <a:solidFill>
                  <a:srgbClr val="0F172A"/>
                </a:solidFill>
              </a:rPr>
              <a:t>卓越的使用者體驗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跨裝置無縫切換，字體、按鈕與間距始終維持最佳易讀性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🔄 客船卡片清單的跨裝置自適應示範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F172A"/>
                </a:solidFill>
              </a:rPr>
              <a:t>🖥️ Desktop (桌機版 1200px+)：
</a:t>
            </a:r>
            <a:r>
              <a:rPr sz="1400">
                <a:solidFill>
                  <a:srgbClr val="0F172A"/>
                </a:solidFill>
              </a:rPr>
              <a:t>3 欄 Card 排列、橫向展開 Navbar、全尺寸 Hero Banner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F172A"/>
                </a:solidFill>
              </a:rPr>
              <a:t>💻 Tablet (平板版 768px - 1199px)：
</a:t>
            </a:r>
            <a:r>
              <a:rPr sz="1400">
                <a:solidFill>
                  <a:srgbClr val="0F172A"/>
                </a:solidFill>
              </a:rPr>
              <a:t>2 欄 Card 排列、縮減左右 Padding、搜尋表單適度折行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F172A"/>
                </a:solidFill>
              </a:rPr>
              <a:t>📱 Mobile (手機版 767px 以下)：
</a:t>
            </a:r>
            <a:r>
              <a:rPr sz="1400">
                <a:solidFill>
                  <a:srgbClr val="0F172A"/>
                </a:solidFill>
              </a:rPr>
              <a:t>1 欄 Card 垂直排列、滿版寬度、漢堡選單 (Hamburger)、按鈕高度至少 44px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【二十一、Media Query】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CSS 媒介查詢 — 根據螢幕特徵條件式套用專屬樣式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RWD 的技術心臟：偵測螢幕寬度 (Viewport Width) 並動態切換版型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頁碼：21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🎯 Media Query </a:t>
            </a:r>
            <a:r>
              <a:rPr dirty="0" err="1"/>
              <a:t>核心語法邏輯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Media Query </a:t>
            </a:r>
            <a:r>
              <a:rPr sz="1600" dirty="0" err="1"/>
              <a:t>允許我們撰寫</a:t>
            </a:r>
            <a:r>
              <a:rPr sz="1600" dirty="0"/>
              <a:t>：「</a:t>
            </a:r>
            <a:r>
              <a:rPr sz="1600" dirty="0" err="1"/>
              <a:t>當螢幕寬度符合某個範圍時，才套用這組</a:t>
            </a:r>
            <a:r>
              <a:rPr sz="1600" dirty="0"/>
              <a:t> CSS </a:t>
            </a:r>
            <a:r>
              <a:rPr sz="1600" dirty="0" err="1"/>
              <a:t>規則</a:t>
            </a:r>
            <a:r>
              <a:rPr sz="1600" dirty="0"/>
              <a:t>」。</a:t>
            </a:r>
            <a:br>
              <a:rPr sz="1600" dirty="0"/>
            </a:br>
            <a:br>
              <a:rPr sz="1600" dirty="0"/>
            </a:br>
            <a:r>
              <a:rPr sz="1600" dirty="0"/>
              <a:t>【</a:t>
            </a:r>
            <a:r>
              <a:rPr sz="1600" dirty="0" err="1"/>
              <a:t>兩種主流設定模式</a:t>
            </a:r>
            <a:r>
              <a:rPr sz="1600" dirty="0"/>
              <a:t>】</a:t>
            </a:r>
            <a:br>
              <a:rPr sz="1600" dirty="0"/>
            </a:br>
            <a:r>
              <a:rPr sz="1600" dirty="0"/>
              <a:t>• min-width (</a:t>
            </a:r>
            <a:r>
              <a:rPr sz="1600" dirty="0" err="1"/>
              <a:t>從小到大，Mobile</a:t>
            </a:r>
            <a:r>
              <a:rPr sz="1600" dirty="0"/>
              <a:t> First </a:t>
            </a:r>
            <a:r>
              <a:rPr sz="1600" dirty="0" err="1"/>
              <a:t>推薦</a:t>
            </a:r>
            <a:r>
              <a:rPr sz="1600" dirty="0"/>
              <a:t>)：</a:t>
            </a:r>
            <a:br>
              <a:rPr sz="1600" dirty="0"/>
            </a:br>
            <a:r>
              <a:rPr sz="1600" dirty="0"/>
              <a:t>  @media (min-width: 768px) { ... }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當螢幕大於等於</a:t>
            </a:r>
            <a:r>
              <a:rPr sz="1600" dirty="0"/>
              <a:t> 768px </a:t>
            </a:r>
            <a:r>
              <a:rPr sz="1600" dirty="0" err="1"/>
              <a:t>時套用</a:t>
            </a:r>
            <a:r>
              <a:rPr sz="1600" dirty="0"/>
              <a:t>。</a:t>
            </a:r>
            <a:br>
              <a:rPr sz="1600" dirty="0"/>
            </a:br>
            <a:br>
              <a:rPr sz="1600" dirty="0"/>
            </a:br>
            <a:r>
              <a:rPr sz="1600" dirty="0"/>
              <a:t>• max-width (</a:t>
            </a:r>
            <a:r>
              <a:rPr sz="1600" dirty="0" err="1"/>
              <a:t>從大到小，Desktop</a:t>
            </a:r>
            <a:r>
              <a:rPr sz="1600" dirty="0"/>
              <a:t> First)：</a:t>
            </a:r>
            <a:br>
              <a:rPr sz="1600" dirty="0"/>
            </a:br>
            <a:r>
              <a:rPr sz="1600" dirty="0"/>
              <a:t>  @media (max-width: 767px) { ... }</a:t>
            </a:r>
            <a:br>
              <a:rPr sz="1600" dirty="0"/>
            </a:br>
            <a:r>
              <a:rPr sz="1600" dirty="0"/>
              <a:t>  </a:t>
            </a:r>
            <a:r>
              <a:rPr sz="1600" dirty="0" err="1"/>
              <a:t>當螢幕小於等於</a:t>
            </a:r>
            <a:r>
              <a:rPr sz="1600" dirty="0"/>
              <a:t> 767px </a:t>
            </a:r>
            <a:r>
              <a:rPr sz="1600" dirty="0" err="1"/>
              <a:t>時套用</a:t>
            </a:r>
            <a:r>
              <a:rPr sz="1600" dirty="0"/>
              <a:t>。</a:t>
            </a:r>
          </a:p>
        </p:txBody>
      </p:sp>
      <p:pic>
        <p:nvPicPr>
          <p:cNvPr id="7" name="圖片 6" descr="media-quey-css-use">
            <a:extLst>
              <a:ext uri="{FF2B5EF4-FFF2-40B4-BE49-F238E27FC236}">
                <a16:creationId xmlns:a16="http://schemas.microsoft.com/office/drawing/2014/main" id="{906DF352-CFA1-930D-81D1-1B887417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97" t="34114" r="12905" b="9714"/>
          <a:stretch>
            <a:fillRect/>
          </a:stretch>
        </p:blipFill>
        <p:spPr>
          <a:xfrm>
            <a:off x="6096000" y="2172982"/>
            <a:ext cx="5735561" cy="3313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【二十二、常見 Breakpoint】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斷點設定標準：不是針對特定裝置型號，而是「版面何時開始壞掉」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掌握業界主流 3 大斷點範圍與內容驅動 (Content-driven) 設計哲學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頁碼：22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 dirty="0"/>
              <a:t>🖥️ Desktop (</a:t>
            </a:r>
            <a:r>
              <a:rPr sz="1600" dirty="0" err="1"/>
              <a:t>桌機版</a:t>
            </a:r>
            <a:r>
              <a:rPr sz="1600" dirty="0"/>
              <a:t>)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0D9488"/>
                </a:solidFill>
              </a:rPr>
              <a:t>【</a:t>
            </a:r>
            <a:r>
              <a:rPr b="1" dirty="0" err="1">
                <a:solidFill>
                  <a:srgbClr val="0D9488"/>
                </a:solidFill>
              </a:rPr>
              <a:t>斷點範圍</a:t>
            </a:r>
            <a:r>
              <a:rPr b="1" dirty="0">
                <a:solidFill>
                  <a:srgbClr val="0D9488"/>
                </a:solidFill>
              </a:rPr>
              <a:t>】
1200px </a:t>
            </a:r>
            <a:r>
              <a:rPr b="1" dirty="0" err="1">
                <a:solidFill>
                  <a:srgbClr val="0D9488"/>
                </a:solidFill>
              </a:rPr>
              <a:t>以上</a:t>
            </a:r>
            <a:r>
              <a:rPr b="1" dirty="0">
                <a:solidFill>
                  <a:srgbClr val="0D9488"/>
                </a:solidFill>
              </a:rPr>
              <a:t>
</a:t>
            </a:r>
            <a:r>
              <a:rPr sz="1600" dirty="0" err="1">
                <a:solidFill>
                  <a:srgbClr val="0F172A"/>
                </a:solidFill>
              </a:rPr>
              <a:t>大螢幕視覺體驗：完整三欄</a:t>
            </a:r>
            <a:r>
              <a:rPr sz="1600" dirty="0">
                <a:solidFill>
                  <a:srgbClr val="0F172A"/>
                </a:solidFill>
              </a:rPr>
              <a:t>/</a:t>
            </a:r>
            <a:r>
              <a:rPr sz="1600" dirty="0" err="1">
                <a:solidFill>
                  <a:srgbClr val="0F172A"/>
                </a:solidFill>
              </a:rPr>
              <a:t>四欄佈局、固定側邊欄、超大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Banner、複雜資料表格</a:t>
            </a:r>
            <a:r>
              <a:rPr sz="1600" dirty="0">
                <a:solidFill>
                  <a:srgbClr val="0F172A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/>
              <a:t>💻 Tablet (平板版)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0D9488"/>
                </a:solidFill>
              </a:rPr>
              <a:t>【斷點範圍】
768px ~ 1199px
</a:t>
            </a:r>
            <a:r>
              <a:rPr sz="1600">
                <a:solidFill>
                  <a:srgbClr val="0F172A"/>
                </a:solidFill>
              </a:rPr>
              <a:t>中型觸控螢幕：兩欄卡片、緊湊型表單、字體與間距微幅收斂。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/>
              <a:t>📱 Mobile (手機版)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0D9488"/>
                </a:solidFill>
              </a:rPr>
              <a:t>【斷點範圍】
767px 以下
</a:t>
            </a:r>
            <a:r>
              <a:rPr sz="1600">
                <a:solidFill>
                  <a:srgbClr val="0F172A"/>
                </a:solidFill>
              </a:rPr>
              <a:t>行動單手操作：單欄滿版、折疊漢堡選單、按鈕可點擊區域 ≥44px、避免任何橫向捲動。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sz="1600"/>
              <a:t>💡 資深前端的 Breakpoint 黃金準則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不要問「iPhone 15 是幾 px？」斷點不是為特定手機型號設計的。</a:t>
            </a:r>
            <a:br/>
            <a:r>
              <a:t>真正的原則是：『在瀏覽器中拖拉視窗寬度，當內容開始擠壓、文字折行難看、卡片破版的那一瞬間，就是該加 Breakpoint 的地方！』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【二十三、Mobile First】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行動優先設計思維 — 先設計手機版核心體驗，再向上增強至平板與桌機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由簡入繁 (Progressive Enhancement)，結構更乾淨、效能更好、維護更容易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頁碼：23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🚀 Mobile First </a:t>
            </a:r>
            <a:r>
              <a:rPr dirty="0" err="1"/>
              <a:t>的</a:t>
            </a:r>
            <a:r>
              <a:rPr dirty="0"/>
              <a:t> 3 </a:t>
            </a:r>
            <a:r>
              <a:rPr dirty="0" err="1"/>
              <a:t>大絕對優勢</a:t>
            </a:r>
            <a:endParaRPr dirty="0"/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1. </a:t>
            </a:r>
            <a:r>
              <a:rPr sz="1600" b="1" dirty="0" err="1">
                <a:solidFill>
                  <a:srgbClr val="0F172A"/>
                </a:solidFill>
              </a:rPr>
              <a:t>結構極簡清晰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手機版空間有限，迫使我們聚焦最核心的「搜尋、列表、訂票」功能，去除多餘雜訊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2. </a:t>
            </a:r>
            <a:r>
              <a:rPr sz="1600" b="1" dirty="0" err="1">
                <a:solidFill>
                  <a:srgbClr val="0F172A"/>
                </a:solidFill>
              </a:rPr>
              <a:t>程式碼更容易維護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使用</a:t>
            </a:r>
            <a:r>
              <a:rPr sz="1400" dirty="0">
                <a:solidFill>
                  <a:srgbClr val="475569"/>
                </a:solidFill>
              </a:rPr>
              <a:t> min-width </a:t>
            </a:r>
            <a:r>
              <a:rPr sz="1400" dirty="0" err="1">
                <a:solidFill>
                  <a:srgbClr val="475569"/>
                </a:solidFill>
              </a:rPr>
              <a:t>往上累加樣式，避免傳統</a:t>
            </a:r>
            <a:r>
              <a:rPr sz="1400" dirty="0">
                <a:solidFill>
                  <a:srgbClr val="475569"/>
                </a:solidFill>
              </a:rPr>
              <a:t> Desktop-first </a:t>
            </a:r>
            <a:r>
              <a:rPr sz="1400" dirty="0" err="1">
                <a:solidFill>
                  <a:srgbClr val="475569"/>
                </a:solidFill>
              </a:rPr>
              <a:t>用</a:t>
            </a:r>
            <a:r>
              <a:rPr sz="1400" dirty="0">
                <a:solidFill>
                  <a:srgbClr val="475569"/>
                </a:solidFill>
              </a:rPr>
              <a:t> max-width </a:t>
            </a:r>
            <a:r>
              <a:rPr sz="1400" dirty="0" err="1">
                <a:solidFill>
                  <a:srgbClr val="475569"/>
                </a:solidFill>
              </a:rPr>
              <a:t>不斷「覆蓋與取消樣式」產生的</a:t>
            </a:r>
            <a:r>
              <a:rPr sz="1400" dirty="0">
                <a:solidFill>
                  <a:srgbClr val="475569"/>
                </a:solidFill>
              </a:rPr>
              <a:t> CSS </a:t>
            </a:r>
            <a:r>
              <a:rPr sz="1400" dirty="0" err="1">
                <a:solidFill>
                  <a:srgbClr val="475569"/>
                </a:solidFill>
              </a:rPr>
              <a:t>混亂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0F172A"/>
                </a:solidFill>
              </a:rPr>
              <a:t>3. </a:t>
            </a:r>
            <a:r>
              <a:rPr sz="1600" b="1" dirty="0" err="1">
                <a:solidFill>
                  <a:srgbClr val="0F172A"/>
                </a:solidFill>
              </a:rPr>
              <a:t>符合真實用戶行為</a:t>
            </a:r>
            <a:r>
              <a:rPr sz="1600" b="1" dirty="0">
                <a:solidFill>
                  <a:srgbClr val="0F172A"/>
                </a:solidFill>
              </a:rPr>
              <a:t>：
  </a:t>
            </a:r>
            <a:r>
              <a:rPr sz="1400" dirty="0" err="1">
                <a:solidFill>
                  <a:srgbClr val="475569"/>
                </a:solidFill>
              </a:rPr>
              <a:t>行動裝置是主要流量來源，行動體驗不再是電腦版的「事後妥協產物</a:t>
            </a:r>
            <a:r>
              <a:rPr sz="1400" dirty="0">
                <a:solidFill>
                  <a:srgbClr val="475569"/>
                </a:solidFill>
              </a:rPr>
              <a:t>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🔄 開發流程思維翻轉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600"/>
              <a:t>【傳統 Desktop First 思維】</a:t>
            </a:r>
            <a:br>
              <a:rPr sz="1600"/>
            </a:br>
            <a:r>
              <a:rPr sz="1600"/>
              <a:t>先做漂亮的 1440px 電腦版 ➔ 發現手機版字太大、欄位擠扁 ➔ 寫一堆 max-width 把東西隱藏或強制縮小 ➔ 程式碼臃腫且容易破版。</a:t>
            </a:r>
            <a:br>
              <a:rPr sz="1600"/>
            </a:br>
            <a:br>
              <a:rPr sz="1600"/>
            </a:br>
            <a:r>
              <a:rPr sz="1600"/>
              <a:t>【現代 Mobile First 思維】</a:t>
            </a:r>
            <a:br>
              <a:rPr sz="1600"/>
            </a:br>
            <a:r>
              <a:rPr sz="1600"/>
              <a:t>1. 基礎 CSS：專注 375px 手機單欄體驗。</a:t>
            </a:r>
            <a:br>
              <a:rPr sz="1600"/>
            </a:br>
            <a:r>
              <a:rPr sz="1600"/>
              <a:t>2. @media (min-width: 768px)：將單欄拓展為 2 欄。</a:t>
            </a:r>
            <a:br>
              <a:rPr sz="1600"/>
            </a:br>
            <a:r>
              <a:rPr sz="1600"/>
              <a:t>3. @media (min-width: 1200px)：加入大螢幕專屬裝飾與 3 欄網格。</a:t>
            </a:r>
            <a:br>
              <a:rPr sz="1600"/>
            </a:br>
            <a:br>
              <a:rPr sz="1600"/>
            </a:br>
            <a:r>
              <a:rPr sz="1600"/>
              <a:t>每一層都是向上增強，邏輯清晰自然！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【二十四、Responsive 常見錯誤】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破除 RWD 3 大常見地雷：絕對定位、寫死寬度與圖片爆版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掌握常見破版根因與標準防呆解法，確保 375px 手機版零橫向捲動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頁碼：24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rPr sz="1600"/>
              <a:t>💣 地雷一：濫用 Absolute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  <a:latin typeface="Liberation Mono"/>
              </a:rPr>
              <a:t>【錯誤寫法】
position: absolute; top: 100px; left: 300px;
</a:t>
            </a:r>
            <a:r>
              <a:rPr sz="1600">
                <a:solidFill>
                  <a:srgbClr val="0F172A"/>
                </a:solidFill>
              </a:rPr>
              <a:t>【災情】桌機看似正常，手機版元素全部重疊飛出畫面。
【正解】使用 Flexbox / Grid 流動排版。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rPr sz="1600"/>
              <a:t>💣 地雷二：寫死固定寬度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  <a:latin typeface="Liberation Mono"/>
              </a:rPr>
              <a:t>【錯誤寫法】
width: 800px; (或 1200px)
</a:t>
            </a:r>
            <a:r>
              <a:rPr sz="1600">
                <a:solidFill>
                  <a:srgbClr val="0F172A"/>
                </a:solidFill>
              </a:rPr>
              <a:t>【災情】手機螢幕只有 375px，容器直接衝出視窗，產生討厭的橫向捲軸。
【正解】width: 100%; max-width: 800px;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rPr sz="1600"/>
              <a:t>💣 地雷三：圖片固定尺寸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  <a:latin typeface="Liberation Mono"/>
              </a:rPr>
              <a:t>【錯誤寫法】
&lt;img width="600" height="400" /&gt; (無防呆)
</a:t>
            </a:r>
            <a:r>
              <a:rPr sz="1600">
                <a:solidFill>
                  <a:srgbClr val="0F172A"/>
                </a:solidFill>
              </a:rPr>
              <a:t>【災情】大圖撐爆卡片邊界。
【正解】img { max-width: 100%; height: auto; display: block;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【二十五、AI Debug】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AI 是除錯神隊友 — 正確的 Debug 溝通心態與 5 大必備資訊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不要只說「壞掉了幫我修」，提供精準證據才能獲得根因分析與最小修改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頁碼：25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rPr dirty="0"/>
              <a:t>❌ </a:t>
            </a:r>
            <a:r>
              <a:rPr dirty="0" err="1"/>
              <a:t>最低效的問法</a:t>
            </a:r>
            <a:r>
              <a:rPr dirty="0"/>
              <a:t> (AI </a:t>
            </a:r>
            <a:r>
              <a:rPr dirty="0" err="1"/>
              <a:t>只好靠瞎猜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• 「</a:t>
            </a:r>
            <a:r>
              <a:rPr sz="1600" dirty="0" err="1"/>
              <a:t>網站壞掉了</a:t>
            </a:r>
            <a:r>
              <a:rPr sz="1600" dirty="0"/>
              <a:t>。」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• 「</a:t>
            </a:r>
            <a:r>
              <a:rPr sz="1600" dirty="0" err="1"/>
              <a:t>按鈕沒有用，幫我修好</a:t>
            </a:r>
            <a:r>
              <a:rPr sz="1600" dirty="0"/>
              <a:t>。」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• 「</a:t>
            </a:r>
            <a:r>
              <a:rPr sz="1600" dirty="0" err="1"/>
              <a:t>畫面怪怪的，怎麼改</a:t>
            </a:r>
            <a:r>
              <a:rPr sz="1600" dirty="0"/>
              <a:t>？」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sz="1600" dirty="0"/>
              <a:t>• 「</a:t>
            </a:r>
            <a:r>
              <a:rPr sz="1600" dirty="0" err="1"/>
              <a:t>把這</a:t>
            </a:r>
            <a:r>
              <a:rPr sz="1600" dirty="0"/>
              <a:t> 500 </a:t>
            </a:r>
            <a:r>
              <a:rPr sz="1600" dirty="0" err="1"/>
              <a:t>行程式碼全部重寫一次</a:t>
            </a:r>
            <a:r>
              <a:rPr sz="1600" dirty="0"/>
              <a:t>。」</a:t>
            </a:r>
          </a:p>
          <a:p>
            <a:pPr>
              <a:spcBef>
                <a:spcPts val="1400"/>
              </a:spcBef>
              <a:defRPr sz="1200" b="1">
                <a:solidFill>
                  <a:srgbClr val="E11D48"/>
                </a:solidFill>
              </a:defRPr>
            </a:pPr>
            <a:r>
              <a:rPr sz="1600" dirty="0"/>
              <a:t>【</a:t>
            </a:r>
            <a:r>
              <a:rPr sz="1600" dirty="0" err="1"/>
              <a:t>結果】AI</a:t>
            </a:r>
            <a:r>
              <a:rPr sz="1600" dirty="0"/>
              <a:t> </a:t>
            </a:r>
            <a:r>
              <a:rPr sz="1600" dirty="0" err="1"/>
              <a:t>往往會重寫整個檔案，反而破壞原本寫好的其他功能，越修越崩潰</a:t>
            </a:r>
            <a:r>
              <a:rPr sz="1600" dirty="0"/>
              <a:t>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✅ 向 AI 提供「5 大精準證據」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1. Error Message (完整錯誤訊息)：
  </a:t>
            </a:r>
            <a:r>
              <a:rPr sz="1400">
                <a:solidFill>
                  <a:srgbClr val="0F172A"/>
                </a:solidFill>
              </a:rPr>
              <a:t>Console 報錯或終端機編譯失敗的字樣。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2. 相關 Code (上下文代碼)：
  </a:t>
            </a:r>
            <a:r>
              <a:rPr sz="1400">
                <a:solidFill>
                  <a:srgbClr val="0F172A"/>
                </a:solidFill>
              </a:rPr>
              <a:t>貼出出問題的 Component 檔案片段。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3. 預期結果 (Expected)：
  </a:t>
            </a:r>
            <a:r>
              <a:rPr sz="1400">
                <a:solidFill>
                  <a:srgbClr val="0F172A"/>
                </a:solidFill>
              </a:rPr>
              <a:t>「點擊查詢後，下方應顯示 3 筆船班卡片」。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4. 實際結果 (Actual)：
  </a:t>
            </a:r>
            <a:r>
              <a:rPr sz="1400">
                <a:solidFill>
                  <a:srgbClr val="0F172A"/>
                </a:solidFill>
              </a:rPr>
              <a:t>「按鈕點擊後 Console 出現 TypeError，卡片未渲染」。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F172A"/>
                </a:solidFill>
              </a:rPr>
              <a:t>5. 執行環境 (Environment)：
  </a:t>
            </a:r>
            <a:r>
              <a:rPr sz="1400">
                <a:solidFill>
                  <a:srgbClr val="0F172A"/>
                </a:solidFill>
              </a:rPr>
              <a:t>React 18 + Vite，使用 Chrome 測試。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【二十六、Debug Prompt】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除錯實戰 Prompt 萬用模板 — 診斷根因、最小修改與回歸測試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要求 AI 先找出 Root Cause，提供局部精準修正，嚴禁盲目重寫整個專案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頁碼：26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dirty="0"/>
              <a:t>📋 </a:t>
            </a:r>
            <a:r>
              <a:rPr dirty="0" err="1"/>
              <a:t>可直接複製的</a:t>
            </a:r>
            <a:r>
              <a:rPr dirty="0"/>
              <a:t> Frontend Debug Prompt </a:t>
            </a:r>
            <a:r>
              <a:rPr dirty="0" err="1"/>
              <a:t>模板</a:t>
            </a:r>
            <a:endParaRPr dirty="0"/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rPr sz="1400" dirty="0" err="1"/>
              <a:t>你是一位資深</a:t>
            </a:r>
            <a:r>
              <a:rPr sz="1400" dirty="0"/>
              <a:t> React </a:t>
            </a:r>
            <a:r>
              <a:rPr sz="1400" dirty="0" err="1"/>
              <a:t>前端除錯工程師。以下</a:t>
            </a:r>
            <a:r>
              <a:rPr sz="1400" dirty="0"/>
              <a:t> React </a:t>
            </a:r>
            <a:r>
              <a:rPr sz="1400" dirty="0" err="1"/>
              <a:t>元件在執行時發生錯誤</a:t>
            </a:r>
            <a:r>
              <a:rPr sz="1400" dirty="0"/>
              <a:t>：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錯誤訊息</a:t>
            </a:r>
            <a:r>
              <a:rPr sz="1400" dirty="0"/>
              <a:t> / Error Message】</a:t>
            </a:r>
            <a:br>
              <a:rPr sz="1400" dirty="0"/>
            </a:br>
            <a:r>
              <a:rPr sz="1400" dirty="0"/>
              <a:t>[</a:t>
            </a:r>
            <a:r>
              <a:rPr sz="1400" dirty="0" err="1"/>
              <a:t>貼上</a:t>
            </a:r>
            <a:r>
              <a:rPr sz="1400" dirty="0"/>
              <a:t> Console </a:t>
            </a:r>
            <a:r>
              <a:rPr sz="1400" dirty="0" err="1"/>
              <a:t>錯誤訊息，例如：Uncaught</a:t>
            </a:r>
            <a:r>
              <a:rPr sz="1400" dirty="0"/>
              <a:t> </a:t>
            </a:r>
            <a:r>
              <a:rPr sz="1400" dirty="0" err="1"/>
              <a:t>TypeError</a:t>
            </a:r>
            <a:r>
              <a:rPr sz="1400" dirty="0"/>
              <a:t>: </a:t>
            </a:r>
            <a:r>
              <a:rPr sz="1400" dirty="0" err="1"/>
              <a:t>routes.map</a:t>
            </a:r>
            <a:r>
              <a:rPr sz="1400" dirty="0"/>
              <a:t> is not a function]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發生問題的程式碼</a:t>
            </a:r>
            <a:r>
              <a:rPr sz="1400" dirty="0"/>
              <a:t> / Code】</a:t>
            </a:r>
            <a:br>
              <a:rPr sz="1400" dirty="0"/>
            </a:br>
            <a:r>
              <a:rPr sz="1400" dirty="0"/>
              <a:t>[</a:t>
            </a:r>
            <a:r>
              <a:rPr sz="1400" dirty="0" err="1"/>
              <a:t>貼上出問題的</a:t>
            </a:r>
            <a:r>
              <a:rPr sz="1400" dirty="0"/>
              <a:t> Component </a:t>
            </a:r>
            <a:r>
              <a:rPr sz="1400" dirty="0" err="1"/>
              <a:t>程式碼片段</a:t>
            </a:r>
            <a:r>
              <a:rPr sz="1400" dirty="0"/>
              <a:t>]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操作情境與預期</a:t>
            </a:r>
            <a:r>
              <a:rPr sz="1400" dirty="0"/>
              <a:t> vs </a:t>
            </a:r>
            <a:r>
              <a:rPr sz="1400" dirty="0" err="1"/>
              <a:t>實際結果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操作步驟：在出發港口選擇「基隆</a:t>
            </a:r>
            <a:r>
              <a:rPr sz="1400" dirty="0"/>
              <a:t>」，</a:t>
            </a:r>
            <a:r>
              <a:rPr sz="1400" dirty="0" err="1"/>
              <a:t>點擊「查詢船班」按鈕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預期結果：下方列表順利渲染出基隆出發之航線卡片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• </a:t>
            </a:r>
            <a:r>
              <a:rPr sz="1400" dirty="0" err="1"/>
              <a:t>實際結果：按鈕無反應，Console</a:t>
            </a:r>
            <a:r>
              <a:rPr sz="1400" dirty="0"/>
              <a:t> </a:t>
            </a:r>
            <a:r>
              <a:rPr sz="1400" dirty="0" err="1"/>
              <a:t>拋出上述錯誤</a:t>
            </a:r>
            <a:r>
              <a:rPr sz="1400" dirty="0"/>
              <a:t>。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請依序執行以下</a:t>
            </a:r>
            <a:r>
              <a:rPr sz="1400" dirty="0"/>
              <a:t> 5 </a:t>
            </a:r>
            <a:r>
              <a:rPr sz="1400" dirty="0" err="1"/>
              <a:t>點要求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1. </a:t>
            </a:r>
            <a:r>
              <a:rPr sz="1400" dirty="0" err="1"/>
              <a:t>指出真正的根本原因</a:t>
            </a:r>
            <a:r>
              <a:rPr sz="1400" dirty="0"/>
              <a:t> (Root Cause) </a:t>
            </a:r>
            <a:r>
              <a:rPr sz="1400" dirty="0" err="1"/>
              <a:t>並用</a:t>
            </a:r>
            <a:r>
              <a:rPr sz="1400" dirty="0"/>
              <a:t> 2-3 </a:t>
            </a:r>
            <a:r>
              <a:rPr sz="1400" dirty="0" err="1"/>
              <a:t>句話簡短解說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提供「最小影響範圍」的修改方案</a:t>
            </a:r>
            <a:r>
              <a:rPr sz="1400" dirty="0"/>
              <a:t> (Minimal Fix)，</a:t>
            </a:r>
            <a:r>
              <a:rPr sz="1400" dirty="0" err="1"/>
              <a:t>嚴禁隨意重寫整個</a:t>
            </a:r>
            <a:r>
              <a:rPr sz="1400" dirty="0"/>
              <a:t> Component。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僅提供修改後的具體代碼行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4. </a:t>
            </a:r>
            <a:r>
              <a:rPr sz="1400" dirty="0" err="1"/>
              <a:t>提供</a:t>
            </a:r>
            <a:r>
              <a:rPr sz="1400" dirty="0"/>
              <a:t> 3 </a:t>
            </a:r>
            <a:r>
              <a:rPr sz="1400" dirty="0" err="1"/>
              <a:t>個手動測試步驟以驗證修復結果，並確保無破壞既有功能</a:t>
            </a:r>
            <a:r>
              <a:rPr sz="1400" dirty="0"/>
              <a:t> (Regression Test)。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【二十七、使用瀏覽器 DevTools】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開發者必備利器：Chrome DevTools (F12) 4 大核心除錯面板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掌握 Elements、Console、Network 與 Device Mode，秒懂網頁運作狀態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頁碼：27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 dirty="0"/>
              <a:t>🔍 Elements </a:t>
            </a:r>
            <a:r>
              <a:rPr sz="1600" dirty="0" err="1"/>
              <a:t>面板</a:t>
            </a:r>
            <a:endParaRPr sz="1600" dirty="0"/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 dirty="0" err="1"/>
              <a:t>檢視與即時調校</a:t>
            </a:r>
            <a:r>
              <a:rPr sz="1200" dirty="0"/>
              <a:t> HTML/CSS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檢查</a:t>
            </a:r>
            <a:r>
              <a:rPr sz="1600" dirty="0"/>
              <a:t> DOM </a:t>
            </a:r>
            <a:r>
              <a:rPr sz="1600" dirty="0" err="1"/>
              <a:t>結構層級</a:t>
            </a:r>
            <a:r>
              <a:rPr sz="1600" dirty="0"/>
              <a:t>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即時修改</a:t>
            </a:r>
            <a:r>
              <a:rPr sz="1600" dirty="0"/>
              <a:t> CSS </a:t>
            </a:r>
            <a:r>
              <a:rPr sz="1600" dirty="0" err="1"/>
              <a:t>樣式看效果</a:t>
            </a:r>
            <a:r>
              <a:rPr sz="1600" dirty="0"/>
              <a:t> (</a:t>
            </a:r>
            <a:r>
              <a:rPr sz="1600" dirty="0" err="1"/>
              <a:t>排版微調神技</a:t>
            </a:r>
            <a:r>
              <a:rPr sz="1600" dirty="0"/>
              <a:t>)。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檢查盒模型：Margin</a:t>
            </a:r>
            <a:r>
              <a:rPr sz="1600" dirty="0"/>
              <a:t>, Border, Padding, Width。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查看</a:t>
            </a:r>
            <a:r>
              <a:rPr sz="1600" dirty="0"/>
              <a:t> Flexbox / Grid </a:t>
            </a:r>
            <a:r>
              <a:rPr sz="1600" dirty="0" err="1"/>
              <a:t>輔助網格線</a:t>
            </a:r>
            <a:r>
              <a:rPr sz="1600"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🐞 Console 面板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/>
              <a:t>JavaScript 錯誤與 Log 診斷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• 查看 JavaScript Runtime Errors。</a:t>
            </a:r>
            <a:br>
              <a:rPr sz="1600"/>
            </a:br>
            <a:r>
              <a:rPr sz="1600"/>
              <a:t>• 檢查 console.log() 印出的變數狀態。</a:t>
            </a:r>
            <a:br>
              <a:rPr sz="1600"/>
            </a:br>
            <a:r>
              <a:rPr sz="1600"/>
              <a:t>• 複製完整 Error Stack Trace 餵給 AI 除錯。</a:t>
            </a:r>
            <a:br>
              <a:rPr sz="1600"/>
            </a:br>
            <a:r>
              <a:rPr sz="1600"/>
              <a:t>• 測試即時 JS 表達式。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🌐 Network 面板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/>
              <a:t>網路請求與 API 狀態監控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• 檢查船班 API 請求是否成功 (Status 200/404/500)。</a:t>
            </a:r>
            <a:br>
              <a:rPr sz="1600"/>
            </a:br>
            <a:r>
              <a:rPr sz="1600"/>
              <a:t>• 查看 Request 參數與 Response JSON 回傳資料。</a:t>
            </a:r>
            <a:br>
              <a:rPr sz="1600"/>
            </a:br>
            <a:r>
              <a:rPr sz="1600"/>
              <a:t>• 監控圖片與靜態資源載入時間。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📱 Device Toolbar (Ctrl+Shift+M)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rPr sz="1200"/>
              <a:t>多裝置螢幕模擬與 RWD 測試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</a:defRPr>
            </a:pPr>
            <a:r>
              <a:rPr sz="1600"/>
              <a:t>• 模擬 iPhone 14 (390px)、Pixel 7、iPad 等裝置。</a:t>
            </a:r>
            <a:br>
              <a:rPr sz="1600"/>
            </a:br>
            <a:r>
              <a:rPr sz="1600"/>
              <a:t>• 自由拖拉視窗寬度，找出版面破版點 (Breakpoint)。</a:t>
            </a:r>
            <a:br>
              <a:rPr sz="1600"/>
            </a:br>
            <a:r>
              <a:rPr sz="1600"/>
              <a:t>• 模擬 3G/4G 慢速網路連線測試 Loading 體驗。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996289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二十八、Git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版本控制系統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(Version Control System)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程式碼的時光機與保險箱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記錄每一次代碼變更，支援多人協作、版本追蹤與隨時安全復原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頁碼：28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5718" y="1645920"/>
            <a:ext cx="4142484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sz="1400" dirty="0"/>
              <a:t>🛡️ Git </a:t>
            </a:r>
            <a:r>
              <a:rPr sz="1400" dirty="0" err="1"/>
              <a:t>解決的</a:t>
            </a:r>
            <a:r>
              <a:rPr sz="1400" dirty="0"/>
              <a:t> 4 </a:t>
            </a:r>
            <a:r>
              <a:rPr sz="1400" dirty="0" err="1"/>
              <a:t>大核心問題</a:t>
            </a:r>
            <a:endParaRPr sz="1400" dirty="0"/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1. </a:t>
            </a:r>
            <a:r>
              <a:rPr sz="1400" b="1" dirty="0" err="1">
                <a:solidFill>
                  <a:srgbClr val="0F172A"/>
                </a:solidFill>
              </a:rPr>
              <a:t>誰改了什麼</a:t>
            </a:r>
            <a:r>
              <a:rPr sz="1400" b="1" dirty="0">
                <a:solidFill>
                  <a:srgbClr val="0F172A"/>
                </a:solidFill>
              </a:rPr>
              <a:t> (Who &amp; What)：
  </a:t>
            </a:r>
            <a:r>
              <a:rPr sz="1200" dirty="0" err="1">
                <a:solidFill>
                  <a:srgbClr val="475569"/>
                </a:solidFill>
              </a:rPr>
              <a:t>清楚記錄每一行代碼是由誰在什麼時間點修改的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2. </a:t>
            </a:r>
            <a:r>
              <a:rPr sz="1400" b="1" dirty="0" err="1">
                <a:solidFill>
                  <a:srgbClr val="0F172A"/>
                </a:solidFill>
              </a:rPr>
              <a:t>歷史版本隨時復原</a:t>
            </a:r>
            <a:r>
              <a:rPr sz="1400" b="1" dirty="0">
                <a:solidFill>
                  <a:srgbClr val="0F172A"/>
                </a:solidFill>
              </a:rPr>
              <a:t> (Undo &amp; Rollback)：
  </a:t>
            </a:r>
            <a:r>
              <a:rPr sz="1200" dirty="0" err="1">
                <a:solidFill>
                  <a:srgbClr val="475569"/>
                </a:solidFill>
              </a:rPr>
              <a:t>若新功能改壞了，隨時可以一鍵回到昨天或上一個正常的</a:t>
            </a:r>
            <a:r>
              <a:rPr sz="1200" dirty="0">
                <a:solidFill>
                  <a:srgbClr val="475569"/>
                </a:solidFill>
              </a:rPr>
              <a:t> Commit </a:t>
            </a:r>
            <a:r>
              <a:rPr sz="1200" dirty="0" err="1">
                <a:solidFill>
                  <a:srgbClr val="475569"/>
                </a:solidFill>
              </a:rPr>
              <a:t>版本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3. </a:t>
            </a:r>
            <a:r>
              <a:rPr sz="1400" b="1" dirty="0" err="1">
                <a:solidFill>
                  <a:srgbClr val="0F172A"/>
                </a:solidFill>
              </a:rPr>
              <a:t>告別檔名地獄</a:t>
            </a:r>
            <a:r>
              <a:rPr sz="1400" b="1" dirty="0">
                <a:solidFill>
                  <a:srgbClr val="0F172A"/>
                </a:solidFill>
              </a:rPr>
              <a:t> (No More v1_final_final.zip)：
  </a:t>
            </a:r>
            <a:r>
              <a:rPr sz="1200" dirty="0" err="1">
                <a:solidFill>
                  <a:srgbClr val="475569"/>
                </a:solidFill>
              </a:rPr>
              <a:t>再也不需要手動備份一堆</a:t>
            </a:r>
            <a:r>
              <a:rPr sz="1200" dirty="0">
                <a:solidFill>
                  <a:srgbClr val="475569"/>
                </a:solidFill>
              </a:rPr>
              <a:t> zip </a:t>
            </a:r>
            <a:r>
              <a:rPr sz="1200" dirty="0" err="1">
                <a:solidFill>
                  <a:srgbClr val="475569"/>
                </a:solidFill>
              </a:rPr>
              <a:t>檔案，專案目錄永遠乾淨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0F172A"/>
                </a:solidFill>
              </a:rPr>
              <a:t>4. </a:t>
            </a:r>
            <a:r>
              <a:rPr sz="1400" b="1" dirty="0" err="1">
                <a:solidFill>
                  <a:srgbClr val="0F172A"/>
                </a:solidFill>
              </a:rPr>
              <a:t>分支與實驗</a:t>
            </a:r>
            <a:r>
              <a:rPr sz="1400" b="1" dirty="0">
                <a:solidFill>
                  <a:srgbClr val="0F172A"/>
                </a:solidFill>
              </a:rPr>
              <a:t> (Branching)：
  </a:t>
            </a:r>
            <a:r>
              <a:rPr sz="1200" dirty="0" err="1">
                <a:solidFill>
                  <a:srgbClr val="475569"/>
                </a:solidFill>
              </a:rPr>
              <a:t>可以開獨立</a:t>
            </a:r>
            <a:r>
              <a:rPr sz="1200" dirty="0">
                <a:solidFill>
                  <a:srgbClr val="475569"/>
                </a:solidFill>
              </a:rPr>
              <a:t> branch 讓 AI </a:t>
            </a:r>
            <a:r>
              <a:rPr sz="1200" dirty="0" err="1">
                <a:solidFill>
                  <a:srgbClr val="475569"/>
                </a:solidFill>
              </a:rPr>
              <a:t>嘗試大改版，確認沒問題再合併</a:t>
            </a:r>
            <a:r>
              <a:rPr sz="1200" dirty="0">
                <a:solidFill>
                  <a:srgbClr val="475569"/>
                </a:solidFill>
              </a:rPr>
              <a:t> (Merge)。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0E36992-1FD6-5319-5458-34503856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786" y="2064857"/>
            <a:ext cx="7300496" cy="3836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【二十九、Git 基本指令】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課堂最常用的 4 大 Git 核心指令 — 本機版本控制極速上手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初始化、查看狀態、暫存變更到完成提交的標準工作流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頁碼：29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 dirty="0"/>
              <a:t>1. </a:t>
            </a:r>
            <a:r>
              <a:rPr sz="1600" dirty="0" err="1"/>
              <a:t>初始化</a:t>
            </a:r>
            <a:r>
              <a:rPr sz="1600" dirty="0"/>
              <a:t> Repository</a:t>
            </a:r>
          </a:p>
          <a:p>
            <a:pPr>
              <a:spcBef>
                <a:spcPts val="400"/>
              </a:spcBef>
            </a:pPr>
            <a:r>
              <a:rPr b="1" dirty="0">
                <a:solidFill>
                  <a:srgbClr val="0D9488"/>
                </a:solidFill>
                <a:latin typeface="Liberation Mono"/>
              </a:rPr>
              <a:t>$ git </a:t>
            </a:r>
            <a:r>
              <a:rPr b="1" dirty="0" err="1">
                <a:solidFill>
                  <a:srgbClr val="0D9488"/>
                </a:solidFill>
                <a:latin typeface="Liberation Mono"/>
              </a:rPr>
              <a:t>init</a:t>
            </a:r>
            <a:r>
              <a:rPr b="1" dirty="0">
                <a:solidFill>
                  <a:srgbClr val="0D9488"/>
                </a:solidFill>
                <a:latin typeface="Liberation Mono"/>
              </a:rPr>
              <a:t>
</a:t>
            </a:r>
            <a:r>
              <a:rPr sz="1600" dirty="0" err="1">
                <a:solidFill>
                  <a:srgbClr val="0F172A"/>
                </a:solidFill>
              </a:rPr>
              <a:t>在當前專案資料夾建立</a:t>
            </a:r>
            <a:r>
              <a:rPr sz="1600" dirty="0">
                <a:solidFill>
                  <a:srgbClr val="0F172A"/>
                </a:solidFill>
              </a:rPr>
              <a:t> .git </a:t>
            </a:r>
            <a:r>
              <a:rPr sz="1600" dirty="0" err="1">
                <a:solidFill>
                  <a:srgbClr val="0F172A"/>
                </a:solidFill>
              </a:rPr>
              <a:t>隱藏檔，開啟版本控制追蹤</a:t>
            </a:r>
            <a:r>
              <a:rPr sz="1600" dirty="0">
                <a:solidFill>
                  <a:srgbClr val="0F172A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2. 查看目前檔案狀態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D9488"/>
                </a:solidFill>
                <a:latin typeface="Liberation Mono"/>
              </a:rPr>
              <a:t>$ git status
</a:t>
            </a:r>
            <a:r>
              <a:rPr sz="1600">
                <a:solidFill>
                  <a:srgbClr val="0F172A"/>
                </a:solidFill>
              </a:rPr>
              <a:t>查看哪些檔案被新增、修改或尚未加入暫存區 (紅字/綠字)。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3. 加入暫存區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D9488"/>
                </a:solidFill>
                <a:latin typeface="Liberation Mono"/>
              </a:rPr>
              <a:t>$ git add .
</a:t>
            </a:r>
            <a:r>
              <a:rPr sz="1600">
                <a:solidFill>
                  <a:srgbClr val="0F172A"/>
                </a:solidFill>
              </a:rPr>
              <a:t>將當前目錄下所有修改過的檔案加入暫存清單 (準備 commit)。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4. 提交版本歷史</a:t>
            </a:r>
          </a:p>
          <a:p>
            <a:pPr>
              <a:spcBef>
                <a:spcPts val="400"/>
              </a:spcBef>
            </a:pPr>
            <a:r>
              <a:rPr b="1">
                <a:solidFill>
                  <a:srgbClr val="0D9488"/>
                </a:solidFill>
                <a:latin typeface="Liberation Mono"/>
              </a:rPr>
              <a:t>$ git commit -m "說明"
</a:t>
            </a:r>
            <a:r>
              <a:rPr sz="1600">
                <a:solidFill>
                  <a:srgbClr val="0F172A"/>
                </a:solidFill>
              </a:rPr>
              <a:t>建立一個永久版本節點，例如：git commit -m "feat: 完成客船查詢表單與RWD"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【三十、GitHub】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全球最大的程式碼雲端託管與開發者協作平台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本機 Git 的雲端總部 — 實現遠端備份、團隊協同開發與 CI/CD 自動化整合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頁碼：30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sz="1400" dirty="0"/>
              <a:t>🌐 GitHub </a:t>
            </a:r>
            <a:r>
              <a:rPr sz="1400" dirty="0" err="1"/>
              <a:t>的</a:t>
            </a:r>
            <a:r>
              <a:rPr sz="1400" dirty="0"/>
              <a:t> 6 </a:t>
            </a:r>
            <a:r>
              <a:rPr sz="1400" dirty="0" err="1"/>
              <a:t>大核心用途</a:t>
            </a:r>
            <a:endParaRPr sz="1400" dirty="0"/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1. </a:t>
            </a:r>
            <a:r>
              <a:rPr sz="1400" b="1" dirty="0" err="1">
                <a:solidFill>
                  <a:srgbClr val="0F172A"/>
                </a:solidFill>
              </a:rPr>
              <a:t>程式碼雲端保存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遠端備份，不怕電腦壞掉或遺失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2. </a:t>
            </a:r>
            <a:r>
              <a:rPr sz="1400" b="1" dirty="0" err="1">
                <a:solidFill>
                  <a:srgbClr val="0F172A"/>
                </a:solidFill>
              </a:rPr>
              <a:t>版本管理與追蹤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線上視覺化查看每一次</a:t>
            </a:r>
            <a:r>
              <a:rPr sz="1200" dirty="0">
                <a:solidFill>
                  <a:srgbClr val="475569"/>
                </a:solidFill>
              </a:rPr>
              <a:t> </a:t>
            </a:r>
            <a:r>
              <a:rPr sz="1200" dirty="0" err="1">
                <a:solidFill>
                  <a:srgbClr val="475569"/>
                </a:solidFill>
              </a:rPr>
              <a:t>Commit、Diff</a:t>
            </a:r>
            <a:r>
              <a:rPr sz="1200" dirty="0">
                <a:solidFill>
                  <a:srgbClr val="475569"/>
                </a:solidFill>
              </a:rPr>
              <a:t> </a:t>
            </a:r>
            <a:r>
              <a:rPr sz="1200" dirty="0" err="1">
                <a:solidFill>
                  <a:srgbClr val="475569"/>
                </a:solidFill>
              </a:rPr>
              <a:t>比對與變更歷史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3. </a:t>
            </a:r>
            <a:r>
              <a:rPr sz="1400" b="1" dirty="0" err="1">
                <a:solidFill>
                  <a:srgbClr val="0F172A"/>
                </a:solidFill>
              </a:rPr>
              <a:t>團隊多人合作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分支管理、Pull</a:t>
            </a:r>
            <a:r>
              <a:rPr sz="1200" dirty="0">
                <a:solidFill>
                  <a:srgbClr val="475569"/>
                </a:solidFill>
              </a:rPr>
              <a:t> Request (PR) </a:t>
            </a:r>
            <a:r>
              <a:rPr sz="1200" dirty="0" err="1">
                <a:solidFill>
                  <a:srgbClr val="475569"/>
                </a:solidFill>
              </a:rPr>
              <a:t>代碼審查機制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4. Issue </a:t>
            </a:r>
            <a:r>
              <a:rPr sz="1400" b="1" dirty="0" err="1">
                <a:solidFill>
                  <a:srgbClr val="0F172A"/>
                </a:solidFill>
              </a:rPr>
              <a:t>追蹤系統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記錄</a:t>
            </a:r>
            <a:r>
              <a:rPr sz="1200" dirty="0">
                <a:solidFill>
                  <a:srgbClr val="475569"/>
                </a:solidFill>
              </a:rPr>
              <a:t> Bug </a:t>
            </a:r>
            <a:r>
              <a:rPr sz="1200" dirty="0" err="1">
                <a:solidFill>
                  <a:srgbClr val="475569"/>
                </a:solidFill>
              </a:rPr>
              <a:t>回報、新功能需求與工作分派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5. </a:t>
            </a:r>
            <a:r>
              <a:rPr sz="1400" b="1" dirty="0" err="1">
                <a:solidFill>
                  <a:srgbClr val="0F172A"/>
                </a:solidFill>
              </a:rPr>
              <a:t>開源生態與個人作品集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展示程式碼品質，向面試官與業界證明實作能力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</a:rPr>
              <a:t>6. CI/CD </a:t>
            </a:r>
            <a:r>
              <a:rPr sz="1400" b="1" dirty="0" err="1">
                <a:solidFill>
                  <a:srgbClr val="0F172A"/>
                </a:solidFill>
              </a:rPr>
              <a:t>自動化整合</a:t>
            </a:r>
            <a:r>
              <a:rPr sz="1400" b="1" dirty="0">
                <a:solidFill>
                  <a:srgbClr val="0F172A"/>
                </a:solidFill>
              </a:rPr>
              <a:t>：
  </a:t>
            </a:r>
            <a:r>
              <a:rPr sz="1200" dirty="0" err="1">
                <a:solidFill>
                  <a:srgbClr val="475569"/>
                </a:solidFill>
              </a:rPr>
              <a:t>與</a:t>
            </a:r>
            <a:r>
              <a:rPr sz="1200" dirty="0">
                <a:solidFill>
                  <a:srgbClr val="475569"/>
                </a:solidFill>
              </a:rPr>
              <a:t> </a:t>
            </a:r>
            <a:r>
              <a:rPr sz="1200" dirty="0" err="1">
                <a:solidFill>
                  <a:srgbClr val="475569"/>
                </a:solidFill>
              </a:rPr>
              <a:t>Vercel、GitHub</a:t>
            </a:r>
            <a:r>
              <a:rPr sz="1200" dirty="0">
                <a:solidFill>
                  <a:srgbClr val="475569"/>
                </a:solidFill>
              </a:rPr>
              <a:t> Actions </a:t>
            </a:r>
            <a:r>
              <a:rPr sz="1200" dirty="0" err="1">
                <a:solidFill>
                  <a:srgbClr val="475569"/>
                </a:solidFill>
              </a:rPr>
              <a:t>串接，推代碼即自動建置部署</a:t>
            </a:r>
            <a:r>
              <a:rPr sz="120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rPr sz="1400"/>
              <a:t>🔒 資安第一準則：嚴禁外洩敏感資料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400"/>
              <a:t>【絕對不能 Push 到 GitHub 的內容】</a:t>
            </a:r>
            <a:br>
              <a:rPr sz="1400"/>
            </a:br>
            <a:br>
              <a:rPr sz="1400"/>
            </a:br>
            <a:r>
              <a:rPr sz="1400"/>
              <a:t>• API Keys / Secret Tokens</a:t>
            </a:r>
            <a:br>
              <a:rPr sz="1400"/>
            </a:br>
            <a:r>
              <a:rPr sz="1400"/>
              <a:t>• 資料庫密碼與連線字串</a:t>
            </a:r>
            <a:br>
              <a:rPr sz="1400"/>
            </a:br>
            <a:r>
              <a:rPr sz="1400"/>
              <a:t>• 個人機密與客戶身分證/電話名單</a:t>
            </a:r>
            <a:br>
              <a:rPr sz="1400"/>
            </a:br>
            <a:r>
              <a:rPr sz="1400"/>
              <a:t>• .env 環境變數檔</a:t>
            </a:r>
            <a:br>
              <a:rPr sz="1400"/>
            </a:br>
            <a:br>
              <a:rPr sz="1400"/>
            </a:br>
            <a:r>
              <a:rPr sz="1400"/>
              <a:t>※ 務必確認專案根目錄有 .gitignore 檔案，將 node_modules 與 .env 排除在版本控制之外！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【三十一、Push 到 GitHub】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將本機專案推送至 GitHub 遠端儲存庫的標準操作步驟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建立 Remote 關聯並推送代碼，為後續 Vercel 部署做好準備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頁碼：31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59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 dirty="0" err="1"/>
              <a:t>步驟</a:t>
            </a:r>
            <a:r>
              <a:rPr sz="1600" dirty="0"/>
              <a:t> 1：在 GitHub </a:t>
            </a:r>
            <a:r>
              <a:rPr sz="1600" dirty="0" err="1"/>
              <a:t>建立新</a:t>
            </a:r>
            <a:r>
              <a:rPr sz="1600" dirty="0"/>
              <a:t> Repository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rPr sz="1200" dirty="0"/>
              <a:t>1. </a:t>
            </a:r>
            <a:r>
              <a:rPr sz="1200" dirty="0" err="1"/>
              <a:t>登入</a:t>
            </a:r>
            <a:r>
              <a:rPr sz="1200" dirty="0"/>
              <a:t> GitHub </a:t>
            </a:r>
            <a:r>
              <a:rPr sz="1200" dirty="0" err="1"/>
              <a:t>點擊「New</a:t>
            </a:r>
            <a:r>
              <a:rPr sz="1200" dirty="0"/>
              <a:t> Repository」。</a:t>
            </a:r>
            <a:br>
              <a:rPr sz="1200" dirty="0"/>
            </a:br>
            <a:r>
              <a:rPr sz="1200" dirty="0"/>
              <a:t>2. Repository name </a:t>
            </a:r>
            <a:r>
              <a:rPr sz="1200" dirty="0" err="1"/>
              <a:t>輸入：ferry-booking</a:t>
            </a:r>
            <a:r>
              <a:rPr sz="1200" dirty="0"/>
              <a:t>。</a:t>
            </a:r>
            <a:br>
              <a:rPr sz="1200" dirty="0"/>
            </a:br>
            <a:r>
              <a:rPr sz="1200" dirty="0"/>
              <a:t>3. </a:t>
            </a:r>
            <a:r>
              <a:rPr sz="1200" dirty="0" err="1"/>
              <a:t>設為</a:t>
            </a:r>
            <a:r>
              <a:rPr sz="1200" dirty="0"/>
              <a:t> Public (</a:t>
            </a:r>
            <a:r>
              <a:rPr sz="1200" dirty="0" err="1"/>
              <a:t>公開</a:t>
            </a:r>
            <a:r>
              <a:rPr sz="1200" dirty="0"/>
              <a:t>)，</a:t>
            </a:r>
            <a:r>
              <a:rPr sz="1200" dirty="0" err="1"/>
              <a:t>不要勾選</a:t>
            </a:r>
            <a:r>
              <a:rPr sz="1200" dirty="0"/>
              <a:t> Add README (</a:t>
            </a:r>
            <a:r>
              <a:rPr sz="1200" dirty="0" err="1"/>
              <a:t>本機已有專案</a:t>
            </a:r>
            <a:r>
              <a:rPr sz="1200" dirty="0"/>
              <a:t>)。</a:t>
            </a:r>
            <a:br>
              <a:rPr sz="1200" dirty="0"/>
            </a:br>
            <a:r>
              <a:rPr sz="1200" dirty="0"/>
              <a:t>4. </a:t>
            </a:r>
            <a:r>
              <a:rPr sz="1200" dirty="0" err="1"/>
              <a:t>點擊「Create</a:t>
            </a:r>
            <a:r>
              <a:rPr sz="1200" dirty="0"/>
              <a:t> </a:t>
            </a:r>
            <a:r>
              <a:rPr sz="1200" dirty="0" err="1"/>
              <a:t>repository」取得專屬</a:t>
            </a:r>
            <a:r>
              <a:rPr sz="1200" dirty="0"/>
              <a:t> HTTPS </a:t>
            </a:r>
            <a:r>
              <a:rPr sz="1200" dirty="0" err="1"/>
              <a:t>網址</a:t>
            </a:r>
            <a:r>
              <a:rPr sz="1200"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59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 dirty="0" err="1"/>
              <a:t>步驟</a:t>
            </a:r>
            <a:r>
              <a:rPr sz="1600" dirty="0"/>
              <a:t> 2：關聯遠端並推送代碼 (</a:t>
            </a:r>
            <a:r>
              <a:rPr sz="1600" dirty="0" err="1"/>
              <a:t>終端機執行</a:t>
            </a:r>
            <a:r>
              <a:rPr sz="1600" dirty="0"/>
              <a:t>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rPr sz="1200" dirty="0"/>
              <a:t># 1. </a:t>
            </a:r>
            <a:r>
              <a:rPr sz="1200" dirty="0" err="1"/>
              <a:t>確保主分支名稱為</a:t>
            </a:r>
            <a:r>
              <a:rPr sz="1200" dirty="0"/>
              <a:t> main</a:t>
            </a:r>
            <a:br>
              <a:rPr sz="1200" dirty="0"/>
            </a:br>
            <a:r>
              <a:rPr sz="1200" dirty="0"/>
              <a:t>git branch -M main</a:t>
            </a:r>
            <a:br>
              <a:rPr sz="1200" dirty="0"/>
            </a:br>
            <a:br>
              <a:rPr sz="1200" dirty="0"/>
            </a:br>
            <a:r>
              <a:rPr sz="1200" dirty="0"/>
              <a:t># 2. </a:t>
            </a:r>
            <a:r>
              <a:rPr sz="1200" dirty="0" err="1"/>
              <a:t>加入遠端</a:t>
            </a:r>
            <a:r>
              <a:rPr sz="1200" dirty="0"/>
              <a:t> Repository </a:t>
            </a:r>
            <a:r>
              <a:rPr sz="1200" dirty="0" err="1"/>
              <a:t>網址</a:t>
            </a:r>
            <a:r>
              <a:rPr sz="1200" dirty="0"/>
              <a:t> (Remote)</a:t>
            </a:r>
            <a:br>
              <a:rPr sz="1200" dirty="0"/>
            </a:br>
            <a:r>
              <a:rPr sz="1200" dirty="0"/>
              <a:t>git remote add origin https://github.com/你的帳號/ferry-booking.git</a:t>
            </a:r>
            <a:br>
              <a:rPr sz="1200" dirty="0"/>
            </a:br>
            <a:br>
              <a:rPr sz="1200" dirty="0"/>
            </a:br>
            <a:r>
              <a:rPr sz="1200" dirty="0"/>
              <a:t># 3. </a:t>
            </a:r>
            <a:r>
              <a:rPr sz="1200" dirty="0" err="1"/>
              <a:t>推送本機代碼至</a:t>
            </a:r>
            <a:r>
              <a:rPr sz="1200" dirty="0"/>
              <a:t> GitHub</a:t>
            </a:r>
            <a:br>
              <a:rPr sz="1200" dirty="0"/>
            </a:br>
            <a:r>
              <a:rPr sz="1200" dirty="0"/>
              <a:t>git push -u origin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59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步驟 3：確認推送成果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rPr sz="1200"/>
              <a:t>重新整理 GitHub 網頁，確認看見完整的 src/、public/、package.json 等檔案已全部同步上線！</a:t>
            </a:r>
          </a:p>
        </p:txBody>
      </p:sp>
      <p:pic>
        <p:nvPicPr>
          <p:cNvPr id="11" name="圖片 10" descr="Push and Pull Commands in Git | SevenMentor">
            <a:extLst>
              <a:ext uri="{FF2B5EF4-FFF2-40B4-BE49-F238E27FC236}">
                <a16:creationId xmlns:a16="http://schemas.microsoft.com/office/drawing/2014/main" id="{23349E9E-EEE2-BDCB-FC6D-09ADF48D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04" b="16247"/>
          <a:stretch>
            <a:fillRect/>
          </a:stretch>
        </p:blipFill>
        <p:spPr>
          <a:xfrm>
            <a:off x="5849225" y="4525065"/>
            <a:ext cx="5943600" cy="2088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46623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三十二、Vercel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前端快速雲端部署平台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連結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GitHub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實現一鍵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CI/CD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自動化上線</a:t>
            </a:r>
            <a:endParaRPr sz="2200" b="1" dirty="0">
              <a:solidFill>
                <a:srgbClr val="0F172A"/>
              </a:solidFill>
              <a:latin typeface="Noto Sans"/>
            </a:endParaRP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部署完成立即取得全球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CDN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加速的公開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HTTPS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網址，手機實機立即可測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672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頁碼：32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8002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🚀 </a:t>
            </a:r>
            <a:r>
              <a:rPr dirty="0" err="1"/>
              <a:t>Vercel</a:t>
            </a:r>
            <a:r>
              <a:rPr dirty="0"/>
              <a:t> </a:t>
            </a:r>
            <a:r>
              <a:rPr dirty="0" err="1"/>
              <a:t>部署</a:t>
            </a:r>
            <a:r>
              <a:rPr dirty="0"/>
              <a:t> 5 </a:t>
            </a:r>
            <a:r>
              <a:rPr dirty="0" err="1"/>
              <a:t>步流程</a:t>
            </a:r>
            <a:endParaRPr dirty="0"/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rPr sz="1200" dirty="0"/>
              <a:t>1. </a:t>
            </a:r>
            <a:r>
              <a:rPr sz="1200" dirty="0" err="1"/>
              <a:t>登入授權：使用</a:t>
            </a:r>
            <a:r>
              <a:rPr sz="1200" dirty="0"/>
              <a:t> GitHub </a:t>
            </a:r>
            <a:r>
              <a:rPr sz="1200" dirty="0" err="1"/>
              <a:t>帳號一鍵登入</a:t>
            </a:r>
            <a:r>
              <a:rPr sz="1200" dirty="0"/>
              <a:t> </a:t>
            </a:r>
            <a:r>
              <a:rPr sz="1200" dirty="0" err="1"/>
              <a:t>Vercel</a:t>
            </a:r>
            <a:r>
              <a:rPr sz="1200" dirty="0"/>
              <a:t> (</a:t>
            </a:r>
            <a:r>
              <a:rPr sz="1200" dirty="0" err="1"/>
              <a:t>vercel.com</a:t>
            </a:r>
            <a:r>
              <a:rPr sz="1200" dirty="0"/>
              <a:t>)。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rPr sz="1200" dirty="0"/>
              <a:t>2. Import </a:t>
            </a:r>
            <a:r>
              <a:rPr sz="1200" dirty="0" err="1"/>
              <a:t>專案：在</a:t>
            </a:r>
            <a:r>
              <a:rPr sz="1200" dirty="0"/>
              <a:t> Dashboard </a:t>
            </a:r>
            <a:r>
              <a:rPr sz="1200" dirty="0" err="1"/>
              <a:t>點擊「Add</a:t>
            </a:r>
            <a:r>
              <a:rPr sz="1200" dirty="0"/>
              <a:t> New... ➔ Project」，</a:t>
            </a:r>
            <a:r>
              <a:rPr sz="1200" dirty="0" err="1"/>
              <a:t>找到剛才推送的</a:t>
            </a:r>
            <a:r>
              <a:rPr sz="1200" dirty="0"/>
              <a:t> ferry-booking </a:t>
            </a:r>
            <a:r>
              <a:rPr sz="1200" dirty="0" err="1"/>
              <a:t>專案點擊</a:t>
            </a:r>
            <a:r>
              <a:rPr sz="1200" dirty="0"/>
              <a:t> Import。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rPr sz="1200" dirty="0"/>
              <a:t>3. </a:t>
            </a:r>
            <a:r>
              <a:rPr sz="1200" dirty="0" err="1"/>
              <a:t>自動偵測：Vercel</a:t>
            </a:r>
            <a:r>
              <a:rPr sz="1200" dirty="0"/>
              <a:t> </a:t>
            </a:r>
            <a:r>
              <a:rPr sz="1200" dirty="0" err="1"/>
              <a:t>會自動辨識</a:t>
            </a:r>
            <a:r>
              <a:rPr sz="1200" dirty="0"/>
              <a:t> Framework Preset </a:t>
            </a:r>
            <a:r>
              <a:rPr sz="1200" dirty="0" err="1"/>
              <a:t>為</a:t>
            </a:r>
            <a:r>
              <a:rPr sz="1200" dirty="0"/>
              <a:t> </a:t>
            </a:r>
            <a:r>
              <a:rPr sz="1200" dirty="0" err="1"/>
              <a:t>Vite，無需手動修改設定</a:t>
            </a:r>
            <a:r>
              <a:rPr sz="1200" dirty="0"/>
              <a:t>。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rPr sz="1200" dirty="0"/>
              <a:t>4. </a:t>
            </a:r>
            <a:r>
              <a:rPr sz="1200" dirty="0" err="1"/>
              <a:t>一鍵</a:t>
            </a:r>
            <a:r>
              <a:rPr sz="1200" dirty="0"/>
              <a:t> </a:t>
            </a:r>
            <a:r>
              <a:rPr sz="1200" dirty="0" err="1"/>
              <a:t>Deploy：點擊「Deploy</a:t>
            </a:r>
            <a:r>
              <a:rPr sz="1200" dirty="0"/>
              <a:t>」，</a:t>
            </a:r>
            <a:r>
              <a:rPr sz="1200" dirty="0" err="1"/>
              <a:t>等待約</a:t>
            </a:r>
            <a:r>
              <a:rPr sz="1200" dirty="0"/>
              <a:t> 30 </a:t>
            </a:r>
            <a:r>
              <a:rPr sz="1200" dirty="0" err="1"/>
              <a:t>秒編譯與全域</a:t>
            </a:r>
            <a:r>
              <a:rPr sz="1200" dirty="0"/>
              <a:t> CDN </a:t>
            </a:r>
            <a:r>
              <a:rPr sz="1200" dirty="0" err="1"/>
              <a:t>發布</a:t>
            </a:r>
            <a:r>
              <a:rPr sz="1200" dirty="0"/>
              <a:t>。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rPr sz="1200" dirty="0"/>
              <a:t>5. </a:t>
            </a:r>
            <a:r>
              <a:rPr sz="1200" dirty="0" err="1"/>
              <a:t>取得公開網址：獲得</a:t>
            </a:r>
            <a:r>
              <a:rPr sz="1200" dirty="0"/>
              <a:t> https://ferry-booking-</a:t>
            </a:r>
            <a:r>
              <a:rPr sz="1200" dirty="0" err="1"/>
              <a:t>xxx.vercel.app</a:t>
            </a:r>
            <a:r>
              <a:rPr sz="1200" dirty="0"/>
              <a:t> </a:t>
            </a:r>
            <a:r>
              <a:rPr sz="1200" dirty="0" err="1"/>
              <a:t>公開網址，拿起手機掃描</a:t>
            </a:r>
            <a:r>
              <a:rPr sz="1200" dirty="0"/>
              <a:t> QR Code </a:t>
            </a:r>
            <a:r>
              <a:rPr sz="1200" dirty="0" err="1"/>
              <a:t>即可實機體驗</a:t>
            </a:r>
            <a:r>
              <a:rPr sz="1200" dirty="0"/>
              <a:t>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800245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rPr dirty="0"/>
              <a:t>🔄 CI/CD </a:t>
            </a:r>
            <a:r>
              <a:rPr dirty="0" err="1"/>
              <a:t>自動化持續交付</a:t>
            </a:r>
            <a:r>
              <a:rPr dirty="0"/>
              <a:t> (</a:t>
            </a:r>
            <a:r>
              <a:rPr dirty="0" err="1"/>
              <a:t>魔法般的體驗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rPr sz="1400" dirty="0"/>
              <a:t>【</a:t>
            </a:r>
            <a:r>
              <a:rPr sz="1400" dirty="0" err="1"/>
              <a:t>日後更新網站只需三步</a:t>
            </a:r>
            <a:r>
              <a:rPr sz="1400" dirty="0"/>
              <a:t>】</a:t>
            </a:r>
            <a:br>
              <a:rPr sz="1400" dirty="0"/>
            </a:br>
            <a:br>
              <a:rPr sz="1400" dirty="0"/>
            </a:br>
            <a:r>
              <a:rPr sz="1400" dirty="0"/>
              <a:t>1. </a:t>
            </a:r>
            <a:r>
              <a:rPr sz="1400" dirty="0" err="1"/>
              <a:t>本機修改代碼或請</a:t>
            </a:r>
            <a:r>
              <a:rPr sz="1400" dirty="0"/>
              <a:t> AI </a:t>
            </a:r>
            <a:r>
              <a:rPr sz="1400" dirty="0" err="1"/>
              <a:t>優化元件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終端機執行</a:t>
            </a:r>
            <a:r>
              <a:rPr sz="1400" dirty="0"/>
              <a:t>：</a:t>
            </a:r>
            <a:br>
              <a:rPr sz="1400" dirty="0"/>
            </a:br>
            <a:r>
              <a:rPr sz="1400" dirty="0"/>
              <a:t>   git add .</a:t>
            </a:r>
            <a:br>
              <a:rPr sz="1400" dirty="0"/>
            </a:br>
            <a:r>
              <a:rPr sz="1400" dirty="0"/>
              <a:t>   git commit -m "fix: </a:t>
            </a:r>
            <a:r>
              <a:rPr sz="1400" dirty="0" err="1"/>
              <a:t>優化手機版按鈕點擊範圍</a:t>
            </a:r>
            <a:r>
              <a:rPr sz="1400" dirty="0"/>
              <a:t>"</a:t>
            </a:r>
            <a:br>
              <a:rPr sz="1400" dirty="0"/>
            </a:br>
            <a:r>
              <a:rPr sz="1400" dirty="0"/>
              <a:t>   git push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Vercel</a:t>
            </a:r>
            <a:r>
              <a:rPr sz="1400" dirty="0"/>
              <a:t> </a:t>
            </a:r>
            <a:r>
              <a:rPr sz="1400" dirty="0" err="1"/>
              <a:t>自動偵測</a:t>
            </a:r>
            <a:r>
              <a:rPr sz="1400" dirty="0"/>
              <a:t> GitHub </a:t>
            </a:r>
            <a:r>
              <a:rPr sz="1400" dirty="0" err="1"/>
              <a:t>變更，在背景自動重新編譯並上線！全自動化</a:t>
            </a:r>
            <a:r>
              <a:rPr sz="1400" dirty="0"/>
              <a:t> CI/CD </a:t>
            </a:r>
            <a:r>
              <a:rPr sz="1400" dirty="0" err="1"/>
              <a:t>就是這麼簡單</a:t>
            </a:r>
            <a:r>
              <a:rPr sz="1400" dirty="0"/>
              <a:t>！</a:t>
            </a:r>
          </a:p>
        </p:txBody>
      </p:sp>
      <p:pic>
        <p:nvPicPr>
          <p:cNvPr id="7" name="圖片 6" descr="Deploy a Hugo Website to Vercel using GitHub Actions (A simple workflow) |  Colin Wilson">
            <a:extLst>
              <a:ext uri="{FF2B5EF4-FFF2-40B4-BE49-F238E27FC236}">
                <a16:creationId xmlns:a16="http://schemas.microsoft.com/office/drawing/2014/main" id="{A2028D2A-607B-6841-1099-F599313C6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473" b="27448"/>
          <a:stretch>
            <a:fillRect/>
          </a:stretch>
        </p:blipFill>
        <p:spPr>
          <a:xfrm>
            <a:off x="3085947" y="4849839"/>
            <a:ext cx="6019800" cy="1055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【三十三、課堂實作】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綜合實戰專案：「台灣全國客船智慧查詢網站」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延續上午 UI 設計，動手完成具備完整 Component 架構與 RWD 的實戰網站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頁碼：33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540" y="1645920"/>
            <a:ext cx="54996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📋 </a:t>
            </a:r>
            <a:r>
              <a:rPr dirty="0" err="1"/>
              <a:t>實作需完成之</a:t>
            </a:r>
            <a:r>
              <a:rPr dirty="0"/>
              <a:t> 8 </a:t>
            </a:r>
            <a:r>
              <a:rPr dirty="0" err="1"/>
              <a:t>大核心模組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1. </a:t>
            </a:r>
            <a:r>
              <a:rPr sz="1600" dirty="0" err="1"/>
              <a:t>使用</a:t>
            </a:r>
            <a:r>
              <a:rPr sz="1600" dirty="0"/>
              <a:t> Vite </a:t>
            </a:r>
            <a:r>
              <a:rPr sz="1600" dirty="0" err="1"/>
              <a:t>建立乾淨的</a:t>
            </a:r>
            <a:r>
              <a:rPr sz="1600" dirty="0"/>
              <a:t> React </a:t>
            </a:r>
            <a:r>
              <a:rPr sz="1600" dirty="0" err="1"/>
              <a:t>專案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2. </a:t>
            </a:r>
            <a:r>
              <a:rPr sz="1600" dirty="0" err="1"/>
              <a:t>建立</a:t>
            </a:r>
            <a:r>
              <a:rPr sz="1600" dirty="0"/>
              <a:t> Navbar (</a:t>
            </a:r>
            <a:r>
              <a:rPr sz="1600" dirty="0" err="1"/>
              <a:t>Logo、導覽連結、手機漢堡選單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3. </a:t>
            </a:r>
            <a:r>
              <a:rPr sz="1600" dirty="0" err="1"/>
              <a:t>建立</a:t>
            </a:r>
            <a:r>
              <a:rPr sz="1600" dirty="0"/>
              <a:t> Hero Banner (</a:t>
            </a:r>
            <a:r>
              <a:rPr sz="1600" dirty="0" err="1"/>
              <a:t>大標題、副標題、背景視覺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4. </a:t>
            </a:r>
            <a:r>
              <a:rPr sz="1600" dirty="0" err="1"/>
              <a:t>建立</a:t>
            </a:r>
            <a:r>
              <a:rPr sz="1600" dirty="0"/>
              <a:t> Search Form (</a:t>
            </a:r>
            <a:r>
              <a:rPr sz="1600" dirty="0" err="1"/>
              <a:t>出發港、目的港、日期、查詢按鈕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5. </a:t>
            </a:r>
            <a:r>
              <a:rPr sz="1600" dirty="0" err="1"/>
              <a:t>建立</a:t>
            </a:r>
            <a:r>
              <a:rPr sz="1600" dirty="0"/>
              <a:t> Popular Route Cards (</a:t>
            </a:r>
            <a:r>
              <a:rPr sz="1600" dirty="0" err="1"/>
              <a:t>熱門航線卡片清單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6. </a:t>
            </a:r>
            <a:r>
              <a:rPr sz="1600" dirty="0" err="1"/>
              <a:t>建立</a:t>
            </a:r>
            <a:r>
              <a:rPr sz="1600" dirty="0"/>
              <a:t> Footer (</a:t>
            </a:r>
            <a:r>
              <a:rPr sz="1600" dirty="0" err="1"/>
              <a:t>頁尾資訊、交通部航港局相關連結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7. </a:t>
            </a:r>
            <a:r>
              <a:rPr sz="1600" dirty="0" err="1"/>
              <a:t>實作</a:t>
            </a:r>
            <a:r>
              <a:rPr sz="1600" dirty="0"/>
              <a:t> Desktop Layout (1200px+ </a:t>
            </a:r>
            <a:r>
              <a:rPr sz="1600" dirty="0" err="1"/>
              <a:t>寬螢幕多欄排版</a:t>
            </a:r>
            <a:r>
              <a:rPr sz="1600" dirty="0"/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sz="1600" dirty="0"/>
              <a:t>8. </a:t>
            </a:r>
            <a:r>
              <a:rPr sz="1600" dirty="0" err="1"/>
              <a:t>實作</a:t>
            </a:r>
            <a:r>
              <a:rPr sz="1600" dirty="0"/>
              <a:t> Mobile Layout (375px </a:t>
            </a:r>
            <a:r>
              <a:rPr sz="1600" dirty="0" err="1"/>
              <a:t>行動端流暢體驗</a:t>
            </a:r>
            <a:r>
              <a:rPr sz="1600"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🎯 驗收標準 (Acceptance Criteria)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□ 零橫向捲軸：
  </a:t>
            </a:r>
            <a:r>
              <a:rPr sz="1400">
                <a:solidFill>
                  <a:srgbClr val="475569"/>
                </a:solidFill>
              </a:rPr>
              <a:t>在 375px 手機寬度下，頁面嚴禁出現橫向捲軸。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□ 按鈕尺寸防呆：
  </a:t>
            </a:r>
            <a:r>
              <a:rPr sz="1400">
                <a:solidFill>
                  <a:srgbClr val="475569"/>
                </a:solidFill>
              </a:rPr>
              <a:t>所有手機版按鈕高度至少 44px，利於單手觸控點擊。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□ 假資料查詢連動：
  </a:t>
            </a:r>
            <a:r>
              <a:rPr sz="1400">
                <a:solidFill>
                  <a:srgbClr val="475569"/>
                </a:solidFill>
              </a:rPr>
              <a:t>點擊查詢時，能正確篩選或切換航線卡片狀態。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F172A"/>
                </a:solidFill>
              </a:rPr>
              <a:t>□ 成功雲端上線：
  </a:t>
            </a:r>
            <a:r>
              <a:rPr sz="1400">
                <a:solidFill>
                  <a:srgbClr val="475569"/>
                </a:solidFill>
              </a:rPr>
              <a:t>專案成功 Push 到 GitHub 並由 Vercel 產出公開網址。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【三十四、學生實作 Prompt】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客船專案專屬實作 Prompt — 完整規範 7 大區塊與 3 種裝置斷點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學員可直接貼入 Google AI Studio / ChatGPT 啟動專案構建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頁碼：34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rPr sz="1600" dirty="0"/>
              <a:t>📋 </a:t>
            </a:r>
            <a:r>
              <a:rPr sz="1600" dirty="0" err="1"/>
              <a:t>實戰</a:t>
            </a:r>
            <a:r>
              <a:rPr sz="1600" dirty="0"/>
              <a:t> Prompt </a:t>
            </a:r>
            <a:r>
              <a:rPr sz="1600" dirty="0" err="1"/>
              <a:t>範本（可直接複製至</a:t>
            </a:r>
            <a:r>
              <a:rPr sz="1600" dirty="0"/>
              <a:t> AI </a:t>
            </a:r>
            <a:r>
              <a:rPr sz="1600" dirty="0" err="1"/>
              <a:t>工具</a:t>
            </a:r>
            <a:r>
              <a:rPr sz="1600" dirty="0"/>
              <a:t>）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rPr sz="1400" dirty="0" err="1"/>
              <a:t>你是一名</a:t>
            </a:r>
            <a:r>
              <a:rPr sz="1400" dirty="0"/>
              <a:t> Senior React Frontend </a:t>
            </a:r>
            <a:r>
              <a:rPr sz="1400" dirty="0" err="1"/>
              <a:t>Developer。我要建立一個「台灣全國客船智慧查詢網站</a:t>
            </a:r>
            <a:r>
              <a:rPr sz="1400" dirty="0"/>
              <a:t>」。</a:t>
            </a:r>
            <a:br>
              <a:rPr sz="1400" dirty="0"/>
            </a:br>
            <a:r>
              <a:rPr sz="1400" dirty="0" err="1"/>
              <a:t>請使用</a:t>
            </a:r>
            <a:r>
              <a:rPr sz="1400" dirty="0"/>
              <a:t> </a:t>
            </a:r>
            <a:r>
              <a:rPr sz="1400" dirty="0" err="1"/>
              <a:t>React、Vite</a:t>
            </a:r>
            <a:r>
              <a:rPr sz="1400" dirty="0"/>
              <a:t> </a:t>
            </a:r>
            <a:r>
              <a:rPr sz="1400" dirty="0" err="1"/>
              <a:t>與模組化</a:t>
            </a:r>
            <a:r>
              <a:rPr sz="1400" dirty="0"/>
              <a:t> CSS </a:t>
            </a:r>
            <a:r>
              <a:rPr sz="1400" dirty="0" err="1"/>
              <a:t>建立現代化</a:t>
            </a:r>
            <a:r>
              <a:rPr sz="1400" dirty="0"/>
              <a:t> Responsive Website。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響應式與版面要求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1. </a:t>
            </a:r>
            <a:r>
              <a:rPr sz="1400" dirty="0" err="1"/>
              <a:t>支援三種螢幕斷點：Desktop</a:t>
            </a:r>
            <a:r>
              <a:rPr sz="1400" dirty="0"/>
              <a:t> (1440px+), Tablet (768px), Mobile (375px)。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排版使用</a:t>
            </a:r>
            <a:r>
              <a:rPr sz="1400" dirty="0"/>
              <a:t> Flexbox </a:t>
            </a:r>
            <a:r>
              <a:rPr sz="1400" dirty="0" err="1"/>
              <a:t>與</a:t>
            </a:r>
            <a:r>
              <a:rPr sz="1400" dirty="0"/>
              <a:t> CSS </a:t>
            </a:r>
            <a:r>
              <a:rPr sz="1400" dirty="0" err="1"/>
              <a:t>Grid，嚴禁大量</a:t>
            </a:r>
            <a:r>
              <a:rPr sz="1400" dirty="0"/>
              <a:t> absolute positioning。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確保</a:t>
            </a:r>
            <a:r>
              <a:rPr sz="1400" dirty="0"/>
              <a:t> 375px </a:t>
            </a:r>
            <a:r>
              <a:rPr sz="1400" dirty="0" err="1"/>
              <a:t>手機版無橫向捲動，主要按鈕可點擊高度至少</a:t>
            </a:r>
            <a:r>
              <a:rPr sz="1400" dirty="0"/>
              <a:t> 44px。</a:t>
            </a:r>
            <a:br>
              <a:rPr sz="1400" dirty="0"/>
            </a:br>
            <a:br>
              <a:rPr sz="1400" dirty="0"/>
            </a:br>
            <a:r>
              <a:rPr sz="1400" dirty="0"/>
              <a:t>【</a:t>
            </a:r>
            <a:r>
              <a:rPr sz="1400" dirty="0" err="1"/>
              <a:t>需建立之</a:t>
            </a:r>
            <a:r>
              <a:rPr sz="1400" dirty="0"/>
              <a:t> Components </a:t>
            </a:r>
            <a:r>
              <a:rPr sz="1400" dirty="0" err="1"/>
              <a:t>清單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• Header / Navbar (</a:t>
            </a:r>
            <a:r>
              <a:rPr sz="1400" dirty="0" err="1"/>
              <a:t>包含</a:t>
            </a:r>
            <a:r>
              <a:rPr sz="1400" dirty="0"/>
              <a:t> Logo </a:t>
            </a:r>
            <a:r>
              <a:rPr sz="1400" dirty="0" err="1"/>
              <a:t>與導覽選單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Hero Section (</a:t>
            </a:r>
            <a:r>
              <a:rPr sz="1400" dirty="0" err="1"/>
              <a:t>大標題與背景視覺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Search Form (</a:t>
            </a:r>
            <a:r>
              <a:rPr sz="1400" dirty="0" err="1"/>
              <a:t>出發</a:t>
            </a:r>
            <a:r>
              <a:rPr sz="1400" dirty="0"/>
              <a:t>/</a:t>
            </a:r>
            <a:r>
              <a:rPr sz="1400" dirty="0" err="1"/>
              <a:t>目的港口、日期選擇與查詢按鈕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Popular Routes (</a:t>
            </a:r>
            <a:r>
              <a:rPr sz="1400" dirty="0" err="1"/>
              <a:t>熱門航線卡片網格，需</a:t>
            </a:r>
            <a:r>
              <a:rPr sz="1400" dirty="0"/>
              <a:t> reusable)</a:t>
            </a:r>
            <a:br>
              <a:rPr sz="1400" dirty="0"/>
            </a:br>
            <a:r>
              <a:rPr sz="1400" dirty="0"/>
              <a:t>• News &amp; Announcements (</a:t>
            </a:r>
            <a:r>
              <a:rPr sz="1400" dirty="0" err="1"/>
              <a:t>最新航況與即時公告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FAQ Section (</a:t>
            </a:r>
            <a:r>
              <a:rPr sz="1400" dirty="0" err="1"/>
              <a:t>常見問題折疊清單</a:t>
            </a:r>
            <a:r>
              <a:rPr sz="1400" dirty="0"/>
              <a:t>)</a:t>
            </a:r>
            <a:br>
              <a:rPr sz="1400" dirty="0"/>
            </a:br>
            <a:r>
              <a:rPr sz="1400" dirty="0"/>
              <a:t>• Footer (</a:t>
            </a:r>
            <a:r>
              <a:rPr sz="1400" dirty="0" err="1"/>
              <a:t>頁尾資訊與版權宣告</a:t>
            </a:r>
            <a:r>
              <a:rPr sz="1400" dirty="0"/>
              <a:t>)</a:t>
            </a:r>
            <a:br>
              <a:rPr sz="1400" dirty="0"/>
            </a:br>
            <a:br>
              <a:rPr sz="1400" dirty="0"/>
            </a:br>
            <a:r>
              <a:rPr sz="1400" dirty="0" err="1"/>
              <a:t>請先提供「Project</a:t>
            </a:r>
            <a:r>
              <a:rPr sz="1400" dirty="0"/>
              <a:t> Structure」，</a:t>
            </a:r>
            <a:r>
              <a:rPr sz="1400" dirty="0" err="1"/>
              <a:t>再逐步產出各</a:t>
            </a:r>
            <a:r>
              <a:rPr sz="1400" dirty="0"/>
              <a:t> </a:t>
            </a:r>
            <a:r>
              <a:rPr sz="1400" dirty="0" err="1"/>
              <a:t>Components、Mock</a:t>
            </a:r>
            <a:r>
              <a:rPr sz="1400" dirty="0"/>
              <a:t> Data </a:t>
            </a:r>
            <a:r>
              <a:rPr sz="1400" dirty="0" err="1"/>
              <a:t>與</a:t>
            </a:r>
            <a:r>
              <a:rPr sz="1400" dirty="0"/>
              <a:t> CSS。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【三十五、進階：讓 AI 不要一次亂寫全部】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Prompt Chaining 模組化工作流 — 分步迭代才能維持高品質代碼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拒絕一次生成 800 行雜亂代碼，將大型任務拆解為 7 步可控推進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頁碼：35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1 步：需求分析 ➔ </a:t>
            </a:r>
            <a:r>
              <a:rPr sz="1600">
                <a:solidFill>
                  <a:srgbClr val="0F172A"/>
                </a:solidFill>
              </a:rPr>
              <a:t>請 AI 分析功能、資料欄位與限制，提出遺漏問題。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2 步：目錄結構 ➔ </a:t>
            </a:r>
            <a:r>
              <a:rPr sz="1600">
                <a:solidFill>
                  <a:srgbClr val="0F172A"/>
                </a:solidFill>
              </a:rPr>
              <a:t>請 AI 規劃 Project Structure，確認檔案模組化劃分。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3 步：全頁 Layout ➔ </a:t>
            </a:r>
            <a:r>
              <a:rPr sz="1600">
                <a:solidFill>
                  <a:srgbClr val="0F172A"/>
                </a:solidFill>
              </a:rPr>
              <a:t>先建立 App.jsx 與頂層 Layout，確認主要容器與網格。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59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4 步：逐一元件 ➔ </a:t>
            </a:r>
            <a:r>
              <a:rPr sz="1600">
                <a:solidFill>
                  <a:srgbClr val="0F172A"/>
                </a:solidFill>
              </a:rPr>
              <a:t>一次只讓 AI 產生一個 Component (如 SearchForm.jsx)。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5 步：RWD 調校 ➔ </a:t>
            </a:r>
            <a:r>
              <a:rPr sz="1600">
                <a:solidFill>
                  <a:srgbClr val="0F172A"/>
                </a:solidFill>
              </a:rPr>
              <a:t>加入 Media Query 與手機斷點，優化 375px 操作體驗。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6 步：UX 審查 ➔ </a:t>
            </a:r>
            <a:r>
              <a:rPr sz="1600">
                <a:solidFill>
                  <a:srgbClr val="0F172A"/>
                </a:solidFill>
              </a:rPr>
              <a:t>檢查 Hover 狀態、Loading 效果與表單防呆提示。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399"/>
            <a:ext cx="10728655" cy="54864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第 7 步：除錯與優化 ➔ </a:t>
            </a:r>
            <a:r>
              <a:rPr sz="1600">
                <a:solidFill>
                  <a:srgbClr val="0F172A"/>
                </a:solidFill>
              </a:rPr>
              <a:t>針對 Console 報錯進行最小修改，完成最終交付。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155680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三十六、AI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 Coding 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的正確觀念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AI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是「超級加速器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」，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但不是「全自動軟體工程師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」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75569"/>
                </a:solidFill>
                <a:latin typeface="Noto Sans"/>
              </a:rPr>
              <a:t>AI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產生的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Code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不代表一定正確，工程師必須落實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 5 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步品管檢驗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頁碼：36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🔍 </a:t>
            </a:r>
            <a:r>
              <a:rPr dirty="0" err="1"/>
              <a:t>工程師必備的</a:t>
            </a:r>
            <a:r>
              <a:rPr dirty="0"/>
              <a:t> 5 </a:t>
            </a:r>
            <a:r>
              <a:rPr dirty="0" err="1"/>
              <a:t>步品質把關</a:t>
            </a:r>
            <a:endParaRPr dirty="0"/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▶ 1. Run (</a:t>
            </a:r>
            <a:r>
              <a:rPr sz="1600" b="1" dirty="0" err="1">
                <a:solidFill>
                  <a:srgbClr val="0F172A"/>
                </a:solidFill>
              </a:rPr>
              <a:t>實際執行</a:t>
            </a:r>
            <a:r>
              <a:rPr sz="1600" b="1" dirty="0">
                <a:solidFill>
                  <a:srgbClr val="0F172A"/>
                </a:solidFill>
              </a:rPr>
              <a:t>)：
</a:t>
            </a:r>
            <a:r>
              <a:rPr sz="1400" dirty="0" err="1">
                <a:solidFill>
                  <a:srgbClr val="475569"/>
                </a:solidFill>
              </a:rPr>
              <a:t>不要只看</a:t>
            </a:r>
            <a:r>
              <a:rPr sz="1400" dirty="0">
                <a:solidFill>
                  <a:srgbClr val="475569"/>
                </a:solidFill>
              </a:rPr>
              <a:t> AI </a:t>
            </a:r>
            <a:r>
              <a:rPr sz="1400" dirty="0" err="1">
                <a:solidFill>
                  <a:srgbClr val="475569"/>
                </a:solidFill>
              </a:rPr>
              <a:t>輸出的代碼很漂亮，務必在本機實際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npm</a:t>
            </a:r>
            <a:r>
              <a:rPr sz="1400" dirty="0">
                <a:solidFill>
                  <a:srgbClr val="475569"/>
                </a:solidFill>
              </a:rPr>
              <a:t> run dev </a:t>
            </a:r>
            <a:r>
              <a:rPr sz="1400" dirty="0" err="1">
                <a:solidFill>
                  <a:srgbClr val="475569"/>
                </a:solidFill>
              </a:rPr>
              <a:t>跑起來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▶ 2. Test (</a:t>
            </a:r>
            <a:r>
              <a:rPr sz="1600" b="1" dirty="0" err="1">
                <a:solidFill>
                  <a:srgbClr val="0F172A"/>
                </a:solidFill>
              </a:rPr>
              <a:t>跨裝置測試</a:t>
            </a:r>
            <a:r>
              <a:rPr sz="1600" b="1" dirty="0">
                <a:solidFill>
                  <a:srgbClr val="0F172A"/>
                </a:solidFill>
              </a:rPr>
              <a:t>)：
</a:t>
            </a:r>
            <a:r>
              <a:rPr sz="1400" dirty="0" err="1">
                <a:solidFill>
                  <a:srgbClr val="475569"/>
                </a:solidFill>
              </a:rPr>
              <a:t>在桌機、手機模式下每個按鈕都點一次，測試空白、極端資料與錯誤情境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▶ 3. Review (</a:t>
            </a:r>
            <a:r>
              <a:rPr sz="1600" b="1" dirty="0" err="1">
                <a:solidFill>
                  <a:srgbClr val="0F172A"/>
                </a:solidFill>
              </a:rPr>
              <a:t>人工審查</a:t>
            </a:r>
            <a:r>
              <a:rPr sz="1600" b="1" dirty="0">
                <a:solidFill>
                  <a:srgbClr val="0F172A"/>
                </a:solidFill>
              </a:rPr>
              <a:t>)：
</a:t>
            </a:r>
            <a:r>
              <a:rPr sz="1400" dirty="0" err="1">
                <a:solidFill>
                  <a:srgbClr val="475569"/>
                </a:solidFill>
              </a:rPr>
              <a:t>檢查是否有寫死資料、缺少</a:t>
            </a:r>
            <a:r>
              <a:rPr sz="1400" dirty="0">
                <a:solidFill>
                  <a:srgbClr val="475569"/>
                </a:solidFill>
              </a:rPr>
              <a:t> key </a:t>
            </a:r>
            <a:r>
              <a:rPr sz="1400" dirty="0" err="1">
                <a:solidFill>
                  <a:srgbClr val="475569"/>
                </a:solidFill>
              </a:rPr>
              <a:t>props、濫用</a:t>
            </a:r>
            <a:r>
              <a:rPr sz="1400" dirty="0">
                <a:solidFill>
                  <a:srgbClr val="475569"/>
                </a:solidFill>
              </a:rPr>
              <a:t> absolute </a:t>
            </a:r>
            <a:r>
              <a:rPr sz="1400" dirty="0" err="1">
                <a:solidFill>
                  <a:srgbClr val="475569"/>
                </a:solidFill>
              </a:rPr>
              <a:t>或洩漏</a:t>
            </a:r>
            <a:r>
              <a:rPr sz="1400" dirty="0">
                <a:solidFill>
                  <a:srgbClr val="475569"/>
                </a:solidFill>
              </a:rPr>
              <a:t> API Key。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▶ 4. Debug (</a:t>
            </a:r>
            <a:r>
              <a:rPr sz="1600" b="1" dirty="0" err="1">
                <a:solidFill>
                  <a:srgbClr val="0F172A"/>
                </a:solidFill>
              </a:rPr>
              <a:t>精準除錯</a:t>
            </a:r>
            <a:r>
              <a:rPr sz="1600" b="1" dirty="0">
                <a:solidFill>
                  <a:srgbClr val="0F172A"/>
                </a:solidFill>
              </a:rPr>
              <a:t>)：
</a:t>
            </a:r>
            <a:r>
              <a:rPr sz="1400" dirty="0" err="1">
                <a:solidFill>
                  <a:srgbClr val="475569"/>
                </a:solidFill>
              </a:rPr>
              <a:t>利用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DevTools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抓出錯誤根因，引導</a:t>
            </a:r>
            <a:r>
              <a:rPr sz="1400" dirty="0">
                <a:solidFill>
                  <a:srgbClr val="475569"/>
                </a:solidFill>
              </a:rPr>
              <a:t> AI </a:t>
            </a:r>
            <a:r>
              <a:rPr sz="1400" dirty="0" err="1">
                <a:solidFill>
                  <a:srgbClr val="475569"/>
                </a:solidFill>
              </a:rPr>
              <a:t>進行最小改動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  <a:p>
            <a:pPr>
              <a:spcBef>
                <a:spcPts val="600"/>
              </a:spcBef>
            </a:pPr>
            <a:r>
              <a:rPr sz="1600" b="1" dirty="0">
                <a:solidFill>
                  <a:srgbClr val="0F172A"/>
                </a:solidFill>
              </a:rPr>
              <a:t>▶ 5. Refactor (</a:t>
            </a:r>
            <a:r>
              <a:rPr sz="1600" b="1" dirty="0" err="1">
                <a:solidFill>
                  <a:srgbClr val="0F172A"/>
                </a:solidFill>
              </a:rPr>
              <a:t>重構優化</a:t>
            </a:r>
            <a:r>
              <a:rPr sz="1600" b="1" dirty="0">
                <a:solidFill>
                  <a:srgbClr val="0F172A"/>
                </a:solidFill>
              </a:rPr>
              <a:t>)：
</a:t>
            </a:r>
            <a:r>
              <a:rPr sz="1400" dirty="0" err="1">
                <a:solidFill>
                  <a:srgbClr val="475569"/>
                </a:solidFill>
              </a:rPr>
              <a:t>持續精簡重複代碼，抽取</a:t>
            </a:r>
            <a:r>
              <a:rPr sz="1400" dirty="0">
                <a:solidFill>
                  <a:srgbClr val="475569"/>
                </a:solidFill>
              </a:rPr>
              <a:t> Reusable </a:t>
            </a:r>
            <a:r>
              <a:rPr sz="1400" dirty="0" err="1">
                <a:solidFill>
                  <a:srgbClr val="475569"/>
                </a:solidFill>
              </a:rPr>
              <a:t>Components，提升長期維護性</a:t>
            </a:r>
            <a:r>
              <a:rPr sz="140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⚖️ 人與 AI 的終極責任分工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rPr sz="1400"/>
              <a:t>【交給 AI 加速】</a:t>
            </a:r>
            <a:br>
              <a:rPr sz="1400"/>
            </a:br>
            <a:r>
              <a:rPr sz="1400"/>
              <a:t>• 快速產出初始樣板與程式碼骨架</a:t>
            </a:r>
            <a:br>
              <a:rPr sz="1400"/>
            </a:br>
            <a:r>
              <a:rPr sz="1400"/>
              <a:t>• 撰寫重複的 CSS 樣式與 Mock Data</a:t>
            </a:r>
            <a:br>
              <a:rPr sz="1400"/>
            </a:br>
            <a:r>
              <a:rPr sz="1400"/>
              <a:t>• 根據錯誤訊息提供可能成因分析</a:t>
            </a:r>
            <a:br>
              <a:rPr sz="1400"/>
            </a:br>
            <a:r>
              <a:rPr sz="1400"/>
              <a:t>• 產出測試案例清單與操作文件</a:t>
            </a:r>
            <a:br>
              <a:rPr sz="1400"/>
            </a:br>
            <a:br>
              <a:rPr sz="1400"/>
            </a:br>
            <a:r>
              <a:rPr sz="1400"/>
              <a:t>【工程師必須負起全責】</a:t>
            </a:r>
            <a:br>
              <a:rPr sz="1400"/>
            </a:br>
            <a:r>
              <a:rPr sz="1400"/>
              <a:t>• 業務需求與功能的取捨判斷</a:t>
            </a:r>
            <a:br>
              <a:rPr sz="1400"/>
            </a:br>
            <a:r>
              <a:rPr sz="1400"/>
              <a:t>• 程式碼的真實性、效能與邏輯驗證</a:t>
            </a:r>
            <a:br>
              <a:rPr sz="1400"/>
            </a:br>
            <a:r>
              <a:rPr sz="1400"/>
              <a:t>• 資訊安全、個資保護與合規性</a:t>
            </a:r>
            <a:br>
              <a:rPr sz="1400"/>
            </a:br>
            <a:r>
              <a:rPr sz="1400"/>
              <a:t>• 最終驗收與上線交付決策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【三十七、完整 AI Frontend Workflow】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從需求、設計、AI 協作、除錯到雲端上線的 14 步完整流水線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現代前端工程師的高效標準開發全生命週期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頁碼：37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
</a:t>
            </a:r>
            <a:r>
              <a:rPr b="1">
                <a:solidFill>
                  <a:srgbClr val="0F172A"/>
                </a:solidFill>
              </a:rPr>
              <a:t>需求分析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2
</a:t>
            </a:r>
            <a:r>
              <a:rPr b="1">
                <a:solidFill>
                  <a:srgbClr val="0F172A"/>
                </a:solidFill>
              </a:rPr>
              <a:t>Figma 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3
</a:t>
            </a:r>
            <a:r>
              <a:rPr b="1">
                <a:solidFill>
                  <a:srgbClr val="0F172A"/>
                </a:solidFill>
              </a:rPr>
              <a:t>AI 分析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4
</a:t>
            </a:r>
            <a:r>
              <a:rPr b="1">
                <a:solidFill>
                  <a:srgbClr val="0F172A"/>
                </a:solidFill>
              </a:rPr>
              <a:t>建立 React 專案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5
</a:t>
            </a:r>
            <a:r>
              <a:rPr b="1">
                <a:solidFill>
                  <a:srgbClr val="0F172A"/>
                </a:solidFill>
              </a:rPr>
              <a:t>元件架構拆解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6
</a:t>
            </a:r>
            <a:r>
              <a:rPr b="1">
                <a:solidFill>
                  <a:srgbClr val="0F172A"/>
                </a:solidFill>
              </a:rPr>
              <a:t>建立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82880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7
</a:t>
            </a:r>
            <a:r>
              <a:rPr b="1">
                <a:solidFill>
                  <a:srgbClr val="0F172A"/>
                </a:solidFill>
              </a:rPr>
              <a:t>加入 CSS 樣式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8
</a:t>
            </a:r>
            <a:r>
              <a:rPr b="1">
                <a:solidFill>
                  <a:srgbClr val="0F172A"/>
                </a:solidFill>
              </a:rPr>
              <a:t>RWD 斷點調校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9
</a:t>
            </a:r>
            <a:r>
              <a:rPr b="1">
                <a:solidFill>
                  <a:srgbClr val="0F172A"/>
                </a:solidFill>
              </a:rPr>
              <a:t>跨裝置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10
</a:t>
            </a:r>
            <a:r>
              <a:rPr b="1">
                <a:solidFill>
                  <a:srgbClr val="0F172A"/>
                </a:solidFill>
              </a:rPr>
              <a:t>AI 輔助 Debug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59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11
</a:t>
            </a:r>
            <a:r>
              <a:rPr b="1">
                <a:solidFill>
                  <a:srgbClr val="0F172A"/>
                </a:solidFill>
              </a:rPr>
              <a:t>Git 本機 Commit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12
</a:t>
            </a:r>
            <a:r>
              <a:rPr b="1">
                <a:solidFill>
                  <a:srgbClr val="0F172A"/>
                </a:solidFill>
              </a:rPr>
              <a:t>Push 到 GitHub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13
</a:t>
            </a:r>
            <a:r>
              <a:rPr b="1">
                <a:solidFill>
                  <a:srgbClr val="0F172A"/>
                </a:solidFill>
              </a:rPr>
              <a:t>Vercel 自動部署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3931920"/>
            <a:ext cx="1417320" cy="17373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/>
            <a:r>
              <a:rPr b="1">
                <a:solidFill>
                  <a:srgbClr val="2563EB"/>
                </a:solidFill>
              </a:rPr>
              <a:t>Step 14
</a:t>
            </a:r>
            <a:r>
              <a:rPr b="1">
                <a:solidFill>
                  <a:srgbClr val="0F172A"/>
                </a:solidFill>
              </a:rPr>
              <a:t>取得公開網站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2563EB"/>
                </a:solidFill>
                <a:latin typeface="Noto Sans"/>
              </a:rPr>
              <a:t>【三十八、最終實作成果】 </a:t>
            </a:r>
            <a:r>
              <a:rPr sz="2200" b="1">
                <a:solidFill>
                  <a:srgbClr val="0F172A"/>
                </a:solidFill>
                <a:latin typeface="Noto Sans"/>
              </a:rPr>
              <a:t>學員本日課程產出 — 具備完整規格的 6 大可驗收成果物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75569"/>
                </a:solidFill>
                <a:latin typeface="Noto Sans"/>
              </a:rPr>
              <a:t>每一位學員都將帶著可展示、可操作、已上線的個人專題作品離開教室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頁碼：38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⚛️ 一個完整 React 專案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使用 Vite 初始化，具備模組化 Components、Mock Data 與乾淨 CSS。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📱 一個 Responsive 首頁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完美支援 1440px 桌機、768px 平板與 375px 手機三種斷點。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🖥️ Desktop 完整版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三欄航線卡片、展開式搜尋表單與大器視覺橫幅。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📲 Mobile 手機專用版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單欄滿版、漢堡選單、按鈕 ≥44px 且 100% 零橫向捲軸。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🐙 GitHub Repository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完整乾淨的 Commit 紀錄，具備清楚的 README 操作文件。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/>
              <a:t>🌐 Vercel 公開測試網址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600"/>
              <a:t>具備全域 HTTPS 的即時線上網站，可直接傳給朋友或面試官展示！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1088568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2563EB"/>
                </a:solidFill>
                <a:latin typeface="Noto Sans"/>
              </a:rPr>
              <a:t>【</a:t>
            </a:r>
            <a:r>
              <a:rPr sz="2200" b="1" dirty="0" err="1">
                <a:solidFill>
                  <a:srgbClr val="2563EB"/>
                </a:solidFill>
                <a:latin typeface="Noto Sans"/>
              </a:rPr>
              <a:t>三十九、課程總結</a:t>
            </a:r>
            <a:r>
              <a:rPr sz="2200" b="1" dirty="0">
                <a:solidFill>
                  <a:srgbClr val="2563EB"/>
                </a:solidFill>
                <a:latin typeface="Noto Sans"/>
              </a:rPr>
              <a:t>】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成為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AI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時代的前端架構師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 — </a:t>
            </a:r>
            <a:r>
              <a:rPr sz="2200" b="1" dirty="0" err="1">
                <a:solidFill>
                  <a:srgbClr val="0F172A"/>
                </a:solidFill>
                <a:latin typeface="Noto Sans"/>
              </a:rPr>
              <a:t>核心競爭力不再只是「會打程式碼</a:t>
            </a:r>
            <a:r>
              <a:rPr sz="2200" b="1" dirty="0">
                <a:solidFill>
                  <a:srgbClr val="0F172A"/>
                </a:solidFill>
                <a:latin typeface="Noto Sans"/>
              </a:rPr>
              <a:t>」</a:t>
            </a:r>
          </a:p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75569"/>
                </a:solidFill>
                <a:latin typeface="Noto Sans"/>
              </a:rPr>
              <a:t>掌握「看得懂、能修改、知對錯、精描述</a:t>
            </a:r>
            <a:r>
              <a:rPr sz="1300" dirty="0">
                <a:solidFill>
                  <a:srgbClr val="475569"/>
                </a:solidFill>
                <a:latin typeface="Noto Sans"/>
              </a:rPr>
              <a:t>」，</a:t>
            </a:r>
            <a:r>
              <a:rPr sz="1300" dirty="0" err="1">
                <a:solidFill>
                  <a:srgbClr val="475569"/>
                </a:solidFill>
                <a:latin typeface="Noto Sans"/>
              </a:rPr>
              <a:t>引領人機協作新未來</a:t>
            </a:r>
            <a:endParaRPr sz="1300" dirty="0">
              <a:solidFill>
                <a:srgbClr val="475569"/>
              </a:solidFill>
              <a:latin typeface="Noto San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475569"/>
                </a:solidFill>
                <a:latin typeface="Noto Sans"/>
              </a:rPr>
              <a:t>AI 輔助前端開發及響應式設計 ｜ Part 2 響應式、AI除錯與部署實作</a:t>
            </a:r>
            <a:r>
              <a:rPr sz="1000" b="1">
                <a:solidFill>
                  <a:srgbClr val="2563EB"/>
                </a:solidFill>
                <a:latin typeface="Noto Sans"/>
              </a:rPr>
              <a:t> ｜ 頁碼：39 / 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🔄 </a:t>
            </a:r>
            <a:r>
              <a:rPr dirty="0" err="1"/>
              <a:t>前端學習路徑的根本變革</a:t>
            </a:r>
            <a:endParaRPr dirty="0"/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</a:defRPr>
            </a:pPr>
            <a:r>
              <a:rPr sz="1400" dirty="0"/>
              <a:t>【</a:t>
            </a:r>
            <a:r>
              <a:rPr sz="1400" dirty="0" err="1"/>
              <a:t>以前學前端</a:t>
            </a:r>
            <a:r>
              <a:rPr sz="1400" dirty="0"/>
              <a:t>】</a:t>
            </a:r>
            <a:br>
              <a:rPr sz="1400" dirty="0"/>
            </a:br>
            <a:r>
              <a:rPr sz="1400" dirty="0" err="1"/>
              <a:t>死記硬背大量</a:t>
            </a:r>
            <a:r>
              <a:rPr sz="1400" dirty="0"/>
              <a:t> HTML </a:t>
            </a:r>
            <a:r>
              <a:rPr sz="1400" dirty="0" err="1"/>
              <a:t>標籤、CSS</a:t>
            </a:r>
            <a:r>
              <a:rPr sz="1400" dirty="0"/>
              <a:t> </a:t>
            </a:r>
            <a:r>
              <a:rPr sz="1400" dirty="0" err="1"/>
              <a:t>屬性與</a:t>
            </a:r>
            <a:r>
              <a:rPr sz="1400" dirty="0"/>
              <a:t> JS </a:t>
            </a:r>
            <a:r>
              <a:rPr sz="1400" dirty="0" err="1"/>
              <a:t>語法，練了幾個月還做不出完整網站</a:t>
            </a:r>
            <a:r>
              <a:rPr sz="1400" dirty="0"/>
              <a:t>。</a:t>
            </a:r>
            <a:br>
              <a:rPr sz="1400" dirty="0"/>
            </a:br>
            <a:br>
              <a:rPr sz="1400" dirty="0"/>
            </a:br>
            <a:r>
              <a:rPr sz="1400" dirty="0"/>
              <a:t>【AI </a:t>
            </a:r>
            <a:r>
              <a:rPr sz="1400" dirty="0" err="1"/>
              <a:t>時代的新學習循環</a:t>
            </a:r>
            <a:r>
              <a:rPr sz="1400" dirty="0"/>
              <a:t>】</a:t>
            </a:r>
            <a:br>
              <a:rPr sz="1400" dirty="0"/>
            </a:br>
            <a:r>
              <a:rPr sz="1400" dirty="0"/>
              <a:t>1. </a:t>
            </a:r>
            <a:r>
              <a:rPr sz="1400" dirty="0" err="1"/>
              <a:t>先透過</a:t>
            </a:r>
            <a:r>
              <a:rPr sz="1400" dirty="0"/>
              <a:t> Prompt </a:t>
            </a:r>
            <a:r>
              <a:rPr sz="1400" dirty="0" err="1"/>
              <a:t>做出可操作的網站原型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閱讀</a:t>
            </a:r>
            <a:r>
              <a:rPr sz="1400" dirty="0"/>
              <a:t> AI </a:t>
            </a:r>
            <a:r>
              <a:rPr sz="1400" dirty="0" err="1"/>
              <a:t>寫出的代碼</a:t>
            </a:r>
            <a:r>
              <a:rPr sz="1400" dirty="0"/>
              <a:t> ➔ </a:t>
            </a:r>
            <a:r>
              <a:rPr sz="1400" dirty="0" err="1"/>
              <a:t>理解背後邏輯架構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動手微調與除錯</a:t>
            </a:r>
            <a:r>
              <a:rPr sz="1400" dirty="0"/>
              <a:t> ➔ </a:t>
            </a:r>
            <a:r>
              <a:rPr sz="1400" dirty="0" err="1"/>
              <a:t>找出問題根因</a:t>
            </a:r>
            <a:r>
              <a:rPr sz="1400" dirty="0"/>
              <a:t>。</a:t>
            </a:r>
            <a:br>
              <a:rPr sz="1400" dirty="0"/>
            </a:br>
            <a:r>
              <a:rPr sz="1400" dirty="0"/>
              <a:t>4. </a:t>
            </a:r>
            <a:r>
              <a:rPr sz="1400" dirty="0" err="1"/>
              <a:t>持續優化與重構</a:t>
            </a:r>
            <a:r>
              <a:rPr sz="1400" dirty="0"/>
              <a:t> ➔ </a:t>
            </a:r>
            <a:r>
              <a:rPr sz="1400" dirty="0" err="1"/>
              <a:t>內化為真正的工程實力</a:t>
            </a:r>
            <a:r>
              <a:rPr sz="1400" dirty="0"/>
              <a:t>！</a:t>
            </a:r>
            <a:br>
              <a:rPr sz="1400" dirty="0"/>
            </a:br>
            <a:br>
              <a:rPr sz="1400" dirty="0"/>
            </a:br>
            <a:r>
              <a:rPr sz="1400" dirty="0"/>
              <a:t>「</a:t>
            </a:r>
            <a:r>
              <a:rPr sz="1400" dirty="0" err="1"/>
              <a:t>看懂與除錯的能力」遠比「手打語法速度」重要千百倍</a:t>
            </a:r>
            <a:r>
              <a:rPr sz="1400" dirty="0"/>
              <a:t>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🌟 未來前端工程師的 6 大核心能力支柱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1. 需求理解 (Requirement) — </a:t>
            </a:r>
            <a:r>
              <a:rPr sz="1400">
                <a:solidFill>
                  <a:srgbClr val="475569"/>
                </a:solidFill>
              </a:rPr>
              <a:t>把業務痛點轉化為精確功能規格。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2. UI / UX 敏銳度 — </a:t>
            </a:r>
            <a:r>
              <a:rPr sz="1400">
                <a:solidFill>
                  <a:srgbClr val="475569"/>
                </a:solidFill>
              </a:rPr>
              <a:t>洞察使用者體驗、間距美感與無障礙設計。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3. AI Prompt 駕馭力 — </a:t>
            </a:r>
            <a:r>
              <a:rPr sz="1400">
                <a:solidFill>
                  <a:srgbClr val="475569"/>
                </a:solidFill>
              </a:rPr>
              <a:t>撰寫可執行、可限制、可驗收的 Prompt。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4. 現代前端架構 (Architecture) — </a:t>
            </a:r>
            <a:r>
              <a:rPr sz="1400">
                <a:solidFill>
                  <a:srgbClr val="475569"/>
                </a:solidFill>
              </a:rPr>
              <a:t>熟稔 Component 模組化與狀態流動。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5. 精準除錯力 (Debugging) — </a:t>
            </a:r>
            <a:r>
              <a:rPr sz="1400">
                <a:solidFill>
                  <a:srgbClr val="475569"/>
                </a:solidFill>
              </a:rPr>
              <a:t>善用 DevTools 抓根因，落實最小修改。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F172A"/>
                </a:solidFill>
              </a:rPr>
              <a:t>6. 系統交付力 (Delivery) — </a:t>
            </a:r>
            <a:r>
              <a:rPr sz="1400">
                <a:solidFill>
                  <a:srgbClr val="475569"/>
                </a:solidFill>
              </a:rPr>
              <a:t>掌握 Git、GitHub 與 CI/CD 雲端部署。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3038</Words>
  <Application>Microsoft Macintosh PowerPoint</Application>
  <PresentationFormat>Widescreen</PresentationFormat>
  <Paragraphs>219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Liberation Mono</vt:lpstr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Leon Chang</cp:lastModifiedBy>
  <cp:revision>5</cp:revision>
  <dcterms:created xsi:type="dcterms:W3CDTF">2013-01-27T09:14:16Z</dcterms:created>
  <dcterms:modified xsi:type="dcterms:W3CDTF">2026-08-29T02:37:44Z</dcterms:modified>
  <cp:category/>
</cp:coreProperties>
</file>